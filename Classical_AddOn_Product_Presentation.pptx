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TALKING POINTS:</a:t>
            </a:r>
          </a:p>
          <a:p/>
          <a:p>
            <a:r>
              <a:t>Thank you for joining me today. I'm excited to present a new revenue opportunity we've identified through our ticket data analysis.</a:t>
            </a:r>
          </a:p>
          <a:p/>
          <a:p>
            <a:r>
              <a:t>The Classical Add-On Product is a strategic initiative to convert our Special and Holiday event attendees into Classical series customers.</a:t>
            </a:r>
          </a:p>
          <a:p/>
          <a:p>
            <a:r>
              <a:t>Here's what makes this opportunity compelling:</a:t>
            </a:r>
          </a:p>
          <a:p>
            <a:r>
              <a:t>- It's based on PROVEN demand patterns in our data</a:t>
            </a:r>
          </a:p>
          <a:p>
            <a:r>
              <a:t>- It protects our existing pricing through product differentiation</a:t>
            </a:r>
          </a:p>
          <a:p>
            <a:r>
              <a:t>- It creates a pipeline to our CYO subscription program</a:t>
            </a:r>
          </a:p>
          <a:p>
            <a:r>
              <a:t>- It's low-risk because we're creating a NEW product, not discounting existing ones</a:t>
            </a:r>
          </a:p>
          <a:p/>
          <a:p>
            <a:r>
              <a:t>Let me walk you through the data, the product design, and the projected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TO EMPHASIZE:</a:t>
            </a:r>
          </a:p>
          <a:p/>
          <a:p>
            <a:r>
              <a:t>1. THE PRODUCT: We're offering discounted Classical tickets ONLY to people who attended Special or Holiday events. This is a targeted loyalty reward, not a general discount.</a:t>
            </a:r>
          </a:p>
          <a:p/>
          <a:p>
            <a:r>
              <a:t>2. MARKET SIZE: 7,008 accounts - this is 30% of all our single ticket buyers. It's a substantial audience.</a:t>
            </a:r>
          </a:p>
          <a:p/>
          <a:p>
            <a:r>
              <a:t>3. THE UNTAPPED OPPORTUNITY: Here's the key insight - 80.6% of these Special/Holiday buyers have NEVER bought a Classical ticket. That's over 5,600 accounts who already love ASO but haven't tried our core Classical programming.</a:t>
            </a:r>
          </a:p>
          <a:p/>
          <a:p>
            <a:r>
              <a:t>4. WHY PRODUCT DIFFERENTIATION MATTERS: We're not discounting Classical tickets broadly. The discount is ONLY available to verified Special/Holiday ticket holders. Regular Classical pricing remains intact. If someone wants to buy Classical at full price, they still can.</a:t>
            </a:r>
          </a:p>
          <a:p/>
          <a:p>
            <a:r>
              <a:t>5. THE CYO PIPELINE: This isn't just about selling tickets. When we convert someone to 3+ Classical events, they become prime candidates for CYO subscription. Our historical data shows 24.6% conversion rate.</a:t>
            </a:r>
          </a:p>
          <a:p/>
          <a:p>
            <a:r>
              <a:t>BOTTOM LINE: $102K incremental revenue plus 50 new CYO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THROUGH THE NUMBERS:</a:t>
            </a:r>
          </a:p>
          <a:p/>
          <a:p>
            <a:r>
              <a:t>7,008 TARGET ACCOUNTS:</a:t>
            </a:r>
          </a:p>
          <a:p>
            <a:r>
              <a:t>- These are single ticket buyers who attended Special or Holiday events in FY23-FY24</a:t>
            </a:r>
          </a:p>
          <a:p>
            <a:r>
              <a:t>- They've already demonstrated they enjoy ASO - they chose to attend our premium events</a:t>
            </a:r>
          </a:p>
          <a:p>
            <a:r>
              <a:t>- They represent 30% of all single ticket accounts</a:t>
            </a:r>
          </a:p>
          <a:p>
            <a:r>
              <a:t>- This is a WARM audience, not cold outreach</a:t>
            </a:r>
          </a:p>
          <a:p/>
          <a:p>
            <a:r>
              <a:t>80.6% NEVER BOUGHT CLASSICAL:</a:t>
            </a:r>
          </a:p>
          <a:p>
            <a:r>
              <a:t>- This is the remarkable insight that drives the entire strategy</a:t>
            </a:r>
          </a:p>
          <a:p>
            <a:r>
              <a:t>- 5,647 accounts attended Special/Holiday but have never tried Classical</a:t>
            </a:r>
          </a:p>
          <a:p>
            <a:r>
              <a:t>- They're not anti-Classical; they just haven't been given a compelling reason to try it</a:t>
            </a:r>
          </a:p>
          <a:p>
            <a:r>
              <a:t>- The add-on product gives them that reason: a discount tied to an event they already enjoyed</a:t>
            </a:r>
          </a:p>
          <a:p/>
          <a:p>
            <a:r>
              <a:t>1,926 PROJECTED NEW TICKETS:</a:t>
            </a:r>
          </a:p>
          <a:p>
            <a:r>
              <a:t>- Based on conservative 20% response rate assumptions</a:t>
            </a:r>
          </a:p>
          <a:p>
            <a:r>
              <a:t>- Mix of +1, +2, and +3 ticket purchases</a:t>
            </a:r>
          </a:p>
          <a:p>
            <a:r>
              <a:t>- Each ticket is incremental - these are sales that wouldn't happen otherwise</a:t>
            </a:r>
          </a:p>
          <a:p/>
          <a:p>
            <a:r>
              <a:t>KEY TRANSITION: Let me show you how the discount structure works...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DISCOUNT STRUCTURE EXPLAINED:</a:t>
            </a:r>
          </a:p>
          <a:p/>
          <a:p>
            <a:r>
              <a:t>The discount is CUMULATIVE - meaning it applies to ALL tickets at the highest tier reached:</a:t>
            </a:r>
          </a:p>
          <a:p/>
          <a:p>
            <a:r>
              <a:t>+1 TICKET (5% off):</a:t>
            </a:r>
          </a:p>
          <a:p>
            <a:r>
              <a:t>- Entry-level option for cautious first-timers</a:t>
            </a:r>
          </a:p>
          <a:p>
            <a:r>
              <a:t>- Price: $55.63 (saves $2.93)</a:t>
            </a:r>
          </a:p>
          <a:p>
            <a:r>
              <a:t>- Low commitment, easy yes</a:t>
            </a:r>
          </a:p>
          <a:p/>
          <a:p>
            <a:r>
              <a:t>+2 TICKETS (10% off EACH):</a:t>
            </a:r>
          </a:p>
          <a:p>
            <a:r>
              <a:t>- Both tickets get the 10% discount</a:t>
            </a:r>
          </a:p>
          <a:p>
            <a:r>
              <a:t>- Price: $52.70 per ticket = $105.40 total (saves $11.72)</a:t>
            </a:r>
          </a:p>
          <a:p>
            <a:r>
              <a:t>- Encourages bringing a friend/partner</a:t>
            </a:r>
          </a:p>
          <a:p/>
          <a:p>
            <a:r>
              <a:t>+3 TICKETS (15% off EACH):</a:t>
            </a:r>
          </a:p>
          <a:p>
            <a:r>
              <a:t>- All three tickets get the 15% discount</a:t>
            </a:r>
          </a:p>
          <a:p>
            <a:r>
              <a:t>- Price: $49.78 per ticket = $149.34 total (saves $26.34)</a:t>
            </a:r>
          </a:p>
          <a:p>
            <a:r>
              <a:t>- This is our target because 3+ Classical buyers convert to CYO at 24.6%</a:t>
            </a:r>
          </a:p>
          <a:p/>
          <a:p>
            <a:r>
              <a:t>WHY CUMULATIVE?</a:t>
            </a:r>
          </a:p>
          <a:p>
            <a:r>
              <a:t>- Rewards higher commitment</a:t>
            </a:r>
          </a:p>
          <a:p>
            <a:r>
              <a:t>- Simple to understand</a:t>
            </a:r>
          </a:p>
          <a:p>
            <a:r>
              <a:t>- Creates clear incentive to buy more</a:t>
            </a:r>
          </a:p>
          <a:p>
            <a:r>
              <a:t>- Average discount across our projections: ~9.5%</a:t>
            </a:r>
          </a:p>
          <a:p/>
          <a:p>
            <a:r>
              <a:t>IMPORTANT: This discount is ONLY available to verified Special/Holiday ticket holders. Regular Classical pricing ($58.56 average) remains unchanged for everyone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PSYCHOLOGY OF TIMING:</a:t>
            </a:r>
          </a:p>
          <a:p/>
          <a:p>
            <a:r>
              <a:t>This slide is CRITICAL for execution. The WHEN matters as much as the WHAT.</a:t>
            </a:r>
          </a:p>
          <a:p/>
          <a:p>
            <a:r>
              <a:t>PEAK EMOTIONAL ENGAGEMENT:</a:t>
            </a:r>
          </a:p>
          <a:p>
            <a:r>
              <a:t>- Right after a Special or Holiday concert, customers are on a high</a:t>
            </a:r>
          </a:p>
          <a:p>
            <a:r>
              <a:t>- They just had a wonderful experience with ASO</a:t>
            </a:r>
          </a:p>
          <a:p>
            <a:r>
              <a:t>- This is the moment they're most receptive to "more of this"</a:t>
            </a:r>
          </a:p>
          <a:p>
            <a:r>
              <a:t>- Waiting even 24-48 hours means the emotional peak fades</a:t>
            </a:r>
          </a:p>
          <a:p/>
          <a:p>
            <a:r>
              <a:t>BRAND ASSOCIATION:</a:t>
            </a:r>
          </a:p>
          <a:p>
            <a:r>
              <a:t>- "You loved Holiday Pops, now experience Beethoven's 9th"</a:t>
            </a:r>
          </a:p>
          <a:p>
            <a:r>
              <a:t>- The connection feels natural, not salesy</a:t>
            </a:r>
          </a:p>
          <a:p>
            <a:r>
              <a:t>- We're extending their positive experience, not interrupting them later</a:t>
            </a:r>
          </a:p>
          <a:p/>
          <a:p>
            <a:r>
              <a:t>REDUCED FRICTION:</a:t>
            </a:r>
          </a:p>
          <a:p>
            <a:r>
              <a:t>- They're already in "ASO mode"</a:t>
            </a:r>
          </a:p>
          <a:p>
            <a:r>
              <a:t>- Credit card was just used (mental accounting)</a:t>
            </a:r>
          </a:p>
          <a:p>
            <a:r>
              <a:t>- The decision to spend on ASO has already been made today</a:t>
            </a:r>
          </a:p>
          <a:p>
            <a:r>
              <a:t>- Adding Classical feels like an extension, not a new decision</a:t>
            </a:r>
          </a:p>
          <a:p/>
          <a:p>
            <a:r>
              <a:t>SOCIAL PROOF:</a:t>
            </a:r>
          </a:p>
          <a:p>
            <a:r>
              <a:t>- If they're with friends/family, group purchases are more likely</a:t>
            </a:r>
          </a:p>
          <a:p>
            <a:r>
              <a:t>- "Should we try the Classical series?" - easier to decide together in the moment</a:t>
            </a:r>
          </a:p>
          <a:p/>
          <a:p>
            <a:r>
              <a:t>60-DAY VALIDITY:</a:t>
            </a:r>
          </a:p>
          <a:p>
            <a:r>
              <a:t>- Long enough to plan around schedules</a:t>
            </a:r>
          </a:p>
          <a:p>
            <a:r>
              <a:t>- Short enough to create urgency</a:t>
            </a:r>
          </a:p>
          <a:p>
            <a:r>
              <a:t>- Matches our typical advance purchase window for this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MULTI-CHANNEL APPROACH:</a:t>
            </a:r>
          </a:p>
          <a:p/>
          <a:p>
            <a:r>
              <a:t>EMAIL (Primary Channel):</a:t>
            </a:r>
          </a:p>
          <a:p>
            <a:r>
              <a:t>- Send within 2 hours of event end</a:t>
            </a:r>
          </a:p>
          <a:p>
            <a:r>
              <a:t>- Subject line: "Continue your ASO experience - exclusive offer inside"</a:t>
            </a:r>
          </a:p>
          <a:p>
            <a:r>
              <a:t>- Personalize: "Thank you for joining us for [Event Name]"</a:t>
            </a:r>
          </a:p>
          <a:p>
            <a:r>
              <a:t>- Include 2-3 suggested Classical concerts</a:t>
            </a:r>
          </a:p>
          <a:p>
            <a:r>
              <a:t>- Clear CTA with discount code</a:t>
            </a:r>
          </a:p>
          <a:p>
            <a:r>
              <a:t>- 60-day expiration prominently displayed</a:t>
            </a:r>
          </a:p>
          <a:p/>
          <a:p>
            <a:r>
              <a:t>IN-VENUE SIGNAGE:</a:t>
            </a:r>
          </a:p>
          <a:p>
            <a:r>
              <a:t>- Table tents during intermission</a:t>
            </a:r>
          </a:p>
          <a:p>
            <a:r>
              <a:t>- Exit signage with QR code</a:t>
            </a:r>
          </a:p>
          <a:p>
            <a:r>
              <a:t>- "Loved tonight? Try our Classical series..."</a:t>
            </a:r>
          </a:p>
          <a:p>
            <a:r>
              <a:t>- QR leads to mobile-optimized landing page</a:t>
            </a:r>
          </a:p>
          <a:p>
            <a:r>
              <a:t>- Can scan now, complete purchase later</a:t>
            </a:r>
          </a:p>
          <a:p/>
          <a:p>
            <a:r>
              <a:t>BOX OFFICE:</a:t>
            </a:r>
          </a:p>
          <a:p>
            <a:r>
              <a:t>- Train staff to mention the program at check-in</a:t>
            </a:r>
          </a:p>
          <a:p>
            <a:r>
              <a:t>- "Did you know as a Holiday Pops attendee, you qualify for..."</a:t>
            </a:r>
          </a:p>
          <a:p>
            <a:r>
              <a:t>- Hand out info cards with QR code</a:t>
            </a:r>
          </a:p>
          <a:p>
            <a:r>
              <a:t>- Not pushy - informative</a:t>
            </a:r>
          </a:p>
          <a:p/>
          <a:p>
            <a:r>
              <a:t>SMS (Next Morning):</a:t>
            </a:r>
          </a:p>
          <a:p>
            <a:r>
              <a:t>- Only for opted-in customers</a:t>
            </a:r>
          </a:p>
          <a:p>
            <a:r>
              <a:t>- Gentle reminder: "Don't forget your Classical add-on offer"</a:t>
            </a:r>
          </a:p>
          <a:p>
            <a:r>
              <a:t>- Include direct link to top 3 recommended events</a:t>
            </a:r>
          </a:p>
          <a:p>
            <a:r>
              <a:t>- 60-day countdown reminder</a:t>
            </a:r>
          </a:p>
          <a:p/>
          <a:p>
            <a:r>
              <a:t>KEY POINT: Multiple touchpoints increase awareness without being aggressive. Customer chooses their preferred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DATA-DRIVEN EVENT RECOMMENDATIONS:</a:t>
            </a:r>
          </a:p>
          <a:p/>
          <a:p>
            <a:r>
              <a:t>This table shows which Classical events our Special/Holiday buyers ALREADY gravitate toward when they do cross over. These are our "gateway" concerts.</a:t>
            </a:r>
          </a:p>
          <a:p/>
          <a:p>
            <a:r>
              <a:t>BEETHOVEN SYMPHONY NO 9 (188 crossover buyers):</a:t>
            </a:r>
          </a:p>
          <a:p>
            <a:r>
              <a:t>- The most popular Classical event among our target audience</a:t>
            </a:r>
          </a:p>
          <a:p>
            <a:r>
              <a:t>- Familiar, accessible, emotionally powerful</a:t>
            </a:r>
          </a:p>
          <a:p>
            <a:r>
              <a:t>- "You don't need to know Classical to love the 9th"</a:t>
            </a:r>
          </a:p>
          <a:p>
            <a:r>
              <a:t>- Should be prominently featured in all add-on marketing</a:t>
            </a:r>
          </a:p>
          <a:p/>
          <a:p>
            <a:r>
              <a:t>OPENING WEEKEND (164 crossover buyers):</a:t>
            </a:r>
          </a:p>
          <a:p>
            <a:r>
              <a:t>- Appeals to those who like "events" not just concerts</a:t>
            </a:r>
          </a:p>
          <a:p>
            <a:r>
              <a:t>- Special occasion feel matches Special/Holiday vibe</a:t>
            </a:r>
          </a:p>
          <a:p>
            <a:r>
              <a:t>- Good for first-timers who want a memorable experience</a:t>
            </a:r>
          </a:p>
          <a:p/>
          <a:p>
            <a:r>
              <a:t>ORFF: CARMINA BURANA (139 crossover buyers):</a:t>
            </a:r>
          </a:p>
          <a:p>
            <a:r>
              <a:t>- Dramatic, theatrical, accessible</a:t>
            </a:r>
          </a:p>
          <a:p>
            <a:r>
              <a:t>- Appeals to the Special event crowd</a:t>
            </a:r>
          </a:p>
          <a:p>
            <a:r>
              <a:t>- "You'll recognize O Fortuna"</a:t>
            </a:r>
          </a:p>
          <a:p/>
          <a:p>
            <a:r>
              <a:t>BEETHOVEN AND BOLERO (119 crossover buyers):</a:t>
            </a:r>
          </a:p>
          <a:p>
            <a:r>
              <a:t>- Mix of familiar pieces</a:t>
            </a:r>
          </a:p>
          <a:p>
            <a:r>
              <a:t>- Bolero is highly recognizable</a:t>
            </a:r>
          </a:p>
          <a:p>
            <a:r>
              <a:t>- Good entry point</a:t>
            </a:r>
          </a:p>
          <a:p/>
          <a:p>
            <a:r>
              <a:t>BIZET AND TCHAIKOVSKY (115 crossover buyers):</a:t>
            </a:r>
          </a:p>
          <a:p>
            <a:r>
              <a:t>- Carmen and Nutcracker excerpts</a:t>
            </a:r>
          </a:p>
          <a:p>
            <a:r>
              <a:t>- Familiar melodies</a:t>
            </a:r>
          </a:p>
          <a:p>
            <a:r>
              <a:t>- Holiday audience particularly responsive</a:t>
            </a:r>
          </a:p>
          <a:p/>
          <a:p>
            <a:r>
              <a:t>MARKETING IMPLICATION: Feature these events prominently in the add-on offer. "Based on your ticket to Holiday Pops, we recommend Beethoven's 9th..."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</a:t>
            </a:r>
          </a:p>
          <a:p/>
          <a:p>
            <a:r>
              <a:t>Now let's look at the hard numbers - what does our target market look like today, and what do we project after implementing the Classical Add-On program?</a:t>
            </a:r>
          </a:p>
          <a:p/>
          <a:p>
            <a:r>
              <a:t>I'll show you:</a:t>
            </a:r>
          </a:p>
          <a:p>
            <a:r>
              <a:t>1. Current state segmentation</a:t>
            </a:r>
          </a:p>
          <a:p>
            <a:r>
              <a:t>2. Projected uptake by segment</a:t>
            </a:r>
          </a:p>
          <a:p>
            <a:r>
              <a:t>3. Financial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SEGMENTS:</a:t>
            </a:r>
          </a:p>
          <a:p/>
          <a:p>
            <a:r>
              <a:t>GROUP A - NEVER BOUGHT CLASSICAL (5,647 accounts):</a:t>
            </a:r>
          </a:p>
          <a:p>
            <a:r>
              <a:t>- This is 80.6% of our target market</a:t>
            </a:r>
          </a:p>
          <a:p>
            <a:r>
              <a:t>- They attended Special/Holiday events</a:t>
            </a:r>
          </a:p>
          <a:p>
            <a:r>
              <a:t>- But they've NEVER purchased a Classical ticket</a:t>
            </a:r>
          </a:p>
          <a:p>
            <a:r>
              <a:t>- This is our PRIMARY conversion target</a:t>
            </a:r>
          </a:p>
          <a:p>
            <a:r>
              <a:t>- Huge untapped potential</a:t>
            </a:r>
          </a:p>
          <a:p/>
          <a:p>
            <a:r>
              <a:t>GROUP B - BOUGHT 1 CLASSICAL (729 accounts):</a:t>
            </a:r>
          </a:p>
          <a:p>
            <a:r>
              <a:t>- They've tried Classical once</a:t>
            </a:r>
          </a:p>
          <a:p>
            <a:r>
              <a:t>- Opportunity to upsell to 2 or 3 tickets</a:t>
            </a:r>
          </a:p>
          <a:p>
            <a:r>
              <a:t>- Already curious, need a push</a:t>
            </a:r>
          </a:p>
          <a:p/>
          <a:p>
            <a:r>
              <a:t>GROUP C - BOUGHT 2 CLASSICAL (254 accounts):</a:t>
            </a:r>
          </a:p>
          <a:p>
            <a:r>
              <a:t>- Regular crossover behavior</a:t>
            </a:r>
          </a:p>
          <a:p>
            <a:r>
              <a:t>- One more ticket gets them to 3+</a:t>
            </a:r>
          </a:p>
          <a:p>
            <a:r>
              <a:t>- One more ticket puts them in CYO conversion territory</a:t>
            </a:r>
          </a:p>
          <a:p/>
          <a:p>
            <a:r>
              <a:t>GROUP D - BOUGHT 3+ CLASSICAL (378 accounts):</a:t>
            </a:r>
          </a:p>
          <a:p>
            <a:r>
              <a:t>- Already engaged in Classical series</a:t>
            </a:r>
          </a:p>
          <a:p>
            <a:r>
              <a:t>- Prime candidates for CYO subscription NOW</a:t>
            </a:r>
          </a:p>
          <a:p>
            <a:r>
              <a:t>- 24.6% historical conversion rate</a:t>
            </a:r>
          </a:p>
          <a:p>
            <a:r>
              <a:t>- Not our add-on target, but our CYO target</a:t>
            </a:r>
          </a:p>
          <a:p/>
          <a:p>
            <a:r>
              <a:t>THE OPPORTUNITY:</a:t>
            </a:r>
          </a:p>
          <a:p>
            <a:r>
              <a:t>- Group A alone represents $0 in Classical revenue today</a:t>
            </a:r>
          </a:p>
          <a:p>
            <a:r>
              <a:t>- Converting even 20% of Group A to one ticket each = 1,129 new tickets</a:t>
            </a:r>
          </a:p>
          <a:p>
            <a:r>
              <a:t>- That's why this program focuses heavily on Group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PROJECTED UPTAKE EXPLAINED:</a:t>
            </a:r>
          </a:p>
          <a:p/>
          <a:p>
            <a:r>
              <a:t>ASSUMPTIONS:</a:t>
            </a:r>
          </a:p>
          <a:p>
            <a:r>
              <a:t>- 20% response rate (conservative for targeted, same-day offers)</a:t>
            </a:r>
          </a:p>
          <a:p>
            <a:r>
              <a:t>- Industry benchmarks suggest 15-30% for highly relevant offers</a:t>
            </a:r>
          </a:p>
          <a:p>
            <a:r>
              <a:t>- We're being conservative</a:t>
            </a:r>
          </a:p>
          <a:p/>
          <a:p>
            <a:r>
              <a:t>GROUP A PROJECTIONS:</a:t>
            </a:r>
          </a:p>
          <a:p>
            <a:r>
              <a:t>- 5,647 accounts × 20% response = 1,129 responders</a:t>
            </a:r>
          </a:p>
          <a:p>
            <a:r>
              <a:t>- Distribution: 60% buy +1, 30% buy +2, 10% buy +3</a:t>
            </a:r>
          </a:p>
          <a:p>
            <a:r>
              <a:t>- Results in 1,689 new tickets</a:t>
            </a:r>
          </a:p>
          <a:p>
            <a:r>
              <a:t>- Revenue: $90,008 (after discounts)</a:t>
            </a:r>
          </a:p>
          <a:p>
            <a:r>
              <a:t>- This is the bulk of our opportunity</a:t>
            </a:r>
          </a:p>
          <a:p/>
          <a:p>
            <a:r>
              <a:t>GROUP B PROJECTIONS:</a:t>
            </a:r>
          </a:p>
          <a:p>
            <a:r>
              <a:t>- 729 accounts × 20% = 145 responders</a:t>
            </a:r>
          </a:p>
          <a:p>
            <a:r>
              <a:t>- Buying 1-2 more tickets to reach 2 or 3 total</a:t>
            </a:r>
          </a:p>
          <a:p>
            <a:r>
              <a:t>- 187 new tickets</a:t>
            </a:r>
          </a:p>
          <a:p>
            <a:r>
              <a:t>- Revenue: $9,603</a:t>
            </a:r>
          </a:p>
          <a:p/>
          <a:p>
            <a:r>
              <a:t>GROUP C PROJECTIONS:</a:t>
            </a:r>
          </a:p>
          <a:p>
            <a:r>
              <a:t>- 254 accounts × 20% = 50 responders</a:t>
            </a:r>
          </a:p>
          <a:p>
            <a:r>
              <a:t>- Each buying 1 more to reach 3 total</a:t>
            </a:r>
          </a:p>
          <a:p>
            <a:r>
              <a:t>- 50 new tickets</a:t>
            </a:r>
          </a:p>
          <a:p>
            <a:r>
              <a:t>- Revenue: $2,489</a:t>
            </a:r>
          </a:p>
          <a:p/>
          <a:p>
            <a:r>
              <a:t>TOTAL IMPACT:</a:t>
            </a:r>
          </a:p>
          <a:p>
            <a:r>
              <a:t>- 1,324 accounts respond to the offer</a:t>
            </a:r>
          </a:p>
          <a:p>
            <a:r>
              <a:t>- 1,926 new Classical tickets sold</a:t>
            </a:r>
          </a:p>
          <a:p>
            <a:r>
              <a:t>- $102,099 in incremental revenue</a:t>
            </a:r>
          </a:p>
          <a:p/>
          <a:p>
            <a:r>
              <a:t>WHY THIS IS CONSERVATIVE:</a:t>
            </a:r>
          </a:p>
          <a:p>
            <a:r>
              <a:t>- Same-day offers typically see higher response rates</a:t>
            </a:r>
          </a:p>
          <a:p>
            <a:r>
              <a:t>- We're targeting a warm audience (they already attend ASO)</a:t>
            </a:r>
          </a:p>
          <a:p>
            <a:r>
              <a:t>- Benefits are clear and immediate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SUMMARY:</a:t>
            </a:r>
          </a:p>
          <a:p/>
          <a:p>
            <a:r>
              <a:t>$102,099 INCREMENTAL REVENUE:</a:t>
            </a:r>
          </a:p>
          <a:p>
            <a:r>
              <a:t>- This is NET revenue after discounts</a:t>
            </a:r>
          </a:p>
          <a:p>
            <a:r>
              <a:t>- Every dollar is incremental - these are sales that wouldn't happen otherwise</a:t>
            </a:r>
          </a:p>
          <a:p>
            <a:r>
              <a:t>- Compare to: current Classical revenue from this segment is $463K</a:t>
            </a:r>
          </a:p>
          <a:p>
            <a:r>
              <a:t>- Add-on adds 22% to their Classical spending</a:t>
            </a:r>
          </a:p>
          <a:p/>
          <a:p>
            <a:r>
              <a:t>$10,678 DISCOUNT COST:</a:t>
            </a:r>
          </a:p>
          <a:p>
            <a:r>
              <a:t>- This is the difference between discounted price and full price</a:t>
            </a:r>
          </a:p>
          <a:p>
            <a:r>
              <a:t>- Represents 9.5% average discount across all purchases</a:t>
            </a:r>
          </a:p>
          <a:p>
            <a:r>
              <a:t>- But remember: these buyers weren't going to buy at full price anyway</a:t>
            </a:r>
          </a:p>
          <a:p>
            <a:r>
              <a:t>- The "cost" is theoretical - the revenue is real</a:t>
            </a:r>
          </a:p>
          <a:p/>
          <a:p>
            <a:r>
              <a:t>1,926 NEW TICKETS:</a:t>
            </a:r>
          </a:p>
          <a:p>
            <a:r>
              <a:t>- Each ticket represents a new Classical experience for a Special/Holiday buyer</a:t>
            </a:r>
          </a:p>
          <a:p>
            <a:r>
              <a:t>- Many of these are first-time Classical attendees</a:t>
            </a:r>
          </a:p>
          <a:p>
            <a:r>
              <a:t>- Potential for repeat purchases in future seasons</a:t>
            </a:r>
          </a:p>
          <a:p>
            <a:r>
              <a:t>- Foundation for CYO subscription conversion</a:t>
            </a:r>
          </a:p>
          <a:p/>
          <a:p>
            <a:r>
              <a:t>ROI PERSPECTIVE:</a:t>
            </a:r>
          </a:p>
          <a:p>
            <a:r>
              <a:t>- Marketing cost to implement: minimal (email, signage)</a:t>
            </a:r>
          </a:p>
          <a:p>
            <a:r>
              <a:t>- Revenue generated: $102,099</a:t>
            </a:r>
          </a:p>
          <a:p>
            <a:r>
              <a:t>- Plus downstream CYO conversions worth $20-30K annually</a:t>
            </a:r>
          </a:p>
          <a:p>
            <a:r>
              <a:t>- This is a high-ROI initiative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CYO CONVERSION PIPELINE:</a:t>
            </a:r>
          </a:p>
          <a:p/>
          <a:p>
            <a:r>
              <a:t>This is where the strategy gets really powerful. The add-on isn't just about selling tickets - it's about building a subscriber pipeline.</a:t>
            </a:r>
          </a:p>
          <a:p/>
          <a:p>
            <a:r>
              <a:t>HISTORICAL CONVERSION DATA:</a:t>
            </a:r>
          </a:p>
          <a:p>
            <a:r>
              <a:t>- We analyzed single ticket buyers who reached 3+ Classical events</a:t>
            </a:r>
          </a:p>
          <a:p>
            <a:r>
              <a:t>- 24.6% of them converted to CYO subscription</a:t>
            </a:r>
          </a:p>
          <a:p>
            <a:r>
              <a:t>- This is a proven pathway to subscription</a:t>
            </a:r>
          </a:p>
          <a:p/>
          <a:p>
            <a:r>
              <a:t>NEW 3+ CLASSICAL BUYERS FROM THIS PROGRAM:</a:t>
            </a:r>
          </a:p>
          <a:p>
            <a:r>
              <a:t>- Group A buying +3: 112 accounts</a:t>
            </a:r>
          </a:p>
          <a:p>
            <a:r>
              <a:t>- Group B buying +2 more (total 3): 43 accounts</a:t>
            </a:r>
          </a:p>
          <a:p>
            <a:r>
              <a:t>- Group C buying +1 more (total 3): 50 accounts</a:t>
            </a:r>
          </a:p>
          <a:p>
            <a:r>
              <a:t>- TOTAL: 205 new accounts reaching 3+ Classical</a:t>
            </a:r>
          </a:p>
          <a:p/>
          <a:p>
            <a:r>
              <a:t>PROJECTED CYO CONVERSIONS:</a:t>
            </a:r>
          </a:p>
          <a:p>
            <a:r>
              <a:t>- 205 accounts × 24.6% conversion rate = 50 new CYO subscribers</a:t>
            </a:r>
          </a:p>
          <a:p>
            <a:r>
              <a:t>- This is a conservative estimate</a:t>
            </a:r>
          </a:p>
          <a:p/>
          <a:p>
            <a:r>
              <a:t>CYO REVENUE IMPACT:</a:t>
            </a:r>
          </a:p>
          <a:p>
            <a:r>
              <a:t>- Average CYO subscription value: $400-600/season</a:t>
            </a:r>
          </a:p>
          <a:p>
            <a:r>
              <a:t>- 50 subscribers × $400-600 = $20,000-$30,000 per season</a:t>
            </a:r>
          </a:p>
          <a:p>
            <a:r>
              <a:t>- This is RECURRING revenue</a:t>
            </a:r>
          </a:p>
          <a:p>
            <a:r>
              <a:t>- Subscribers tend to renew at 70-80% rates</a:t>
            </a:r>
          </a:p>
          <a:p/>
          <a:p>
            <a:r>
              <a:t>THE BIGGER PICTURE:</a:t>
            </a:r>
          </a:p>
          <a:p>
            <a:r>
              <a:t>- Year 1: $102K ticket revenue + customer acquisition</a:t>
            </a:r>
          </a:p>
          <a:p>
            <a:r>
              <a:t>- Year 2+: 50 new CYO subscribers × $400-600 = ongoing revenue</a:t>
            </a:r>
          </a:p>
          <a:p>
            <a:r>
              <a:t>- Plus those CYO subscribers may upgrade further</a:t>
            </a:r>
          </a:p>
          <a:p>
            <a:r>
              <a:t>- The add-on product is a funnel top, not just a revenue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RISK CONCERNS:</a:t>
            </a:r>
          </a:p>
          <a:p/>
          <a:p>
            <a:r>
              <a:t>This slide is critical for stakeholder buy-in. Let me address common concerns:</a:t>
            </a:r>
          </a:p>
          <a:p/>
          <a:p>
            <a:r>
              <a:t>"WON'T THIS CANNIBALIZE FULL-PRICE SALES?"</a:t>
            </a:r>
          </a:p>
          <a:p>
            <a:r>
              <a:t>No, because:</a:t>
            </a:r>
          </a:p>
          <a:p>
            <a:r>
              <a:t>- The discount is ONLY available to verified Special/Holiday ticket holders</a:t>
            </a:r>
          </a:p>
          <a:p>
            <a:r>
              <a:t>- General public cannot access this pricing</a:t>
            </a:r>
          </a:p>
          <a:p>
            <a:r>
              <a:t>- If someone wants to buy Classical at full price, they still can</a:t>
            </a:r>
          </a:p>
          <a:p>
            <a:r>
              <a:t>- We're targeting people who WEREN'T buying Classical anyway</a:t>
            </a:r>
          </a:p>
          <a:p/>
          <a:p>
            <a:r>
              <a:t>"WHAT IF IT DOESN'T WORK?"</a:t>
            </a:r>
          </a:p>
          <a:p>
            <a:r>
              <a:t>- The add-on is a separate product</a:t>
            </a:r>
          </a:p>
          <a:p>
            <a:r>
              <a:t>- If it underperforms, we adjust or discontinue</a:t>
            </a:r>
          </a:p>
          <a:p>
            <a:r>
              <a:t>- Our core Classical pricing remains unchanged</a:t>
            </a:r>
          </a:p>
          <a:p>
            <a:r>
              <a:t>- No damage to existing business</a:t>
            </a:r>
          </a:p>
          <a:p/>
          <a:p>
            <a:r>
              <a:t>"WILL THIS DEVALUE OUR CLASSICAL SERIES?"</a:t>
            </a:r>
          </a:p>
          <a:p>
            <a:r>
              <a:t>- Positioning is crucial: "loyalty reward" not "discount"</a:t>
            </a:r>
          </a:p>
          <a:p>
            <a:r>
              <a:t>- It's exclusive to a specific audience</a:t>
            </a:r>
          </a:p>
          <a:p>
            <a:r>
              <a:t>- Actually ELEVATES Classical by introducing new audiences</a:t>
            </a:r>
          </a:p>
          <a:p>
            <a:r>
              <a:t>- Similar to airline miles or hotel loyalty perks</a:t>
            </a:r>
          </a:p>
          <a:p/>
          <a:p>
            <a:r>
              <a:t>"HOW DO WE CONTROL WHO GETS THE OFFER?"</a:t>
            </a:r>
          </a:p>
          <a:p>
            <a:r>
              <a:t>- Ticket purchase verification required</a:t>
            </a:r>
          </a:p>
          <a:p>
            <a:r>
              <a:t>- Unique codes tied to specific accounts</a:t>
            </a:r>
          </a:p>
          <a:p>
            <a:r>
              <a:t>- Cannot be shared or transferred</a:t>
            </a:r>
          </a:p>
          <a:p>
            <a:r>
              <a:t>- Clear terms and conditions</a:t>
            </a:r>
          </a:p>
          <a:p/>
          <a:p>
            <a:r>
              <a:t>"WHAT IF DISCOUNT LEVELS ARE WRONG?"</a:t>
            </a:r>
          </a:p>
          <a:p>
            <a:r>
              <a:t>- Start with pilot (2-3 events)</a:t>
            </a:r>
          </a:p>
          <a:p>
            <a:r>
              <a:t>- A/B test different discount levels</a:t>
            </a:r>
          </a:p>
          <a:p>
            <a:r>
              <a:t>- Adjust based on response data</a:t>
            </a:r>
          </a:p>
          <a:p>
            <a:r>
              <a:t>- We have control to optimize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ROADMAP:</a:t>
            </a:r>
          </a:p>
          <a:p/>
          <a:p>
            <a:r>
              <a:t>PHASE 1 - PILOT (2-3 Special/Holiday Events):</a:t>
            </a:r>
          </a:p>
          <a:p>
            <a:r>
              <a:t>Timeline: First 2-3 upcoming Special or Holiday events</a:t>
            </a:r>
          </a:p>
          <a:p/>
          <a:p>
            <a:r>
              <a:t>Activities:</a:t>
            </a:r>
          </a:p>
          <a:p>
            <a:r>
              <a:t>- Set up email automation (within 2 hours of event)</a:t>
            </a:r>
          </a:p>
          <a:p>
            <a:r>
              <a:t>- Create in-venue signage with QR codes</a:t>
            </a:r>
          </a:p>
          <a:p>
            <a:r>
              <a:t>- Train box office staff on the program</a:t>
            </a:r>
          </a:p>
          <a:p>
            <a:r>
              <a:t>- Build landing page for offer redemption</a:t>
            </a:r>
          </a:p>
          <a:p/>
          <a:p>
            <a:r>
              <a:t>Measurement:</a:t>
            </a:r>
          </a:p>
          <a:p>
            <a:r>
              <a:t>- Email open rate (target: &gt;40%)</a:t>
            </a:r>
          </a:p>
          <a:p>
            <a:r>
              <a:t>- Click-through rate (target: &gt;15%)</a:t>
            </a:r>
          </a:p>
          <a:p>
            <a:r>
              <a:t>- Redemption rate (target: &gt;5% of attendees)</a:t>
            </a:r>
          </a:p>
          <a:p>
            <a:r>
              <a:t>- Average tickets per redemption</a:t>
            </a:r>
          </a:p>
          <a:p/>
          <a:p>
            <a:r>
              <a:t>Goal: Prove the concept, gather learnings</a:t>
            </a:r>
          </a:p>
          <a:p/>
          <a:p>
            <a:r>
              <a:t>PHASE 2 - OPTIMIZATION:</a:t>
            </a:r>
          </a:p>
          <a:p>
            <a:r>
              <a:t>Timeline: Following 2-3 events</a:t>
            </a:r>
          </a:p>
          <a:p/>
          <a:p>
            <a:r>
              <a:t>Activities:</a:t>
            </a:r>
          </a:p>
          <a:p>
            <a:r>
              <a:t>- A/B test discount levels (5/10/15% vs flat 10%)</a:t>
            </a:r>
          </a:p>
          <a:p>
            <a:r>
              <a:t>- Test different gateway concert recommendations</a:t>
            </a:r>
          </a:p>
          <a:p>
            <a:r>
              <a:t>- Refine email timing and messaging</a:t>
            </a:r>
          </a:p>
          <a:p>
            <a:r>
              <a:t>- Test SMS channel for opted-in customers</a:t>
            </a:r>
          </a:p>
          <a:p/>
          <a:p>
            <a:r>
              <a:t>Measurement:</a:t>
            </a:r>
          </a:p>
          <a:p>
            <a:r>
              <a:t>- Compare response rates across variations</a:t>
            </a:r>
          </a:p>
          <a:p>
            <a:r>
              <a:t>- Identify optimal discount structure</a:t>
            </a:r>
          </a:p>
          <a:p>
            <a:r>
              <a:t>- Determine highest-converting Classical events</a:t>
            </a:r>
          </a:p>
          <a:p/>
          <a:p>
            <a:r>
              <a:t>Goal: Maximize response and revenue per contact</a:t>
            </a:r>
          </a:p>
          <a:p/>
          <a:p>
            <a:r>
              <a:t>PHASE 3 - SCALE:</a:t>
            </a:r>
          </a:p>
          <a:p>
            <a:r>
              <a:t>Timeline: Full season rollout</a:t>
            </a:r>
          </a:p>
          <a:p/>
          <a:p>
            <a:r>
              <a:t>Activities:</a:t>
            </a:r>
          </a:p>
          <a:p>
            <a:r>
              <a:t>- Automate all touchpoints</a:t>
            </a:r>
          </a:p>
          <a:p>
            <a:r>
              <a:t>- Integrate with CRM for personalization</a:t>
            </a:r>
          </a:p>
          <a:p>
            <a:r>
              <a:t>- Add predictive recommendations</a:t>
            </a:r>
          </a:p>
          <a:p>
            <a:r>
              <a:t>- Implement CYO conversion follow-up sequence</a:t>
            </a:r>
          </a:p>
          <a:p/>
          <a:p>
            <a:r>
              <a:t>Goal: Systematic, scalable revenue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METRICS EXPLAINED:</a:t>
            </a:r>
          </a:p>
          <a:p/>
          <a:p>
            <a:r>
              <a:t>RESPONSE RATE (Target: &gt;15%):</a:t>
            </a:r>
          </a:p>
          <a:p>
            <a:r>
              <a:t>- % of Special/Holiday attendees who engage with the offer</a:t>
            </a:r>
          </a:p>
          <a:p>
            <a:r>
              <a:t>- Engagement = email open, QR scan, or inquiry</a:t>
            </a:r>
          </a:p>
          <a:p>
            <a:r>
              <a:t>- 15% is conservative for targeted, timely offers</a:t>
            </a:r>
          </a:p>
          <a:p>
            <a:r>
              <a:t>- Below 10% suggests messaging or timing problems</a:t>
            </a:r>
          </a:p>
          <a:p/>
          <a:p>
            <a:r>
              <a:t>REDEMPTION RATE (Target: &gt;5% of responses):</a:t>
            </a:r>
          </a:p>
          <a:p>
            <a:r>
              <a:t>- % of engaged people who actually purchase</a:t>
            </a:r>
          </a:p>
          <a:p>
            <a:r>
              <a:t>- This measures offer attractiveness</a:t>
            </a:r>
          </a:p>
          <a:p>
            <a:r>
              <a:t>- Below 2% suggests discount isn't compelling enough</a:t>
            </a:r>
          </a:p>
          <a:p>
            <a:r>
              <a:t>- Or gateway concerts aren't appealing</a:t>
            </a:r>
          </a:p>
          <a:p/>
          <a:p>
            <a:r>
              <a:t>FULL-PRICE CANNIBALIZATION (Target: &lt;2% decline):</a:t>
            </a:r>
          </a:p>
          <a:p>
            <a:r>
              <a:t>- Critical to monitor</a:t>
            </a:r>
          </a:p>
          <a:p>
            <a:r>
              <a:t>- Compare full-price Classical sales before/after program</a:t>
            </a:r>
          </a:p>
          <a:p>
            <a:r>
              <a:t>- If full-price sales decline, we may be cannibalizing</a:t>
            </a:r>
          </a:p>
          <a:p>
            <a:r>
              <a:t>- Below 2% decline is acceptable (could be normal variance)</a:t>
            </a:r>
          </a:p>
          <a:p>
            <a:r>
              <a:t>- Above 5% decline is a red flag requiring investigation</a:t>
            </a:r>
          </a:p>
          <a:p/>
          <a:p>
            <a:r>
              <a:t>CYO CONVERSION (Target: &gt;20%):</a:t>
            </a:r>
          </a:p>
          <a:p>
            <a:r>
              <a:t>- % of new 3+ Classical buyers who convert to CYO</a:t>
            </a:r>
          </a:p>
          <a:p>
            <a:r>
              <a:t>- Historical baseline is 24.6%</a:t>
            </a:r>
          </a:p>
          <a:p>
            <a:r>
              <a:t>- If lower, may need enhanced CYO follow-up</a:t>
            </a:r>
          </a:p>
          <a:p>
            <a:r>
              <a:t>- This is the long-term value indicator</a:t>
            </a:r>
          </a:p>
          <a:p/>
          <a:p>
            <a:r>
              <a:t>REPORTING CADENCE:</a:t>
            </a:r>
          </a:p>
          <a:p>
            <a:r>
              <a:t>- Weekly during pilot phase</a:t>
            </a:r>
          </a:p>
          <a:p>
            <a:r>
              <a:t>- Bi-weekly during optimization</a:t>
            </a:r>
          </a:p>
          <a:p>
            <a:r>
              <a:t>- Monthly at scale</a:t>
            </a:r>
          </a:p>
          <a:p>
            <a:r>
              <a:t>- Quarterly strategic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SUMMARY:</a:t>
            </a:r>
          </a:p>
          <a:p/>
          <a:p>
            <a:r>
              <a:t>Let me leave you with the key points:</a:t>
            </a:r>
          </a:p>
          <a:p/>
          <a:p>
            <a:r>
              <a:t>1. LOW-RISK, HIGH-POTENTIAL:</a:t>
            </a:r>
          </a:p>
          <a:p>
            <a:r>
              <a:t>- We're not discounting existing products</a:t>
            </a:r>
          </a:p>
          <a:p>
            <a:r>
              <a:t>- We're creating a new, targeted offer</a:t>
            </a:r>
          </a:p>
          <a:p>
            <a:r>
              <a:t>- If it doesn't work, we adjust without affecting core business</a:t>
            </a:r>
          </a:p>
          <a:p/>
          <a:p>
            <a:r>
              <a:t>2. CLEAR TARGET, PROVEN DEMAND:</a:t>
            </a:r>
          </a:p>
          <a:p>
            <a:r>
              <a:t>- 7,008 accounts who already love ASO</a:t>
            </a:r>
          </a:p>
          <a:p>
            <a:r>
              <a:t>- 80.6% have never tried Classical</a:t>
            </a:r>
          </a:p>
          <a:p>
            <a:r>
              <a:t>- We're not creating demand; we're unlocking it</a:t>
            </a:r>
          </a:p>
          <a:p/>
          <a:p>
            <a:r>
              <a:t>3. STRONG FINANCIAL CASE:</a:t>
            </a:r>
          </a:p>
          <a:p>
            <a:r>
              <a:t>- $102,099 incremental revenue year one</a:t>
            </a:r>
          </a:p>
          <a:p>
            <a:r>
              <a:t>- 1,926 new ticket sales</a:t>
            </a:r>
          </a:p>
          <a:p>
            <a:r>
              <a:t>- ~9.5% average discount cost</a:t>
            </a:r>
          </a:p>
          <a:p/>
          <a:p>
            <a:r>
              <a:t>4. STRATEGIC CYO PIPELINE:</a:t>
            </a:r>
          </a:p>
          <a:p>
            <a:r>
              <a:t>- 205 new accounts reaching 3+ Classical</a:t>
            </a:r>
          </a:p>
          <a:p>
            <a:r>
              <a:t>- 50 projected CYO conversions</a:t>
            </a:r>
          </a:p>
          <a:p>
            <a:r>
              <a:t>- $20-30K recurring annual revenue</a:t>
            </a:r>
          </a:p>
          <a:p/>
          <a:p>
            <a:r>
              <a:t>5. PRICE INTEGRITY PROTECTED:</a:t>
            </a:r>
          </a:p>
          <a:p>
            <a:r>
              <a:t>- Product differentiation, not discounting</a:t>
            </a:r>
          </a:p>
          <a:p>
            <a:r>
              <a:t>- Exclusive to verified ticket holders</a:t>
            </a:r>
          </a:p>
          <a:p>
            <a:r>
              <a:t>- Full-price Classical remains unchanged</a:t>
            </a:r>
          </a:p>
          <a:p/>
          <a:p>
            <a:r>
              <a:t>THE ASK:</a:t>
            </a:r>
          </a:p>
          <a:p>
            <a:r>
              <a:t>Approve the pilot program for the next 2-3 Special/Holiday events. We'll measure results, optimize, and scale based on data.</a:t>
            </a:r>
          </a:p>
          <a:p/>
          <a:p>
            <a:r>
              <a:t>The opportunity is clear. 80.6% of Special/Holiday buyers have never tried Classical. Let's change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ANSWERS FOR LIKELY QUESTIONS:</a:t>
            </a:r>
          </a:p>
          <a:p/>
          <a:p>
            <a:r>
              <a:t>Q: Why not offer this to ALL single ticket buyers?</a:t>
            </a:r>
          </a:p>
          <a:p>
            <a:r>
              <a:t>A: We're targeting Special/Holiday buyers specifically because they've demonstrated high engagement and willingness to pay. They're our warmest audience. We can expand later if successful.</a:t>
            </a:r>
          </a:p>
          <a:p/>
          <a:p>
            <a:r>
              <a:t>Q: What's the cost to implement this?</a:t>
            </a:r>
          </a:p>
          <a:p>
            <a:r>
              <a:t>A: Minimal. Email automation, signage design, landing page. Primary cost is staff time for setup. ROI is extremely high given $102K projected revenue.</a:t>
            </a:r>
          </a:p>
          <a:p/>
          <a:p>
            <a:r>
              <a:t>Q: How do we prevent people from sharing discount codes?</a:t>
            </a:r>
          </a:p>
          <a:p>
            <a:r>
              <a:t>A: Codes are tied to specific account IDs. Verification required at redemption. Terms clearly state non-transferable.</a:t>
            </a:r>
          </a:p>
          <a:p/>
          <a:p>
            <a:r>
              <a:t>Q: What if people wait for the discount instead of buying full-price?</a:t>
            </a:r>
          </a:p>
          <a:p>
            <a:r>
              <a:t>A: The offer is only available AFTER attending a Special/Holiday event. You can't get the discount without first buying a Special/Holiday ticket. This actually increases overall revenue.</a:t>
            </a:r>
          </a:p>
          <a:p/>
          <a:p>
            <a:r>
              <a:t>Q: Why these specific discount levels (5/10/15%)?</a:t>
            </a:r>
          </a:p>
          <a:p>
            <a:r>
              <a:t>A: Based on price elasticity analysis of Classical single ticket demand. These levels are enough to motivate without excessive margin erosion. We'll A/B test during pilot.</a:t>
            </a:r>
          </a:p>
          <a:p/>
          <a:p>
            <a:r>
              <a:t>Q: How does this integrate with our existing marketing?</a:t>
            </a:r>
          </a:p>
          <a:p>
            <a:r>
              <a:t>A: It's a separate, automated track triggered by Special/Holiday attendance. Doesn't interfere with regular Classical marketing. CRM integration in Phase 3.</a:t>
            </a:r>
          </a:p>
          <a:p/>
          <a:p>
            <a:r>
              <a:t>Q: What about subscribers? Do they get this offer?</a:t>
            </a:r>
          </a:p>
          <a:p>
            <a:r>
              <a:t>A: No. This is for SINGLE TICKET buyers only. Subscribers already have Classical access through their subscription.</a:t>
            </a:r>
          </a:p>
          <a:p/>
          <a:p>
            <a:r>
              <a:t>THANK YOU FOR YOUR TIME. I'm happy to discuss any aspect in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Classical Add-On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C8ED"/>
                </a:solidFill>
              </a:defRPr>
            </a:pPr>
            <a:r>
              <a:t>A New Revenue Strategy for Special/Holiday Attendees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New product: Discounted Classical tickets for Special/Holiday single ticket buyers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Target market: 7,008 accounts (30% of all single ticket buyers)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80.6% of these buyers have NEVER purchased a Classical ticket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Product differentiation protects existing pricing - no cannibalization risk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Creates a pipeline for CYO subscription 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1097280"/>
          </a:xfrm>
          <a:prstGeom prst="round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Projected Impact: $102K incremental revenue + 50 new CYO subscribers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Key Opportunity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7,008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Target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Untapped</a:t>
            </a:r>
            <a:br/>
            <a:r>
              <a:t>(Never bought Classical)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1,926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Projected New Tickets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Discount Structure (Cumulative)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Based on average Classical single ticket price of $58.56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Purchase Level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 Price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+1 Classical ticket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5% off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$55.63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+2 Classical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10% off 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$52.70/ticket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+3 Classical tickets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15% off each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$49.78/ticket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Marketing: Why Same-Day Offers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Peak Emotional Engagement: Customers are at highest satisfaction post-concert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Brand Association: Memory of event is fresh, Classical feels like natural continuation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Reduced Decision Friction: Already demonstrated willingness to spend on ASO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Social Proof: Group decisions more likely in the moment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60-day validity window creates urgency while allowing time to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Recommended Marketing Touchpoints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Within 2 hours post-event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"Continue your ASO experience..."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In-venue signage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Intermission/exit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QR code to add-on offer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Box office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At check-in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Staff mention of program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SMS (if opted 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Next 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Reminder + upcoming options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Top 'Gateway' Classical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These events have proven appeal to Special/Holiday crossover buyers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Event Name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Crossover Buyers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Seats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Beethoven Symphony No 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$29,067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Opening 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$21,503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Orff: Carmina Burana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$22,903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Beethoven and Bolero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$22,351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Bizet and Tchaikovsky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$16,811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Before/After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Current State: Special/Holiday Single Ticket Buyers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Classical Events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Classical Revenue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A: 0 Classical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5,647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B: 1 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$98,300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C: 2 Classical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$61,504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D: 3+ 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1,984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$304,181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7,008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3,221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$463,985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Projected State: With Add-On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Assumes 20% response rate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Responders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New Tickets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A (0 Classical)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5,647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1,129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1,689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$90,008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B (1 Classical)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$9,603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Group C (2 Classical)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$2,489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6,630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1,324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1,926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$102,099</a:t>
                      </a:r>
                    </a:p>
                  </a:txBody>
                  <a:tcPr>
                    <a:solidFill>
                      <a:srgbClr val="1AC8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Financial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$102,099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Incremental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$10,678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Discount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1645920"/>
          </a:xfrm>
          <a:prstGeom prst="roundRect">
            <a:avLst/>
          </a:prstGeom>
          <a:solidFill>
            <a:srgbClr val="116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1,926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C8ED"/>
                </a:solidFill>
              </a:defRPr>
            </a:pPr>
            <a:r>
              <a:t>New Tickets Sold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CYO Subscription Conversion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Historical data: 24.6% of 3+ Classical buyers convert to CYO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Program creates 205 new accounts reaching 3+ Classical tickets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Projected new CYO subscribers: 50 accounts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Estimated CYO revenue impact: $20,000 - $30,000 per season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This is RECURRING revenue beyond the initial add-on purchase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1097280"/>
          </a:xfrm>
          <a:prstGeom prst="round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add-on product builds a CYO subscriber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Risk Mitigation: Product Differentiation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No cannibalization: Full-price Classical tickets remain available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Isolated testing: If program underperforms, only add-on is affected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Price integrity: Discount positioned as 'loyalty reward' for Special/Holiday attendees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Clear segmentation: Offer only available to verified ticket holders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Easy to adjust: Discount levels can be tuned based on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Phase 1 - Pilot (First 2-3 Special/Holiday Events):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    Test email + in-venue signage, measure response &amp; redemption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Phase 2 - Optimization: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    A/B test discount levels, refine gateway concert recommendations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Phase 3 - Scale: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    Roll out to all events, integrate with CRM, automate triggers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6A7B"/>
                </a:solidFill>
              </a:defRPr>
            </a:pPr>
            <a:r>
              <a:t>Success Metrics to Monitor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Red Flag</a:t>
                      </a:r>
                    </a:p>
                  </a:txBody>
                  <a:tcPr>
                    <a:solidFill>
                      <a:srgbClr val="116A7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Response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&gt;15%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&lt;10%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Redemption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&gt;5% of responses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&lt;2%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Full-price cannibalization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&lt;2% decline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&gt;5% decline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CYO conversion (from 3+ buyers)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&gt;20%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4"/>
                          </a:solidFill>
                        </a:defRPr>
                      </a:pPr>
                      <a:r>
                        <a:t>&lt;15%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6A7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Low-risk, high-potential opportunity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Converts 1,324 Special/Holiday buyers into Classical attendees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Generates $102,099 in incremental revenue from 1,926 new tickets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Creates pipeline of 50 new CYO subscribers worth $20K-$30K/season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</a:defRPr>
            </a:pPr>
            <a:r>
              <a:t>• Preserves pricing integrity through product differentiation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1097280"/>
          </a:xfrm>
          <a:prstGeom prst="roundRect">
            <a:avLst/>
          </a:prstGeom>
          <a:solidFill>
            <a:srgbClr val="1AC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80.6% of Special/Holiday buyers have never tried Classical - let's change that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6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C8ED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