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TALKING POINTS:</a:t>
            </a:r>
          </a:p>
          <a:p/>
          <a:p>
            <a:r>
              <a:t>Welcome everyone. Today I'm presenting Fixed Plus - a new premium program designed specifically for our most loyal subscribers.</a:t>
            </a:r>
          </a:p>
          <a:p/>
          <a:p>
            <a:r>
              <a:t>The key insight driving this proposal is simple: our Fixed 6 subscribers want MORE from us, and they're already proving it with their wallets. We're just not making it easy for them.</a:t>
            </a:r>
          </a:p>
          <a:p/>
          <a:p>
            <a:r>
              <a:t>Fixed Plus is about meeting that demand with a premium offering that delivers real value - and captures revenue we're currently leaving on the table.</a:t>
            </a:r>
          </a:p>
          <a:p/>
          <a:p>
            <a:r>
              <a:t>Let me walk you through the data that led us here, the product design, and the projected impact.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POINTS TO EMPHASIZE:</a:t>
            </a:r>
          </a:p>
          <a:p/>
          <a:p>
            <a:r>
              <a:t>1. TARGET MARKET: Fixed 6 is our largest subscription tier - 1,643 accounts representing 70% of all Fixed subscribers. These are committed patrons, not casual attendees.</a:t>
            </a:r>
          </a:p>
          <a:p/>
          <a:p>
            <a:r>
              <a:t>2. THE INSIGHT: Here's what's remarkable - nearly 58% of these subscribers ALREADY go out of their way to buy additional single tickets. They're telling us with their behavior: "We want more than 6 concerts."</a:t>
            </a:r>
          </a:p>
          <a:p/>
          <a:p>
            <a:r>
              <a:t>3. THE PRODUCT: Fixed Plus bundles what they already want - Holiday and Special event access - at a 10% premium. But we don't lead with price...</a:t>
            </a:r>
          </a:p>
          <a:p/>
          <a:p>
            <a:r>
              <a:t>4. THE STRATEGY: We lead with BENEFITS. Priority access. Guaranteed seating. VIP status. The 10% premium feels justified when you're getting exclusive perks.</a:t>
            </a:r>
          </a:p>
          <a:p/>
          <a:p>
            <a:r>
              <a:t>5. THE OPPORTUNITY: Conservative projections show $44,310 from just 354 subscribers - and this is a foundation we can build 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THROUGH THE NUMBERS:</a:t>
            </a:r>
          </a:p>
          <a:p/>
          <a:p>
            <a:r>
              <a:t>Let me put these three numbers in context:</a:t>
            </a:r>
          </a:p>
          <a:p/>
          <a:p>
            <a:r>
              <a:t>1,643 ACCOUNTS: This is a substantial base. Fixed 6 is our "gateway" subscription - serious enough to commit to 6 concerts, but not the heavy users who buy 18 or 24. They're the middle of the funnel.</a:t>
            </a:r>
          </a:p>
          <a:p/>
          <a:p>
            <a:r>
              <a:t>57.8%: This is the critical insight. More than half of these subscribers are already buying additional single tickets on top of their subscription. They've demonstrated willingness to spend more with us. The question is: are we making it easy for them?</a:t>
            </a:r>
          </a:p>
          <a:p/>
          <a:p>
            <a:r>
              <a:t>$355 AVERAGE: Among those who buy extra, they're spending $355 on average. That's significant incremental revenue per customer. And they're doing this despite friction - having to monitor ticket sales, compete for seats, go through separate checkout. Imagine if we removed that friction.</a:t>
            </a:r>
          </a:p>
          <a:p/>
          <a:p>
            <a:r>
              <a:t>TRANSITION: Let's look at exactly what they're buying...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ANALYZING THE DATA:</a:t>
            </a:r>
          </a:p>
          <a:p/>
          <a:p>
            <a:r>
              <a:t>This table shows what Fixed 6 subscribers are buying as single tickets:</a:t>
            </a:r>
          </a:p>
          <a:p/>
          <a:p>
            <a:r>
              <a:t>CLASSICAL ($208K): The largest category - 709 unique buyers purchasing Classical single tickets. This makes sense: their subscription is Classical-focused, and they want MORE Classical. This validates demand but isn't our Fixed Plus target.</a:t>
            </a:r>
          </a:p>
          <a:p/>
          <a:p>
            <a:r>
              <a:t>SPECIAL ($82K): Here's where it gets interesting. 381 accounts - nearly a quarter of all Fixed 6 subscribers - bought Special event single tickets. These are premium experiences they're seeking out.</a:t>
            </a:r>
          </a:p>
          <a:p/>
          <a:p>
            <a:r>
              <a:t>HOLIDAY ($42K): 196 accounts bought Holiday tickets. These events often sell out, creating urgency and FOMO.</a:t>
            </a:r>
          </a:p>
          <a:p/>
          <a:p>
            <a:r>
              <a:t>THE INSIGHT: Combined, over 500 Fixed 6 accounts are buying Holiday and Special single tickets. That's the exact demand Fixed Plus is designed to capture - but with added benefits and at a premium price.</a:t>
            </a:r>
          </a:p>
          <a:p/>
          <a:p>
            <a:r>
              <a:t>KEY QUESTION TO POSE: Why are we making our best customers compete with the general public for these seats?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BUILDING THE CASE - WHAT THE DATA TELLS US:</a:t>
            </a:r>
          </a:p>
          <a:p/>
          <a:p>
            <a:r>
              <a:t>Let me translate these behaviors into customer needs:</a:t>
            </a:r>
          </a:p>
          <a:p/>
          <a:p>
            <a:r>
              <a:t>1. MORE EVENTS: They're not satisfied with 6 concerts. The average extra buyer attends 2.5 additional events. They want a deeper relationship with ASO.</a:t>
            </a:r>
          </a:p>
          <a:p/>
          <a:p>
            <a:r>
              <a:t>2. PLAN AHEAD: This is crucial for Fixed Plus design. 45% of their single ticket purchases happen 2+ months before the event. These are planners, not impulse buyers. "Priority Access" isn't just marketing fluff - it's something they genuinely value.</a:t>
            </a:r>
          </a:p>
          <a:p/>
          <a:p>
            <a:r>
              <a:t>3. PREMIUM SEATING: 83% of their subscriptions are in Orchestra or Loge sections. They're not bargain hunters. They choose quality and are willing to pay for it.</a:t>
            </a:r>
          </a:p>
          <a:p/>
          <a:p>
            <a:r>
              <a:t>4. WILLING TO PAY: $355 average spend on extras. These aren't price-sensitive customers looking for the cheapest option.</a:t>
            </a:r>
          </a:p>
          <a:p/>
          <a:p>
            <a:r>
              <a:t>5. CONVENIENCE: Think about what they're doing now - monitoring on-sale dates, competing for seats, going through separate purchases. They're doing this despite friction. What if we removed that friction and added VIP perks?</a:t>
            </a:r>
          </a:p>
          <a:p/>
          <a:p>
            <a:r>
              <a:t>THE BOTTOM LINE: Fixed 6 subscribers are telling us what they want through their behavior. Fixed Plus is simply packaging it better.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a:t>
            </a:r>
          </a:p>
          <a:p/>
          <a:p>
            <a:r>
              <a:t>Now that we've established the demand exists - and it clearly does - let me show you how Fixed Plus is designed to meet that demand while capturing premium revenue.</a:t>
            </a:r>
          </a:p>
          <a:p/>
          <a:p>
            <a:r>
              <a:t>The key principle here is PRODUCT DIFFERENTIATION. We're not discounting. We're not cannibalizing. We're creating a new premium tier that delivers genuine value.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PRODUCT STRUCTURE:</a:t>
            </a:r>
          </a:p>
          <a:p/>
          <a:p>
            <a:r>
              <a:t>We're offering two tiers to capture different levels of demand:</a:t>
            </a:r>
          </a:p>
          <a:p/>
          <a:p>
            <a:r>
              <a:t>FIXED PLUS BRONZE:</a:t>
            </a:r>
          </a:p>
          <a:p>
            <a:r>
              <a:t>- Adds 1 Special ticket to their subscription</a:t>
            </a:r>
          </a:p>
          <a:p>
            <a:r>
              <a:t>- 10% premium over regular single ticket price</a:t>
            </a:r>
          </a:p>
          <a:p>
            <a:r>
              <a:t>- Entry-level option for those who want to "try" the program</a:t>
            </a:r>
          </a:p>
          <a:p>
            <a:r>
              <a:t>- Price: approximately $87.92 (vs $79.93 regular)</a:t>
            </a:r>
          </a:p>
          <a:p/>
          <a:p>
            <a:r>
              <a:t>FIXED PLUS GOLD:</a:t>
            </a:r>
          </a:p>
          <a:p>
            <a:r>
              <a:t>- Adds 2 tickets: 1 Holiday + 1 Special event</a:t>
            </a:r>
          </a:p>
          <a:p>
            <a:r>
              <a:t>- 10% premium on both</a:t>
            </a:r>
          </a:p>
          <a:p>
            <a:r>
              <a:t>- For the more engaged subscriber who wants the full experience</a:t>
            </a:r>
          </a:p>
          <a:p>
            <a:r>
              <a:t>- Price: approximately $150.53 total</a:t>
            </a:r>
          </a:p>
          <a:p/>
          <a:p>
            <a:r>
              <a:t>WHY 10% PREMIUM?</a:t>
            </a:r>
          </a:p>
          <a:p>
            <a:r>
              <a:t>- High enough to capture meaningful revenue</a:t>
            </a:r>
          </a:p>
          <a:p>
            <a:r>
              <a:t>- Low enough to feel justified by the benefits</a:t>
            </a:r>
          </a:p>
          <a:p>
            <a:r>
              <a:t>- Positions as "premium" without feeling exploitative</a:t>
            </a:r>
          </a:p>
          <a:p/>
          <a:p>
            <a:r>
              <a:t>TIMING IS KEY: We offer this at subscription renewal - when they're already in "buying mode" and thinking about their ASO commitment for the year. It's a natural upsell moment.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ACCESS BENEFITS - THE CORE VALUE PROPOSITION:</a:t>
            </a:r>
          </a:p>
          <a:p/>
          <a:p>
            <a:r>
              <a:t>These three benefits are the foundation of Fixed Plus. They solve real problems our subscribers face:</a:t>
            </a:r>
          </a:p>
          <a:p/>
          <a:p>
            <a:r>
              <a:t>PRIORITY ACCESS WINDOW (2 weeks early):</a:t>
            </a:r>
          </a:p>
          <a:p>
            <a:r>
              <a:t>- Remember: 45% of Fixed 6 buyers purchase 2+ months in advance</a:t>
            </a:r>
          </a:p>
          <a:p>
            <a:r>
              <a:t>- They're planners who want certainty</a:t>
            </a:r>
          </a:p>
          <a:p>
            <a:r>
              <a:t>- Two weeks early access means they get first pick of dates and seats</a:t>
            </a:r>
          </a:p>
          <a:p>
            <a:r>
              <a:t>- Creates genuine exclusivity</a:t>
            </a:r>
          </a:p>
          <a:p/>
          <a:p>
            <a:r>
              <a:t>GUARANTEED SEAT HOLDS:</a:t>
            </a:r>
          </a:p>
          <a:p>
            <a:r>
              <a:t>- 83% sit in premium sections for their subscription</a:t>
            </a:r>
          </a:p>
          <a:p>
            <a:r>
              <a:t>- When buying single tickets, they risk not getting comparable seats</a:t>
            </a:r>
          </a:p>
          <a:p>
            <a:r>
              <a:t>- Fixed Plus guarantees their preferred section is available</a:t>
            </a:r>
          </a:p>
          <a:p>
            <a:r>
              <a:t>- Removes the anxiety of "will I get good seats?"</a:t>
            </a:r>
          </a:p>
          <a:p/>
          <a:p>
            <a:r>
              <a:t>SELLOUT PROTECTION:</a:t>
            </a:r>
          </a:p>
          <a:p>
            <a:r>
              <a:t>- Holiday events often sell out</a:t>
            </a:r>
          </a:p>
          <a:p>
            <a:r>
              <a:t>- Nothing is more frustrating than wanting to attend and being shut out</a:t>
            </a:r>
          </a:p>
          <a:p>
            <a:r>
              <a:t>- This benefit uses LOSS AVERSION psychology - avoiding the pain of missing out</a:t>
            </a:r>
          </a:p>
          <a:p>
            <a:r>
              <a:t>- Frame it as: "Never miss a Holiday concert again"</a:t>
            </a:r>
          </a:p>
          <a:p/>
          <a:p>
            <a:r>
              <a:t>These aren't invented benefits - they directly address friction points we see in the data.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EXPERIENCE BENEFITS - CREATING DIFFERENTIATION:</a:t>
            </a:r>
          </a:p>
          <a:p/>
          <a:p>
            <a:r>
              <a:t>These benefits transform Fixed Plus from a "ticket bundle" into a "membership experience":</a:t>
            </a:r>
          </a:p>
          <a:p/>
          <a:p>
            <a:r>
              <a:t>PRE-CONCERT INSIGHTS:</a:t>
            </a:r>
          </a:p>
          <a:p>
            <a:r>
              <a:t>- Exclusive educational content before Holiday/Special events</a:t>
            </a:r>
          </a:p>
          <a:p>
            <a:r>
              <a:t>- Could be a conductor Q&amp;A, musicologist talk, or behind-the-scenes preview</a:t>
            </a:r>
          </a:p>
          <a:p>
            <a:r>
              <a:t>- Makes them feel like insiders, not just ticket holders</a:t>
            </a:r>
          </a:p>
          <a:p>
            <a:r>
              <a:t>- Relatively low cost to deliver, high perceived value</a:t>
            </a:r>
          </a:p>
          <a:p/>
          <a:p>
            <a:r>
              <a:t>INTERMISSION LOUNGE ACCESS:</a:t>
            </a:r>
          </a:p>
          <a:p>
            <a:r>
              <a:t>- Dedicated refreshment area (if venue supports it)</a:t>
            </a:r>
          </a:p>
          <a:p>
            <a:r>
              <a:t>- Avoids the crowded bar lines</a:t>
            </a:r>
          </a:p>
          <a:p>
            <a:r>
              <a:t>- Creates a physical "members only" space</a:t>
            </a:r>
          </a:p>
          <a:p>
            <a:r>
              <a:t>- Note: This may require operational setup - can phase in later</a:t>
            </a:r>
          </a:p>
          <a:p/>
          <a:p>
            <a:r>
              <a:t>PROGRAM RECOGNITION:</a:t>
            </a:r>
          </a:p>
          <a:p>
            <a:r>
              <a:t>- "Fixed Plus Member" acknowledgment in programs or communications</a:t>
            </a:r>
          </a:p>
          <a:p>
            <a:r>
              <a:t>- Appeals to identity and status</a:t>
            </a:r>
          </a:p>
          <a:p>
            <a:r>
              <a:t>- Makes the membership visible and social</a:t>
            </a:r>
          </a:p>
          <a:p>
            <a:r>
              <a:t>- Simple to implement, meaningful to recipients</a:t>
            </a:r>
          </a:p>
          <a:p/>
          <a:p>
            <a:r>
              <a:t>PHASING: We can launch with access benefits first, then add experience benefits as the program matures. Start simple, prove the concept, then enhance.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CONVENIENCE BENEFITS - REMOVING FRICTION:</a:t>
            </a:r>
          </a:p>
          <a:p/>
          <a:p>
            <a:r>
              <a:t>These benefits make it EASY to say yes to Fixed Plus:</a:t>
            </a:r>
          </a:p>
          <a:p/>
          <a:p>
            <a:r>
              <a:t>SINGLE CHECKOUT:</a:t>
            </a:r>
          </a:p>
          <a:p>
            <a:r>
              <a:t>- Add-on events charged with subscription renewal</a:t>
            </a:r>
          </a:p>
          <a:p>
            <a:r>
              <a:t>- No separate transactions to manage</a:t>
            </a:r>
          </a:p>
          <a:p>
            <a:r>
              <a:t>- No need to remember on-sale dates</a:t>
            </a:r>
          </a:p>
          <a:p>
            <a:r>
              <a:t>- One decision, one payment, done</a:t>
            </a:r>
          </a:p>
          <a:p>
            <a:r>
              <a:t>- This alone removes significant friction</a:t>
            </a:r>
          </a:p>
          <a:p/>
          <a:p>
            <a:r>
              <a:t>FLEX SWAP OPTION:</a:t>
            </a:r>
          </a:p>
          <a:p>
            <a:r>
              <a:t>- Life happens - schedules change</a:t>
            </a:r>
          </a:p>
          <a:p>
            <a:r>
              <a:t>- Allow exchange of one add-on date for another event in the same tier</a:t>
            </a:r>
          </a:p>
          <a:p>
            <a:r>
              <a:t>- Reduces the risk of commitment</a:t>
            </a:r>
          </a:p>
          <a:p>
            <a:r>
              <a:t>- "What if I can't make that date?" is no longer a barrier</a:t>
            </a:r>
          </a:p>
          <a:p>
            <a:r>
              <a:t>- Builds trust and reduces buyer hesitation</a:t>
            </a:r>
          </a:p>
          <a:p/>
          <a:p>
            <a:r>
              <a:t>COMPANION DISCOUNT:</a:t>
            </a:r>
          </a:p>
          <a:p>
            <a:r>
              <a:t>- 5% off for a guest ticket on add-on events</a:t>
            </a:r>
          </a:p>
          <a:p>
            <a:r>
              <a:t>- Data shows many buyers purchase 2+ seats</a:t>
            </a:r>
          </a:p>
          <a:p>
            <a:r>
              <a:t>- Makes it easier to bring a friend or partner</a:t>
            </a:r>
          </a:p>
          <a:p>
            <a:r>
              <a:t>- Small discount, but signals "we value you sharing this experience"</a:t>
            </a:r>
          </a:p>
          <a:p/>
          <a:p>
            <a:r>
              <a:t>THE PSYCHOLOGY: Every friction point is an opportunity for the customer to say "maybe later" or "too complicated." These benefits systematically remove those friction points.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CRITICAL MARKETING GUIDANCE:</a:t>
            </a:r>
          </a:p>
          <a:p/>
          <a:p>
            <a:r>
              <a:t>This is important - how we position Fixed Plus determines its success:</a:t>
            </a:r>
          </a:p>
          <a:p/>
          <a:p>
            <a:r>
              <a:t>DO NOT LEAD WITH PRICE:</a:t>
            </a:r>
          </a:p>
          <a:p>
            <a:r>
              <a:t>- Never say "for just 10% more..."</a:t>
            </a:r>
          </a:p>
          <a:p>
            <a:r>
              <a:t>- Price-focused messaging attracts price-focused objections</a:t>
            </a:r>
          </a:p>
          <a:p>
            <a:r>
              <a:t>- We want value-focused customers</a:t>
            </a:r>
          </a:p>
          <a:p/>
          <a:p>
            <a:r>
              <a:t>LEAD WITH BENEFITS:</a:t>
            </a:r>
          </a:p>
          <a:p>
            <a:r>
              <a:t>- "Never miss a Holiday concert" → Sellout protection</a:t>
            </a:r>
          </a:p>
          <a:p>
            <a:r>
              <a:t>- "Your seats. Your events. Your way." → Control and choice</a:t>
            </a:r>
          </a:p>
          <a:p>
            <a:r>
              <a:t>- "Join the Fixed Plus family" → Belonging and status</a:t>
            </a:r>
          </a:p>
          <a:p/>
          <a:p>
            <a:r>
              <a:t>POSITIONING AS UPGRADE:</a:t>
            </a:r>
          </a:p>
          <a:p>
            <a:r>
              <a:t>- It's not "paying extra" - it's "upgrading your experience"</a:t>
            </a:r>
          </a:p>
          <a:p>
            <a:r>
              <a:t>- Like first class vs economy: same destination, better journey</a:t>
            </a:r>
          </a:p>
          <a:p>
            <a:r>
              <a:t>- Appeals to aspiration, not calculation</a:t>
            </a:r>
          </a:p>
          <a:p/>
          <a:p>
            <a:r>
              <a:t>TIMING - SUBSCRIPTION RENEWAL:</a:t>
            </a:r>
          </a:p>
          <a:p>
            <a:r>
              <a:t>- This is when they're already engaged and deciding</a:t>
            </a:r>
          </a:p>
          <a:p>
            <a:r>
              <a:t>- Natural moment to present options</a:t>
            </a:r>
          </a:p>
          <a:p>
            <a:r>
              <a:t>- "Would you like to enhance your subscription this year?"</a:t>
            </a:r>
          </a:p>
          <a:p>
            <a:r>
              <a:t>- Much easier than cold outreach</a:t>
            </a:r>
          </a:p>
          <a:p/>
          <a:p>
            <a:r>
              <a:t>MESSAGING EXAMPLES:</a:t>
            </a:r>
          </a:p>
          <a:p>
            <a:r>
              <a:t>- Email subject: "Exclusive: Fixed Plus membership now open"</a:t>
            </a:r>
          </a:p>
          <a:p>
            <a:r>
              <a:t>- NOT: "Add Holiday tickets for 10% premium"</a:t>
            </a:r>
          </a:p>
          <a:p/>
          <a:p>
            <a:r>
              <a:t>The 10% premium should feel like a natural part of a premium experience, not the defining feature.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a:t>
            </a:r>
          </a:p>
          <a:p/>
          <a:p>
            <a:r>
              <a:t>Now let's look at the numbers. These projections are based on conservative assumptions about uptake, grounded in the behavioral data we've analyzed.</a:t>
            </a:r>
          </a:p>
          <a:p/>
          <a:p>
            <a:r>
              <a:t>I'll show you our target segments, expected conversion rates, and the resulting revenue impact.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UPTAKE ASSUMPTIONS EXPLAINED:</a:t>
            </a:r>
          </a:p>
          <a:p/>
          <a:p>
            <a:r>
              <a:t>We're targeting two segments with different expected conversion rates:</a:t>
            </a:r>
          </a:p>
          <a:p/>
          <a:p>
            <a:r>
              <a:t>SEGMENT 1: CURRENT SINGLE TICKET BUYERS (950 accounts)</a:t>
            </a:r>
          </a:p>
          <a:p>
            <a:r>
              <a:t>- These are Fixed 6 subscribers who ALREADY buy extra tickets</a:t>
            </a:r>
          </a:p>
          <a:p>
            <a:r>
              <a:t>- They've demonstrated the behavior we're trying to capture</a:t>
            </a:r>
          </a:p>
          <a:p>
            <a:r>
              <a:t>- 30% uptake assumption is reasonable because:</a:t>
            </a:r>
          </a:p>
          <a:p>
            <a:r>
              <a:t>  - They already want what we're offering</a:t>
            </a:r>
          </a:p>
          <a:p>
            <a:r>
              <a:t>  - We're adding benefits (priority access, convenience)</a:t>
            </a:r>
          </a:p>
          <a:p>
            <a:r>
              <a:t>  - We're removing friction (single checkout)</a:t>
            </a:r>
          </a:p>
          <a:p>
            <a:r>
              <a:t>- 30% of 950 = 285 expected converts</a:t>
            </a:r>
          </a:p>
          <a:p/>
          <a:p>
            <a:r>
              <a:t>SEGMENT 2: NON-SINGLE TICKET BUYERS (693 accounts)</a:t>
            </a:r>
          </a:p>
          <a:p>
            <a:r>
              <a:t>- These Fixed 6 subscribers haven't bought extras YET</a:t>
            </a:r>
          </a:p>
          <a:p>
            <a:r>
              <a:t>- Could be due to friction, awareness, or lower interest</a:t>
            </a:r>
          </a:p>
          <a:p>
            <a:r>
              <a:t>- 10% uptake assumption is conservative because:</a:t>
            </a:r>
          </a:p>
          <a:p>
            <a:r>
              <a:t>  - They haven't shown the behavior</a:t>
            </a:r>
          </a:p>
          <a:p>
            <a:r>
              <a:t>  - But benefits might unlock latent demand</a:t>
            </a:r>
          </a:p>
          <a:p>
            <a:r>
              <a:t>  - "Sellout protection" might appeal to FOMO</a:t>
            </a:r>
          </a:p>
          <a:p>
            <a:r>
              <a:t>- 10% of 693 = 69 expected converts</a:t>
            </a:r>
          </a:p>
          <a:p/>
          <a:p>
            <a:r>
              <a:t>TOTAL: 354 Fixed Plus subscribers</a:t>
            </a:r>
          </a:p>
          <a:p/>
          <a:p>
            <a:r>
              <a:t>WHY THESE RATES ARE CONSERVATIVE:</a:t>
            </a:r>
          </a:p>
          <a:p>
            <a:r>
              <a:t>- Industry benchmarks for subscription upsells: 15-40%</a:t>
            </a:r>
          </a:p>
          <a:p>
            <a:r>
              <a:t>- Our benefits directly address documented pain points</a:t>
            </a:r>
          </a:p>
          <a:p>
            <a:r>
              <a:t>- Upside potential if marketing resonates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REVENUE BREAKDOWN:</a:t>
            </a:r>
          </a:p>
          <a:p/>
          <a:p>
            <a:r>
              <a:t>PACKAGE MIX ASSUMPTION:</a:t>
            </a:r>
          </a:p>
          <a:p>
            <a:r>
              <a:t>- 40% choose Bronze (entry-level, 1 Special ticket)</a:t>
            </a:r>
          </a:p>
          <a:p>
            <a:r>
              <a:t>- 60% choose Gold (fuller experience, 2 tickets)</a:t>
            </a:r>
          </a:p>
          <a:p>
            <a:r>
              <a:t>- This mix is based on typical tiered pricing behavior: most choose the middle/premium option when benefits are clear</a:t>
            </a:r>
          </a:p>
          <a:p/>
          <a:p>
            <a:r>
              <a:t>BRONZE REVENUE: $12,397</a:t>
            </a:r>
          </a:p>
          <a:p>
            <a:r>
              <a:t>- 141 subscribers × $87.92 (Special at 10% premium)</a:t>
            </a:r>
          </a:p>
          <a:p>
            <a:r>
              <a:t>- Entry point for cautious buyers</a:t>
            </a:r>
          </a:p>
          <a:p>
            <a:r>
              <a:t>- Many may upgrade to Gold in year 2</a:t>
            </a:r>
          </a:p>
          <a:p/>
          <a:p>
            <a:r>
              <a:t>GOLD REVENUE: $31,913</a:t>
            </a:r>
          </a:p>
          <a:p>
            <a:r>
              <a:t>- 212 subscribers × ~$150.53 (Holiday + Special at 10% premium)</a:t>
            </a:r>
          </a:p>
          <a:p>
            <a:r>
              <a:t>- The "sweet spot" offering</a:t>
            </a:r>
          </a:p>
          <a:p>
            <a:r>
              <a:t>- Higher value, higher engagement</a:t>
            </a:r>
          </a:p>
          <a:p/>
          <a:p>
            <a:r>
              <a:t>TOTAL: $44,310</a:t>
            </a:r>
          </a:p>
          <a:p>
            <a:r>
              <a:t>- First-year revenue from Fixed Plus program</a:t>
            </a:r>
          </a:p>
          <a:p>
            <a:r>
              <a:t>- Remember: this is INCREMENTAL - either new revenue or premium capture</a:t>
            </a:r>
          </a:p>
          <a:p>
            <a:r>
              <a:t>- Foundation for growth in subsequent years</a:t>
            </a:r>
          </a:p>
          <a:p/>
          <a:p>
            <a:r>
              <a:t>IMPORTANT CONTEXT: This is conservative. If we achieve 40% uptake among ST buyers instead of 30%, that's an additional $14,800+ in revenue.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FINANCIAL SUMMARY:</a:t>
            </a:r>
          </a:p>
          <a:p/>
          <a:p>
            <a:r>
              <a:t>Three numbers to remember:</a:t>
            </a:r>
          </a:p>
          <a:p/>
          <a:p>
            <a:r>
              <a:t>$44,310 TOTAL REVENUE:</a:t>
            </a:r>
          </a:p>
          <a:p>
            <a:r>
              <a:t>- This is what Fixed Plus generates in year one</a:t>
            </a:r>
          </a:p>
          <a:p>
            <a:r>
              <a:t>- For context: if these customers bought the same tickets at regular price, we'd get $40,282</a:t>
            </a:r>
          </a:p>
          <a:p>
            <a:r>
              <a:t>- Fixed Plus adds both volume AND margin</a:t>
            </a:r>
          </a:p>
          <a:p/>
          <a:p>
            <a:r>
              <a:t>$4,028 PREMIUM CAPTURED:</a:t>
            </a:r>
          </a:p>
          <a:p>
            <a:r>
              <a:t>- This is the pure premium - the 10% above regular pricing</a:t>
            </a:r>
          </a:p>
          <a:p>
            <a:r>
              <a:t>- This is revenue we would NOT have captured otherwise</a:t>
            </a:r>
          </a:p>
          <a:p>
            <a:r>
              <a:t>- Relatively small in year one, but grows with program scale</a:t>
            </a:r>
          </a:p>
          <a:p>
            <a:r>
              <a:t>- Also: doesn't account for customers who wouldn't have bought at all</a:t>
            </a:r>
          </a:p>
          <a:p/>
          <a:p>
            <a:r>
              <a:t>$125 AVERAGE REVENUE PER SUBSCRIBER:</a:t>
            </a:r>
          </a:p>
          <a:p>
            <a:r>
              <a:t>- Each Fixed Plus member generates $125 in add-on revenue</a:t>
            </a:r>
          </a:p>
          <a:p>
            <a:r>
              <a:t>- Compare to: current average of $355 for those who buy ST (but only 57.8% do)</a:t>
            </a:r>
          </a:p>
          <a:p>
            <a:r>
              <a:t>- Fixed Plus captures more people at a more predictable rate</a:t>
            </a:r>
          </a:p>
          <a:p/>
          <a:p>
            <a:r>
              <a:t>THE BIGGER PICTURE:</a:t>
            </a:r>
          </a:p>
          <a:p>
            <a:r>
              <a:t>- Year 1: $44,310 (354 subscribers)</a:t>
            </a:r>
          </a:p>
          <a:p>
            <a:r>
              <a:t>- Year 2 with 90% renewal + new: potentially $65K+</a:t>
            </a:r>
          </a:p>
          <a:p>
            <a:r>
              <a:t>- Year 3 with Platinum tier: $90K+</a:t>
            </a:r>
          </a:p>
          <a:p>
            <a:r>
              <a:t>- This is a foundation for sustainable growth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BEHAVIORAL ECONOMICS BEHIND FIXED PLUS:</a:t>
            </a:r>
          </a:p>
          <a:p/>
          <a:p>
            <a:r>
              <a:t>Let me explain WHY these design choices work psychologically:</a:t>
            </a:r>
          </a:p>
          <a:p/>
          <a:p>
            <a:r>
              <a:t>BUNDLING EFFECT:</a:t>
            </a:r>
          </a:p>
          <a:p>
            <a:r>
              <a:t>- Research shows customers perceive bundles as better value</a:t>
            </a:r>
          </a:p>
          <a:p>
            <a:r>
              <a:t>- Even at the same total price, "package" feels like a deal</a:t>
            </a:r>
          </a:p>
          <a:p>
            <a:r>
              <a:t>- Fixed Plus positions tickets + benefits as integrated offering</a:t>
            </a:r>
          </a:p>
          <a:p/>
          <a:p>
            <a:r>
              <a:t>LOSS AVERSION (most powerful):</a:t>
            </a:r>
          </a:p>
          <a:p>
            <a:r>
              <a:t>- Psychologically, avoiding a loss is 2x more motivating than achieving a gain</a:t>
            </a:r>
          </a:p>
          <a:p>
            <a:r>
              <a:t>- "Sellout Protection" = avoiding the PAIN of missing out</a:t>
            </a:r>
          </a:p>
          <a:p>
            <a:r>
              <a:t>- "Priority Access" = avoiding the FRUSTRATION of bad seats</a:t>
            </a:r>
          </a:p>
          <a:p>
            <a:r>
              <a:t>- We're not selling tickets; we're selling peace of mind</a:t>
            </a:r>
          </a:p>
          <a:p/>
          <a:p>
            <a:r>
              <a:t>STATUS &amp; IDENTITY:</a:t>
            </a:r>
          </a:p>
          <a:p>
            <a:r>
              <a:t>- "Fixed Plus Member" creates an identity</a:t>
            </a:r>
          </a:p>
          <a:p>
            <a:r>
              <a:t>- People act consistently with their self-image</a:t>
            </a:r>
          </a:p>
          <a:p>
            <a:r>
              <a:t>- Once they see themselves as a "Plus member," they behave like one</a:t>
            </a:r>
          </a:p>
          <a:p>
            <a:r>
              <a:t>- Recognition in programs reinforces this identity</a:t>
            </a:r>
          </a:p>
          <a:p/>
          <a:p>
            <a:r>
              <a:t>COMMITMENT &amp; CONSISTENCY:</a:t>
            </a:r>
          </a:p>
          <a:p>
            <a:r>
              <a:t>- Once someone upgrades to Fixed Plus, they're invested</a:t>
            </a:r>
          </a:p>
          <a:p>
            <a:r>
              <a:t>- They'll want to "get their money's worth" from benefits</a:t>
            </a:r>
          </a:p>
          <a:p>
            <a:r>
              <a:t>- Renewal becomes natural - they've already self-identified as Plus members</a:t>
            </a:r>
          </a:p>
          <a:p/>
          <a:p>
            <a:r>
              <a:t>CONVENIENCE PREMIUM:</a:t>
            </a:r>
          </a:p>
          <a:p>
            <a:r>
              <a:t>- People pay more for convenience (Amazon Prime, priority boarding)</a:t>
            </a:r>
          </a:p>
          <a:p>
            <a:r>
              <a:t>- Single checkout removes decision fatigue</a:t>
            </a:r>
          </a:p>
          <a:p>
            <a:r>
              <a:t>- Friction is the enemy of conversion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ADDRESSING POTENTIAL CONCERNS:</a:t>
            </a:r>
          </a:p>
          <a:p/>
          <a:p>
            <a:r>
              <a:t>CANNIBALIZATION RISK:</a:t>
            </a:r>
          </a:p>
          <a:p>
            <a:r>
              <a:t>Q: "Won't this just shift revenue we would have gotten anyway?"</a:t>
            </a:r>
          </a:p>
          <a:p>
            <a:r>
              <a:t>A: Two scenarios, both positive:</a:t>
            </a:r>
          </a:p>
          <a:p/>
          <a:p>
            <a:r>
              <a:t>Scenario 1 - They would have bought single tickets anyway:</a:t>
            </a:r>
          </a:p>
          <a:p>
            <a:r>
              <a:t>- Now they pay 10% premium</a:t>
            </a:r>
          </a:p>
          <a:p>
            <a:r>
              <a:t>- We capture extra margin on inevitable purchases</a:t>
            </a:r>
          </a:p>
          <a:p>
            <a:r>
              <a:t>- Net positive</a:t>
            </a:r>
          </a:p>
          <a:p/>
          <a:p>
            <a:r>
              <a:t>Scenario 2 - They wouldn't have bought:</a:t>
            </a:r>
          </a:p>
          <a:p>
            <a:r>
              <a:t>- Fixed Plus unlocks demand that friction was blocking</a:t>
            </a:r>
          </a:p>
          <a:p>
            <a:r>
              <a:t>- 100% incremental revenue</a:t>
            </a:r>
          </a:p>
          <a:p>
            <a:r>
              <a:t>- Net positive</a:t>
            </a:r>
          </a:p>
          <a:p/>
          <a:p>
            <a:r>
              <a:t>There's no scenario where we lose.</a:t>
            </a:r>
          </a:p>
          <a:p/>
          <a:p>
            <a:r>
              <a:t>OPERATIONAL CONCERNS:</a:t>
            </a:r>
          </a:p>
          <a:p>
            <a:r>
              <a:t>Q: "How do we manage priority access inventory?"</a:t>
            </a:r>
          </a:p>
          <a:p>
            <a:r>
              <a:t>A: Start conservatively:</a:t>
            </a:r>
          </a:p>
          <a:p>
            <a:r>
              <a:t>- Hold 5% of Holiday/Special capacity for Fixed Plus</a:t>
            </a:r>
          </a:p>
          <a:p>
            <a:r>
              <a:t>- Monitor demand and adjust</a:t>
            </a:r>
          </a:p>
          <a:p>
            <a:r>
              <a:t>- If underutilized, release to general sale</a:t>
            </a:r>
          </a:p>
          <a:p>
            <a:r>
              <a:t>- Simple ticketing system flag</a:t>
            </a:r>
          </a:p>
          <a:p/>
          <a:p>
            <a:r>
              <a:t>BENEFIT DELIVERY:</a:t>
            </a:r>
          </a:p>
          <a:p>
            <a:r>
              <a:t>Q: "Can we actually deliver on pre-concert talks, lounge access?"</a:t>
            </a:r>
          </a:p>
          <a:p>
            <a:r>
              <a:t>A: Phase the benefits:</a:t>
            </a:r>
          </a:p>
          <a:p>
            <a:r>
              <a:t>- Year 1: Focus on ACCESS benefits (easy to deliver)</a:t>
            </a:r>
          </a:p>
          <a:p>
            <a:r>
              <a:t>- Year 2: Add EXPERIENCE benefits (as program proves itself)</a:t>
            </a:r>
          </a:p>
          <a:p>
            <a:r>
              <a:t>- Year 3: Premium tier with exclusive experiences</a:t>
            </a:r>
          </a:p>
          <a:p>
            <a:r>
              <a:t>- Don't over-promise; build credibility gradually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WE'LL MEASURE SUCCESS:</a:t>
            </a:r>
          </a:p>
          <a:p/>
          <a:p>
            <a:r>
              <a:t>UPTAKE RATE (&gt;15% target):</a:t>
            </a:r>
          </a:p>
          <a:p>
            <a:r>
              <a:t>- Our projection assumes ~22% overall uptake</a:t>
            </a:r>
          </a:p>
          <a:p>
            <a:r>
              <a:t>- 15% is the minimum threshold for success</a:t>
            </a:r>
          </a:p>
          <a:p>
            <a:r>
              <a:t>- Below 8% signals fundamental product-market fit issues</a:t>
            </a:r>
          </a:p>
          <a:p>
            <a:r>
              <a:t>- Track by segment: ST buyers vs. non-ST buyers</a:t>
            </a:r>
          </a:p>
          <a:p/>
          <a:p>
            <a:r>
              <a:t>RENEWAL RATE (&gt;90% target):</a:t>
            </a:r>
          </a:p>
          <a:p>
            <a:r>
              <a:t>- Critical for long-term value</a:t>
            </a:r>
          </a:p>
          <a:p>
            <a:r>
              <a:t>- High renewal = satisfied customers</a:t>
            </a:r>
          </a:p>
          <a:p>
            <a:r>
              <a:t>- Below 80% means benefits aren't delivering perceived value</a:t>
            </a:r>
          </a:p>
          <a:p>
            <a:r>
              <a:t>- Survey churned members to understand why</a:t>
            </a:r>
          </a:p>
          <a:p/>
          <a:p>
            <a:r>
              <a:t>UPGRADE BRONZE → GOLD (&gt;30% target):</a:t>
            </a:r>
          </a:p>
          <a:p>
            <a:r>
              <a:t>- Shows customers want MORE after trying Bronze</a:t>
            </a:r>
          </a:p>
          <a:p>
            <a:r>
              <a:t>- Validates the tiered approach</a:t>
            </a:r>
          </a:p>
          <a:p>
            <a:r>
              <a:t>- Below 15% might mean Gold benefits aren't compelling enough</a:t>
            </a:r>
          </a:p>
          <a:p>
            <a:r>
              <a:t>- Opportunity to refine Gold offering</a:t>
            </a:r>
          </a:p>
          <a:p/>
          <a:p>
            <a:r>
              <a:t>NET PROMOTER SCORE (&gt;60 target):</a:t>
            </a:r>
          </a:p>
          <a:p>
            <a:r>
              <a:t>- Would they recommend Fixed Plus to fellow subscribers?</a:t>
            </a:r>
          </a:p>
          <a:p>
            <a:r>
              <a:t>- High NPS = organic growth through word-of-mouth</a:t>
            </a:r>
          </a:p>
          <a:p>
            <a:r>
              <a:t>- Below 40 indicates satisfaction problems</a:t>
            </a:r>
          </a:p>
          <a:p>
            <a:r>
              <a:t>- Use feedback to improve benefits</a:t>
            </a:r>
          </a:p>
          <a:p/>
          <a:p>
            <a:r>
              <a:t>REVIEW CADENCE: Monthly tracking, quarterly deep-dive, annual strategic review</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IMPLEMENTATION ROADMAP:</a:t>
            </a:r>
          </a:p>
          <a:p/>
          <a:p>
            <a:r>
              <a:t>PHASE 1 - PILOT (First renewal cycle):</a:t>
            </a:r>
          </a:p>
          <a:p>
            <a:r>
              <a:t>Target: 950 accounts who already buy single tickets</a:t>
            </a:r>
          </a:p>
          <a:p>
            <a:r>
              <a:t>Why them first:</a:t>
            </a:r>
          </a:p>
          <a:p>
            <a:r>
              <a:t>- Proven demand (they already do what we're offering)</a:t>
            </a:r>
          </a:p>
          <a:p>
            <a:r>
              <a:t>- Lower risk of rejection</a:t>
            </a:r>
          </a:p>
          <a:p>
            <a:r>
              <a:t>- Quick proof of concept</a:t>
            </a:r>
          </a:p>
          <a:p/>
          <a:p>
            <a:r>
              <a:t>Approach:</a:t>
            </a:r>
          </a:p>
          <a:p>
            <a:r>
              <a:t>- Personal email from subscriber services</a:t>
            </a:r>
          </a:p>
          <a:p>
            <a:r>
              <a:t>- Focus on ACCESS benefits (priority, guaranteed seats, sellout protection)</a:t>
            </a:r>
          </a:p>
          <a:p>
            <a:r>
              <a:t>- Single checkout convenience</a:t>
            </a:r>
          </a:p>
          <a:p/>
          <a:p>
            <a:r>
              <a:t>Goal: 100 subscribers (10.5% of target segment)</a:t>
            </a:r>
          </a:p>
          <a:p>
            <a:r>
              <a:t>Success criteria: &gt;15% uptake, &gt;85% satisfaction</a:t>
            </a:r>
          </a:p>
          <a:p/>
          <a:p>
            <a:r>
              <a:t>PHASE 2 - EXPAND (Second renewal cycle):</a:t>
            </a:r>
          </a:p>
          <a:p>
            <a:r>
              <a:t>Target: All 1,643 Fixed 6 accounts</a:t>
            </a:r>
          </a:p>
          <a:p>
            <a:r>
              <a:t>Additions:</a:t>
            </a:r>
          </a:p>
          <a:p>
            <a:r>
              <a:t>- Experience benefits (pre-concert talks, lounge access)</a:t>
            </a:r>
          </a:p>
          <a:p>
            <a:r>
              <a:t>- Refined messaging based on Phase 1 learnings</a:t>
            </a:r>
          </a:p>
          <a:p>
            <a:r>
              <a:t>- Testimonials from Phase 1 members</a:t>
            </a:r>
          </a:p>
          <a:p/>
          <a:p>
            <a:r>
              <a:t>Goal: 250 total subscribers</a:t>
            </a:r>
          </a:p>
          <a:p>
            <a:r>
              <a:t>Success criteria: &gt;90% Phase 1 renewal, &gt;12% new uptake</a:t>
            </a:r>
          </a:p>
          <a:p/>
          <a:p>
            <a:r>
              <a:t>PHASE 3 - PREMIUM (Year 2-3):</a:t>
            </a:r>
          </a:p>
          <a:p>
            <a:r>
              <a:t>Introduce "Fixed Plus Platinum":</a:t>
            </a:r>
          </a:p>
          <a:p>
            <a:r>
              <a:t>- All Gold benefits PLUS</a:t>
            </a:r>
          </a:p>
          <a:p>
            <a:r>
              <a:t>- Backstage access / meet the conductor</a:t>
            </a:r>
          </a:p>
          <a:p>
            <a:r>
              <a:t>- Premium pricing (25% above Gold)</a:t>
            </a:r>
          </a:p>
          <a:p>
            <a:r>
              <a:t>- Target: Top 20% of Gold members</a:t>
            </a:r>
          </a:p>
          <a:p/>
          <a:p>
            <a:r>
              <a:t>This creates an upgrade path and maximizes lifetime value.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SUMMARY:</a:t>
            </a:r>
          </a:p>
          <a:p/>
          <a:p>
            <a:r>
              <a:t>Let me leave you with five key takeaways:</a:t>
            </a:r>
          </a:p>
          <a:p/>
          <a:p>
            <a:r>
              <a:t>1. THE OPPORTUNITY IS REAL</a:t>
            </a:r>
          </a:p>
          <a:p>
            <a:r>
              <a:t>Fixed 6 subscribers are our most loyal yet underserved segment. They've told us through their behavior that they want more.</a:t>
            </a:r>
          </a:p>
          <a:p/>
          <a:p>
            <a:r>
              <a:t>2. THE DEMAND IS PROVEN</a:t>
            </a:r>
          </a:p>
          <a:p>
            <a:r>
              <a:t>57.8% already buy single tickets. We're not creating demand; we're packaging it better.</a:t>
            </a:r>
          </a:p>
          <a:p/>
          <a:p>
            <a:r>
              <a:t>3. THE PRODUCT IS DESIGNED FOR THEM</a:t>
            </a:r>
          </a:p>
          <a:p>
            <a:r>
              <a:t>Fixed Plus isn't a generic upsell. Every benefit addresses a specific pain point we identified in the data: advance planning, seat quality, convenience.</a:t>
            </a:r>
          </a:p>
          <a:p/>
          <a:p>
            <a:r>
              <a:t>4. THE PREMIUM IS JUSTIFIED</a:t>
            </a:r>
          </a:p>
          <a:p>
            <a:r>
              <a:t>10% is modest when you're getting priority access, guaranteed seating, sellout protection, and VIP status. We're not gouging; we're delivering value.</a:t>
            </a:r>
          </a:p>
          <a:p/>
          <a:p>
            <a:r>
              <a:t>5. THE NUMBERS WORK</a:t>
            </a:r>
          </a:p>
          <a:p>
            <a:r>
              <a:t>354 subscribers, $44,310 year-one revenue, with a clear pathway to grow through renewals, upgrades, and premium tiers.</a:t>
            </a:r>
          </a:p>
          <a:p/>
          <a:p>
            <a:r>
              <a:t>THE ASK: Approve the pilot program targeting our 950 single-ticket-buying Fixed 6 subscribers at their next renewal cycle.</a:t>
            </a:r>
          </a:p>
          <a:p/>
          <a:p>
            <a:r>
              <a:t>The worst case: We learn and adjust.</a:t>
            </a:r>
          </a:p>
          <a:p>
            <a:r>
              <a:t>The best case: We build a sustainable premium revenue stream while deepening relationships with our most valuable patrons.</a:t>
            </a:r>
          </a:p>
          <a:p/>
          <a:p>
            <a:r>
              <a:t>Questions?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PREPARED ANSWERS FOR LIKELY QUESTIONS:</a:t>
            </a:r>
          </a:p>
          <a:p/>
          <a:p>
            <a:r>
              <a:t>Q: Why 10% premium specifically?</a:t>
            </a:r>
          </a:p>
          <a:p>
            <a:r>
              <a:t>A: Balances revenue capture with perceived value. High enough to be meaningful, low enough to feel justified by benefits. We can test higher premiums in Phase 3.</a:t>
            </a:r>
          </a:p>
          <a:p/>
          <a:p>
            <a:r>
              <a:t>Q: What if Holiday/Special events don't sell out?</a:t>
            </a:r>
          </a:p>
          <a:p>
            <a:r>
              <a:t>A: Fixed Plus still delivers value through priority access, guaranteed seating, and convenience. Sellout protection is insurance - valuable even if not needed.</a:t>
            </a:r>
          </a:p>
          <a:p/>
          <a:p>
            <a:r>
              <a:t>Q: How do we handle existing subscribers who already renewed?</a:t>
            </a:r>
          </a:p>
          <a:p>
            <a:r>
              <a:t>A: Offer mid-cycle upgrade option with prorated pricing. Don't force them to wait a full year.</a:t>
            </a:r>
          </a:p>
          <a:p/>
          <a:p>
            <a:r>
              <a:t>Q: What's the cost to deliver these benefits?</a:t>
            </a:r>
          </a:p>
          <a:p>
            <a:r>
              <a:t>A: Access benefits: Near-zero (system configuration). Experience benefits: Modest (speaker fees, lounge setup). ROI is strong given $40K+ revenue.</a:t>
            </a:r>
          </a:p>
          <a:p/>
          <a:p>
            <a:r>
              <a:t>Q: Could this cannibalize our Holiday/Special single ticket sales?</a:t>
            </a:r>
          </a:p>
          <a:p>
            <a:r>
              <a:t>A: Unlikely. Fixed Plus targets EXISTING subscribers, not the general public. General public still buys normally.</a:t>
            </a:r>
          </a:p>
          <a:p/>
          <a:p>
            <a:r>
              <a:t>Q: What if uptake is lower than projected?</a:t>
            </a:r>
          </a:p>
          <a:p>
            <a:r>
              <a:t>A: Phase 1 pilot is designed to test this. If &lt;8% uptake, we reassess benefits and messaging before Phase 2.</a:t>
            </a:r>
          </a:p>
          <a:p/>
          <a:p>
            <a:r>
              <a:t>THANK YOU FOR YOUR TIME. I'm happy to dive deeper into any aspect of this analysis.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2A4A"/>
        </a:solidFill>
        <a:effectLst/>
      </p:bgPr>
    </p:bg>
    <p:spTree>
      <p:nvGrpSpPr>
        <p:cNvPr id="1" name=""/>
        <p:cNvGrpSpPr/>
        <p:nvPr/>
      </p:nvGrpSpPr>
      <p:grpSpPr/>
      <p:sp>
        <p:nvSpPr>
          <p:cNvPr id="2" name="TextBox 1"/>
          <p:cNvSpPr txBox="1"/>
          <p:nvPr/>
        </p:nvSpPr>
        <p:spPr>
          <a:xfrm>
            <a:off x="457200" y="2286000"/>
            <a:ext cx="8229600" cy="1371600"/>
          </a:xfrm>
          <a:prstGeom prst="rect">
            <a:avLst/>
          </a:prstGeom>
          <a:noFill/>
        </p:spPr>
        <p:txBody>
          <a:bodyPr wrap="square">
            <a:spAutoFit/>
          </a:bodyPr>
          <a:lstStyle/>
          <a:p>
            <a:pPr algn="ctr">
              <a:defRPr sz="4400" b="1">
                <a:solidFill>
                  <a:srgbClr val="FFFFFF"/>
                </a:solidFill>
              </a:defRPr>
            </a:pPr>
            <a:r>
              <a:t>Fixed Plus</a:t>
            </a:r>
          </a:p>
        </p:txBody>
      </p:sp>
      <p:sp>
        <p:nvSpPr>
          <p:cNvPr id="3" name="TextBox 2"/>
          <p:cNvSpPr txBox="1"/>
          <p:nvPr/>
        </p:nvSpPr>
        <p:spPr>
          <a:xfrm>
            <a:off x="457200" y="3657600"/>
            <a:ext cx="8229600" cy="914400"/>
          </a:xfrm>
          <a:prstGeom prst="rect">
            <a:avLst/>
          </a:prstGeom>
          <a:noFill/>
        </p:spPr>
        <p:txBody>
          <a:bodyPr wrap="none">
            <a:spAutoFit/>
          </a:bodyPr>
          <a:lstStyle/>
          <a:p>
            <a:pPr algn="ctr">
              <a:defRPr sz="2400">
                <a:solidFill>
                  <a:srgbClr val="D4AF37"/>
                </a:solidFill>
              </a:defRPr>
            </a:pPr>
            <a:r>
              <a:t>A Premium Program for Your Most Loyal Subscribers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8229600" cy="731520"/>
          </a:xfrm>
          <a:prstGeom prst="rect">
            <a:avLst/>
          </a:prstGeom>
          <a:noFill/>
        </p:spPr>
        <p:txBody>
          <a:bodyPr wrap="none">
            <a:spAutoFit/>
          </a:bodyPr>
          <a:lstStyle/>
          <a:p>
            <a:pPr>
              <a:defRPr sz="3200" b="1">
                <a:solidFill>
                  <a:srgbClr val="1A2A4A"/>
                </a:solidFill>
              </a:defRPr>
            </a:pPr>
            <a:r>
              <a:t>Executive Summary</a:t>
            </a:r>
          </a:p>
        </p:txBody>
      </p:sp>
      <p:sp>
        <p:nvSpPr>
          <p:cNvPr id="3" name="Rectangle 2"/>
          <p:cNvSpPr/>
          <p:nvPr/>
        </p:nvSpPr>
        <p:spPr>
          <a:xfrm>
            <a:off x="457200" y="1005840"/>
            <a:ext cx="8229600" cy="27432"/>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80160"/>
            <a:ext cx="8229600" cy="4114800"/>
          </a:xfrm>
          <a:prstGeom prst="rect">
            <a:avLst/>
          </a:prstGeom>
          <a:noFill/>
        </p:spPr>
        <p:txBody>
          <a:bodyPr wrap="square">
            <a:spAutoFit/>
          </a:bodyPr>
          <a:lstStyle/>
          <a:p>
            <a:pPr>
              <a:spcAft>
                <a:spcPts val="1200"/>
              </a:spcAft>
              <a:defRPr sz="2000">
                <a:solidFill>
                  <a:srgbClr val="444444"/>
                </a:solidFill>
              </a:defRPr>
            </a:pPr>
            <a:r>
              <a:t>• Target: Fixed 6 subscribers - ASO's core subscription base (1,643 accounts)</a:t>
            </a:r>
          </a:p>
          <a:p>
            <a:pPr>
              <a:spcAft>
                <a:spcPts val="1200"/>
              </a:spcAft>
              <a:defRPr sz="2000">
                <a:solidFill>
                  <a:srgbClr val="444444"/>
                </a:solidFill>
              </a:defRPr>
            </a:pPr>
            <a:r>
              <a:t>• Insight: 57.8% already purchase additional single tickets (proven demand)</a:t>
            </a:r>
          </a:p>
          <a:p>
            <a:pPr>
              <a:spcAft>
                <a:spcPts val="1200"/>
              </a:spcAft>
              <a:defRPr sz="2000">
                <a:solidFill>
                  <a:srgbClr val="444444"/>
                </a:solidFill>
              </a:defRPr>
            </a:pPr>
            <a:r>
              <a:t>• Product: Premium bundle with Holiday/Special event access at 10% premium</a:t>
            </a:r>
          </a:p>
          <a:p>
            <a:pPr>
              <a:spcAft>
                <a:spcPts val="1200"/>
              </a:spcAft>
              <a:defRPr sz="2000">
                <a:solidFill>
                  <a:srgbClr val="444444"/>
                </a:solidFill>
              </a:defRPr>
            </a:pPr>
            <a:r>
              <a:t>• Strategy: Sell BENEFITS, not price - advance access, guaranteed seating, VIP status</a:t>
            </a:r>
          </a:p>
          <a:p>
            <a:pPr>
              <a:spcAft>
                <a:spcPts val="1200"/>
              </a:spcAft>
              <a:defRPr sz="2000">
                <a:solidFill>
                  <a:srgbClr val="444444"/>
                </a:solidFill>
              </a:defRPr>
            </a:pPr>
            <a:r>
              <a:t>• Revenue: $44,310 projected from 354 Fixed Plus subscribers</a:t>
            </a:r>
          </a:p>
        </p:txBody>
      </p:sp>
      <p:sp>
        <p:nvSpPr>
          <p:cNvPr id="5" name="Rounded Rectangle 4"/>
          <p:cNvSpPr/>
          <p:nvPr/>
        </p:nvSpPr>
        <p:spPr>
          <a:xfrm>
            <a:off x="457200" y="4754880"/>
            <a:ext cx="8229600" cy="1097280"/>
          </a:xfrm>
          <a:prstGeom prst="round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1A2A4A"/>
                </a:solidFill>
              </a:defRPr>
            </a:pPr>
            <a:r>
              <a:t>Fixed 6 subscribers want more - Fixed Plus delivers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8229600" cy="731520"/>
          </a:xfrm>
          <a:prstGeom prst="rect">
            <a:avLst/>
          </a:prstGeom>
          <a:noFill/>
        </p:spPr>
        <p:txBody>
          <a:bodyPr wrap="none">
            <a:spAutoFit/>
          </a:bodyPr>
          <a:lstStyle/>
          <a:p>
            <a:pPr>
              <a:defRPr sz="3200" b="1">
                <a:solidFill>
                  <a:srgbClr val="1A2A4A"/>
                </a:solidFill>
              </a:defRPr>
            </a:pPr>
            <a:r>
              <a:t>The Opportunity: Fixed 6 Subscribers</a:t>
            </a:r>
          </a:p>
        </p:txBody>
      </p:sp>
      <p:sp>
        <p:nvSpPr>
          <p:cNvPr id="3" name="Rounded Rectangle 2"/>
          <p:cNvSpPr/>
          <p:nvPr/>
        </p:nvSpPr>
        <p:spPr>
          <a:xfrm>
            <a:off x="457200" y="1828800"/>
            <a:ext cx="2560320" cy="1645920"/>
          </a:xfrm>
          <a:prstGeom prst="roundRect">
            <a:avLst/>
          </a:prstGeom>
          <a:solidFill>
            <a:srgbClr val="1A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0"/>
            <a:ext cx="2560320" cy="914400"/>
          </a:xfrm>
          <a:prstGeom prst="rect">
            <a:avLst/>
          </a:prstGeom>
          <a:noFill/>
        </p:spPr>
        <p:txBody>
          <a:bodyPr wrap="none">
            <a:spAutoFit/>
          </a:bodyPr>
          <a:lstStyle/>
          <a:p>
            <a:pPr algn="ctr">
              <a:defRPr sz="2800" b="1">
                <a:solidFill>
                  <a:srgbClr val="D4AF37"/>
                </a:solidFill>
              </a:defRPr>
            </a:pPr>
            <a:r>
              <a:t>1,643</a:t>
            </a:r>
          </a:p>
        </p:txBody>
      </p:sp>
      <p:sp>
        <p:nvSpPr>
          <p:cNvPr id="5" name="TextBox 4"/>
          <p:cNvSpPr txBox="1"/>
          <p:nvPr/>
        </p:nvSpPr>
        <p:spPr>
          <a:xfrm>
            <a:off x="457200" y="2834640"/>
            <a:ext cx="2560320" cy="548640"/>
          </a:xfrm>
          <a:prstGeom prst="rect">
            <a:avLst/>
          </a:prstGeom>
          <a:noFill/>
        </p:spPr>
        <p:txBody>
          <a:bodyPr wrap="square">
            <a:spAutoFit/>
          </a:bodyPr>
          <a:lstStyle/>
          <a:p>
            <a:pPr algn="ctr">
              <a:defRPr sz="1400">
                <a:solidFill>
                  <a:srgbClr val="FFFFFF"/>
                </a:solidFill>
              </a:defRPr>
            </a:pPr>
            <a:r>
              <a:t>Total Fixed 6</a:t>
            </a:r>
            <a:br/>
            <a:r>
              <a:t>Accounts</a:t>
            </a:r>
          </a:p>
        </p:txBody>
      </p:sp>
      <p:sp>
        <p:nvSpPr>
          <p:cNvPr id="6" name="Rounded Rectangle 5"/>
          <p:cNvSpPr/>
          <p:nvPr/>
        </p:nvSpPr>
        <p:spPr>
          <a:xfrm>
            <a:off x="3291840" y="1828800"/>
            <a:ext cx="2560320" cy="1645920"/>
          </a:xfrm>
          <a:prstGeom prst="roundRect">
            <a:avLst/>
          </a:prstGeom>
          <a:solidFill>
            <a:srgbClr val="1A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91840" y="2011680"/>
            <a:ext cx="2560320" cy="914400"/>
          </a:xfrm>
          <a:prstGeom prst="rect">
            <a:avLst/>
          </a:prstGeom>
          <a:noFill/>
        </p:spPr>
        <p:txBody>
          <a:bodyPr wrap="none">
            <a:spAutoFit/>
          </a:bodyPr>
          <a:lstStyle/>
          <a:p>
            <a:pPr algn="ctr">
              <a:defRPr sz="2800" b="1">
                <a:solidFill>
                  <a:srgbClr val="D4AF37"/>
                </a:solidFill>
              </a:defRPr>
            </a:pPr>
            <a:r>
              <a:t>57.8%</a:t>
            </a:r>
          </a:p>
        </p:txBody>
      </p:sp>
      <p:sp>
        <p:nvSpPr>
          <p:cNvPr id="8" name="TextBox 7"/>
          <p:cNvSpPr txBox="1"/>
          <p:nvPr/>
        </p:nvSpPr>
        <p:spPr>
          <a:xfrm>
            <a:off x="3291840" y="2834640"/>
            <a:ext cx="2560320" cy="548640"/>
          </a:xfrm>
          <a:prstGeom prst="rect">
            <a:avLst/>
          </a:prstGeom>
          <a:noFill/>
        </p:spPr>
        <p:txBody>
          <a:bodyPr wrap="square">
            <a:spAutoFit/>
          </a:bodyPr>
          <a:lstStyle/>
          <a:p>
            <a:pPr algn="ctr">
              <a:defRPr sz="1400">
                <a:solidFill>
                  <a:srgbClr val="FFFFFF"/>
                </a:solidFill>
              </a:defRPr>
            </a:pPr>
            <a:r>
              <a:t>Already Buy</a:t>
            </a:r>
            <a:br/>
            <a:r>
              <a:t>Single Tickets</a:t>
            </a:r>
          </a:p>
        </p:txBody>
      </p:sp>
      <p:sp>
        <p:nvSpPr>
          <p:cNvPr id="9" name="Rounded Rectangle 8"/>
          <p:cNvSpPr/>
          <p:nvPr/>
        </p:nvSpPr>
        <p:spPr>
          <a:xfrm>
            <a:off x="6126480" y="1828800"/>
            <a:ext cx="2560320" cy="1645920"/>
          </a:xfrm>
          <a:prstGeom prst="roundRect">
            <a:avLst/>
          </a:prstGeom>
          <a:solidFill>
            <a:srgbClr val="1A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0" y="2011680"/>
            <a:ext cx="2560320" cy="914400"/>
          </a:xfrm>
          <a:prstGeom prst="rect">
            <a:avLst/>
          </a:prstGeom>
          <a:noFill/>
        </p:spPr>
        <p:txBody>
          <a:bodyPr wrap="none">
            <a:spAutoFit/>
          </a:bodyPr>
          <a:lstStyle/>
          <a:p>
            <a:pPr algn="ctr">
              <a:defRPr sz="2800" b="1">
                <a:solidFill>
                  <a:srgbClr val="D4AF37"/>
                </a:solidFill>
              </a:defRPr>
            </a:pPr>
            <a:r>
              <a:t>$355</a:t>
            </a:r>
          </a:p>
        </p:txBody>
      </p:sp>
      <p:sp>
        <p:nvSpPr>
          <p:cNvPr id="11" name="TextBox 10"/>
          <p:cNvSpPr txBox="1"/>
          <p:nvPr/>
        </p:nvSpPr>
        <p:spPr>
          <a:xfrm>
            <a:off x="6126480" y="2834640"/>
            <a:ext cx="2560320" cy="548640"/>
          </a:xfrm>
          <a:prstGeom prst="rect">
            <a:avLst/>
          </a:prstGeom>
          <a:noFill/>
        </p:spPr>
        <p:txBody>
          <a:bodyPr wrap="square">
            <a:spAutoFit/>
          </a:bodyPr>
          <a:lstStyle/>
          <a:p>
            <a:pPr algn="ctr">
              <a:defRPr sz="1400">
                <a:solidFill>
                  <a:srgbClr val="FFFFFF"/>
                </a:solidFill>
              </a:defRPr>
            </a:pPr>
            <a:r>
              <a:t>Avg Extra</a:t>
            </a:r>
            <a:br/>
            <a:r>
              <a:t>Spend/Buyer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2800" b="1">
                <a:solidFill>
                  <a:srgbClr val="1A2A4A"/>
                </a:solidFill>
              </a:defRPr>
            </a:pPr>
            <a:r>
              <a:t>Fixed 6 Single Ticket Behavior</a:t>
            </a:r>
          </a:p>
        </p:txBody>
      </p:sp>
      <p:sp>
        <p:nvSpPr>
          <p:cNvPr id="3" name="TextBox 2"/>
          <p:cNvSpPr txBox="1"/>
          <p:nvPr/>
        </p:nvSpPr>
        <p:spPr>
          <a:xfrm>
            <a:off x="457200" y="822960"/>
            <a:ext cx="8229600" cy="457200"/>
          </a:xfrm>
          <a:prstGeom prst="rect">
            <a:avLst/>
          </a:prstGeom>
          <a:noFill/>
        </p:spPr>
        <p:txBody>
          <a:bodyPr wrap="none">
            <a:spAutoFit/>
          </a:bodyPr>
          <a:lstStyle/>
          <a:p>
            <a:pPr>
              <a:defRPr sz="1600" i="1">
                <a:solidFill>
                  <a:srgbClr val="444444"/>
                </a:solidFill>
              </a:defRPr>
            </a:pPr>
            <a:r>
              <a:t>381 Fixed 6 accounts bought Special tickets, 196 bought Holiday - demand exists</a:t>
            </a:r>
          </a:p>
        </p:txBody>
      </p:sp>
      <p:graphicFrame>
        <p:nvGraphicFramePr>
          <p:cNvPr id="4" name="Table 3"/>
          <p:cNvGraphicFramePr>
            <a:graphicFrameLocks noGrp="1"/>
          </p:cNvGraphicFramePr>
          <p:nvPr/>
        </p:nvGraphicFramePr>
        <p:xfrm>
          <a:off x="457200" y="1280160"/>
          <a:ext cx="8229600" cy="1463040"/>
        </p:xfrm>
        <a:graphic>
          <a:graphicData uri="http://schemas.openxmlformats.org/drawingml/2006/table">
            <a:tbl>
              <a:tblPr firstRow="1" bandRow="1">
                <a:tableStyleId>{5C22544A-7EE6-4342-B048-85BDC9FD1C3A}</a:tableStyleId>
              </a:tblPr>
              <a:tblGrid>
                <a:gridCol w="2057400"/>
                <a:gridCol w="2057400"/>
                <a:gridCol w="2057400"/>
                <a:gridCol w="2057400"/>
              </a:tblGrid>
              <a:tr h="365760">
                <a:tc>
                  <a:txBody>
                    <a:bodyPr/>
                    <a:lstStyle/>
                    <a:p>
                      <a:pPr algn="ctr">
                        <a:defRPr b="1" sz="1400">
                          <a:solidFill>
                            <a:srgbClr val="FFFFFF"/>
                          </a:solidFill>
                        </a:defRPr>
                      </a:pPr>
                      <a:r>
                        <a:t>Event Type</a:t>
                      </a:r>
                    </a:p>
                  </a:txBody>
                  <a:tcPr>
                    <a:solidFill>
                      <a:srgbClr val="1A2A4A"/>
                    </a:solidFill>
                  </a:tcPr>
                </a:tc>
                <a:tc>
                  <a:txBody>
                    <a:bodyPr/>
                    <a:lstStyle/>
                    <a:p>
                      <a:pPr algn="ctr">
                        <a:defRPr b="1" sz="1400">
                          <a:solidFill>
                            <a:srgbClr val="FFFFFF"/>
                          </a:solidFill>
                        </a:defRPr>
                      </a:pPr>
                      <a:r>
                        <a:t>Unique Buyers</a:t>
                      </a:r>
                    </a:p>
                  </a:txBody>
                  <a:tcPr>
                    <a:solidFill>
                      <a:srgbClr val="1A2A4A"/>
                    </a:solidFill>
                  </a:tcPr>
                </a:tc>
                <a:tc>
                  <a:txBody>
                    <a:bodyPr/>
                    <a:lstStyle/>
                    <a:p>
                      <a:pPr algn="ctr">
                        <a:defRPr b="1" sz="1400">
                          <a:solidFill>
                            <a:srgbClr val="FFFFFF"/>
                          </a:solidFill>
                        </a:defRPr>
                      </a:pPr>
                      <a:r>
                        <a:t>Total Seats</a:t>
                      </a:r>
                    </a:p>
                  </a:txBody>
                  <a:tcPr>
                    <a:solidFill>
                      <a:srgbClr val="1A2A4A"/>
                    </a:solidFill>
                  </a:tcPr>
                </a:tc>
                <a:tc>
                  <a:txBody>
                    <a:bodyPr/>
                    <a:lstStyle/>
                    <a:p>
                      <a:pPr algn="ctr">
                        <a:defRPr b="1" sz="1400">
                          <a:solidFill>
                            <a:srgbClr val="FFFFFF"/>
                          </a:solidFill>
                        </a:defRPr>
                      </a:pPr>
                      <a:r>
                        <a:t>Revenue</a:t>
                      </a:r>
                    </a:p>
                  </a:txBody>
                  <a:tcPr>
                    <a:solidFill>
                      <a:srgbClr val="1A2A4A"/>
                    </a:solidFill>
                  </a:tcPr>
                </a:tc>
              </a:tr>
              <a:tr h="365760">
                <a:tc>
                  <a:txBody>
                    <a:bodyPr/>
                    <a:lstStyle/>
                    <a:p>
                      <a:pPr algn="ctr">
                        <a:defRPr sz="1200">
                          <a:solidFill>
                            <a:srgbClr val="444444"/>
                          </a:solidFill>
                        </a:defRPr>
                      </a:pPr>
                      <a:r>
                        <a:t>Classical</a:t>
                      </a:r>
                    </a:p>
                  </a:txBody>
                  <a:tcPr>
                    <a:solidFill>
                      <a:srgbClr val="F5F5F5"/>
                    </a:solidFill>
                  </a:tcPr>
                </a:tc>
                <a:tc>
                  <a:txBody>
                    <a:bodyPr/>
                    <a:lstStyle/>
                    <a:p>
                      <a:pPr algn="ctr">
                        <a:defRPr sz="1200">
                          <a:solidFill>
                            <a:srgbClr val="444444"/>
                          </a:solidFill>
                        </a:defRPr>
                      </a:pPr>
                      <a:r>
                        <a:t>709</a:t>
                      </a:r>
                    </a:p>
                  </a:txBody>
                  <a:tcPr>
                    <a:solidFill>
                      <a:srgbClr val="F5F5F5"/>
                    </a:solidFill>
                  </a:tcPr>
                </a:tc>
                <a:tc>
                  <a:txBody>
                    <a:bodyPr/>
                    <a:lstStyle/>
                    <a:p>
                      <a:pPr algn="ctr">
                        <a:defRPr sz="1200">
                          <a:solidFill>
                            <a:srgbClr val="444444"/>
                          </a:solidFill>
                        </a:defRPr>
                      </a:pPr>
                      <a:r>
                        <a:t>3,274</a:t>
                      </a:r>
                    </a:p>
                  </a:txBody>
                  <a:tcPr>
                    <a:solidFill>
                      <a:srgbClr val="F5F5F5"/>
                    </a:solidFill>
                  </a:tcPr>
                </a:tc>
                <a:tc>
                  <a:txBody>
                    <a:bodyPr/>
                    <a:lstStyle/>
                    <a:p>
                      <a:pPr algn="ctr">
                        <a:defRPr sz="1200">
                          <a:solidFill>
                            <a:srgbClr val="444444"/>
                          </a:solidFill>
                        </a:defRPr>
                      </a:pPr>
                      <a:r>
                        <a:t>$208,590</a:t>
                      </a:r>
                    </a:p>
                  </a:txBody>
                  <a:tcPr>
                    <a:solidFill>
                      <a:srgbClr val="F5F5F5"/>
                    </a:solidFill>
                  </a:tcPr>
                </a:tc>
              </a:tr>
              <a:tr h="365760">
                <a:tc>
                  <a:txBody>
                    <a:bodyPr/>
                    <a:lstStyle/>
                    <a:p>
                      <a:pPr algn="ctr">
                        <a:defRPr sz="1200">
                          <a:solidFill>
                            <a:srgbClr val="444444"/>
                          </a:solidFill>
                        </a:defRPr>
                      </a:pPr>
                      <a:r>
                        <a:t>Special</a:t>
                      </a:r>
                    </a:p>
                  </a:txBody>
                  <a:tcPr/>
                </a:tc>
                <a:tc>
                  <a:txBody>
                    <a:bodyPr/>
                    <a:lstStyle/>
                    <a:p>
                      <a:pPr algn="ctr">
                        <a:defRPr sz="1200">
                          <a:solidFill>
                            <a:srgbClr val="444444"/>
                          </a:solidFill>
                        </a:defRPr>
                      </a:pPr>
                      <a:r>
                        <a:t>381</a:t>
                      </a:r>
                    </a:p>
                  </a:txBody>
                  <a:tcPr/>
                </a:tc>
                <a:tc>
                  <a:txBody>
                    <a:bodyPr/>
                    <a:lstStyle/>
                    <a:p>
                      <a:pPr algn="ctr">
                        <a:defRPr sz="1200">
                          <a:solidFill>
                            <a:srgbClr val="444444"/>
                          </a:solidFill>
                        </a:defRPr>
                      </a:pPr>
                      <a:r>
                        <a:t>951</a:t>
                      </a:r>
                    </a:p>
                  </a:txBody>
                  <a:tcPr/>
                </a:tc>
                <a:tc>
                  <a:txBody>
                    <a:bodyPr/>
                    <a:lstStyle/>
                    <a:p>
                      <a:pPr algn="ctr">
                        <a:defRPr sz="1200">
                          <a:solidFill>
                            <a:srgbClr val="444444"/>
                          </a:solidFill>
                        </a:defRPr>
                      </a:pPr>
                      <a:r>
                        <a:t>$82,806</a:t>
                      </a:r>
                    </a:p>
                  </a:txBody>
                  <a:tcPr/>
                </a:tc>
              </a:tr>
              <a:tr h="365760">
                <a:tc>
                  <a:txBody>
                    <a:bodyPr/>
                    <a:lstStyle/>
                    <a:p>
                      <a:pPr algn="ctr">
                        <a:defRPr sz="1200">
                          <a:solidFill>
                            <a:srgbClr val="444444"/>
                          </a:solidFill>
                        </a:defRPr>
                      </a:pPr>
                      <a:r>
                        <a:t>Holiday</a:t>
                      </a:r>
                    </a:p>
                  </a:txBody>
                  <a:tcPr>
                    <a:solidFill>
                      <a:srgbClr val="F5F5F5"/>
                    </a:solidFill>
                  </a:tcPr>
                </a:tc>
                <a:tc>
                  <a:txBody>
                    <a:bodyPr/>
                    <a:lstStyle/>
                    <a:p>
                      <a:pPr algn="ctr">
                        <a:defRPr sz="1200">
                          <a:solidFill>
                            <a:srgbClr val="444444"/>
                          </a:solidFill>
                        </a:defRPr>
                      </a:pPr>
                      <a:r>
                        <a:t>196</a:t>
                      </a:r>
                    </a:p>
                  </a:txBody>
                  <a:tcPr>
                    <a:solidFill>
                      <a:srgbClr val="F5F5F5"/>
                    </a:solidFill>
                  </a:tcPr>
                </a:tc>
                <a:tc>
                  <a:txBody>
                    <a:bodyPr/>
                    <a:lstStyle/>
                    <a:p>
                      <a:pPr algn="ctr">
                        <a:defRPr sz="1200">
                          <a:solidFill>
                            <a:srgbClr val="444444"/>
                          </a:solidFill>
                        </a:defRPr>
                      </a:pPr>
                      <a:r>
                        <a:t>708</a:t>
                      </a:r>
                    </a:p>
                  </a:txBody>
                  <a:tcPr>
                    <a:solidFill>
                      <a:srgbClr val="F5F5F5"/>
                    </a:solidFill>
                  </a:tcPr>
                </a:tc>
                <a:tc>
                  <a:txBody>
                    <a:bodyPr/>
                    <a:lstStyle/>
                    <a:p>
                      <a:pPr algn="ctr">
                        <a:defRPr sz="1200">
                          <a:solidFill>
                            <a:srgbClr val="444444"/>
                          </a:solidFill>
                        </a:defRPr>
                      </a:pPr>
                      <a:r>
                        <a:t>$41,980</a:t>
                      </a:r>
                    </a:p>
                  </a:txBody>
                  <a:tcPr>
                    <a:solidFill>
                      <a:srgbClr val="F5F5F5"/>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8229600" cy="731520"/>
          </a:xfrm>
          <a:prstGeom prst="rect">
            <a:avLst/>
          </a:prstGeom>
          <a:noFill/>
        </p:spPr>
        <p:txBody>
          <a:bodyPr wrap="none">
            <a:spAutoFit/>
          </a:bodyPr>
          <a:lstStyle/>
          <a:p>
            <a:pPr>
              <a:defRPr sz="3200" b="1">
                <a:solidFill>
                  <a:srgbClr val="1A2A4A"/>
                </a:solidFill>
              </a:defRPr>
            </a:pPr>
            <a:r>
              <a:t>What Fixed 6 Subscribers Want</a:t>
            </a:r>
          </a:p>
        </p:txBody>
      </p:sp>
      <p:sp>
        <p:nvSpPr>
          <p:cNvPr id="3" name="Rectangle 2"/>
          <p:cNvSpPr/>
          <p:nvPr/>
        </p:nvSpPr>
        <p:spPr>
          <a:xfrm>
            <a:off x="457200" y="1005840"/>
            <a:ext cx="8229600" cy="27432"/>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80160"/>
            <a:ext cx="8229600" cy="4114800"/>
          </a:xfrm>
          <a:prstGeom prst="rect">
            <a:avLst/>
          </a:prstGeom>
          <a:noFill/>
        </p:spPr>
        <p:txBody>
          <a:bodyPr wrap="square">
            <a:spAutoFit/>
          </a:bodyPr>
          <a:lstStyle/>
          <a:p>
            <a:pPr>
              <a:spcAft>
                <a:spcPts val="1200"/>
              </a:spcAft>
              <a:defRPr sz="2000">
                <a:solidFill>
                  <a:srgbClr val="444444"/>
                </a:solidFill>
              </a:defRPr>
            </a:pPr>
            <a:r>
              <a:t>• MORE EVENTS: 57.8% buy additional single tickets (avg 2.5 events)</a:t>
            </a:r>
          </a:p>
          <a:p>
            <a:pPr>
              <a:spcAft>
                <a:spcPts val="1200"/>
              </a:spcAft>
              <a:defRPr sz="2000">
                <a:solidFill>
                  <a:srgbClr val="444444"/>
                </a:solidFill>
              </a:defRPr>
            </a:pPr>
            <a:r>
              <a:t>• PLAN AHEAD: 45% purchase 2+ months in advance - advance access is valuable</a:t>
            </a:r>
          </a:p>
          <a:p>
            <a:pPr>
              <a:spcAft>
                <a:spcPts val="1200"/>
              </a:spcAft>
              <a:defRPr sz="2000">
                <a:solidFill>
                  <a:srgbClr val="444444"/>
                </a:solidFill>
              </a:defRPr>
            </a:pPr>
            <a:r>
              <a:t>• PREMIUM SEATING: 83% of subscriptions are in premium sections</a:t>
            </a:r>
          </a:p>
          <a:p>
            <a:pPr>
              <a:spcAft>
                <a:spcPts val="1200"/>
              </a:spcAft>
              <a:defRPr sz="2000">
                <a:solidFill>
                  <a:srgbClr val="444444"/>
                </a:solidFill>
              </a:defRPr>
            </a:pPr>
            <a:r>
              <a:t>• QUALITY: Average single ticket spend is $355 - willing to pay for value</a:t>
            </a:r>
          </a:p>
          <a:p>
            <a:pPr>
              <a:spcAft>
                <a:spcPts val="1200"/>
              </a:spcAft>
              <a:defRPr sz="2000">
                <a:solidFill>
                  <a:srgbClr val="444444"/>
                </a:solidFill>
              </a:defRPr>
            </a:pPr>
            <a:r>
              <a:t>• CONVENIENCE: They're already doing extra work to buy more tickets</a:t>
            </a:r>
          </a:p>
        </p:txBody>
      </p:sp>
      <p:sp>
        <p:nvSpPr>
          <p:cNvPr id="5" name="Rounded Rectangle 4"/>
          <p:cNvSpPr/>
          <p:nvPr/>
        </p:nvSpPr>
        <p:spPr>
          <a:xfrm>
            <a:off x="457200" y="4754880"/>
            <a:ext cx="8229600" cy="1097280"/>
          </a:xfrm>
          <a:prstGeom prst="round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1A2A4A"/>
                </a:solidFill>
              </a:defRPr>
            </a:pPr>
            <a:r>
              <a:t>They want more - but current offerings don't serve them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2A4A"/>
        </a:solidFill>
        <a:effectLst/>
      </p:bgPr>
    </p:bg>
    <p:spTree>
      <p:nvGrpSpPr>
        <p:cNvPr id="1" name=""/>
        <p:cNvGrpSpPr/>
        <p:nvPr/>
      </p:nvGrpSpPr>
      <p:grpSpPr/>
      <p:sp>
        <p:nvSpPr>
          <p:cNvPr id="2" name="TextBox 1"/>
          <p:cNvSpPr txBox="1"/>
          <p:nvPr/>
        </p:nvSpPr>
        <p:spPr>
          <a:xfrm>
            <a:off x="457200" y="2743200"/>
            <a:ext cx="8229600" cy="914400"/>
          </a:xfrm>
          <a:prstGeom prst="rect">
            <a:avLst/>
          </a:prstGeom>
          <a:noFill/>
        </p:spPr>
        <p:txBody>
          <a:bodyPr wrap="none">
            <a:spAutoFit/>
          </a:bodyPr>
          <a:lstStyle/>
          <a:p>
            <a:pPr algn="ctr">
              <a:defRPr sz="4000" b="1">
                <a:solidFill>
                  <a:srgbClr val="FFFFFF"/>
                </a:solidFill>
              </a:defRPr>
            </a:pPr>
            <a:r>
              <a:t>The Solution: Fixed Plus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2800" b="1">
                <a:solidFill>
                  <a:srgbClr val="1A2A4A"/>
                </a:solidFill>
              </a:defRPr>
            </a:pPr>
            <a:r>
              <a:t>Fixed Plus Package Options</a:t>
            </a:r>
          </a:p>
        </p:txBody>
      </p:sp>
      <p:sp>
        <p:nvSpPr>
          <p:cNvPr id="3" name="TextBox 2"/>
          <p:cNvSpPr txBox="1"/>
          <p:nvPr/>
        </p:nvSpPr>
        <p:spPr>
          <a:xfrm>
            <a:off x="457200" y="822960"/>
            <a:ext cx="8229600" cy="457200"/>
          </a:xfrm>
          <a:prstGeom prst="rect">
            <a:avLst/>
          </a:prstGeom>
          <a:noFill/>
        </p:spPr>
        <p:txBody>
          <a:bodyPr wrap="none">
            <a:spAutoFit/>
          </a:bodyPr>
          <a:lstStyle/>
          <a:p>
            <a:pPr>
              <a:defRPr sz="1600" i="1">
                <a:solidFill>
                  <a:srgbClr val="444444"/>
                </a:solidFill>
              </a:defRPr>
            </a:pPr>
            <a:r>
              <a:t>Bundles what they already want - at their subscription renewal</a:t>
            </a:r>
          </a:p>
        </p:txBody>
      </p:sp>
      <p:graphicFrame>
        <p:nvGraphicFramePr>
          <p:cNvPr id="4" name="Table 3"/>
          <p:cNvGraphicFramePr>
            <a:graphicFrameLocks noGrp="1"/>
          </p:cNvGraphicFramePr>
          <p:nvPr/>
        </p:nvGraphicFramePr>
        <p:xfrm>
          <a:off x="457200" y="1280160"/>
          <a:ext cx="8229600" cy="1097280"/>
        </p:xfrm>
        <a:graphic>
          <a:graphicData uri="http://schemas.openxmlformats.org/drawingml/2006/table">
            <a:tbl>
              <a:tblPr firstRow="1" bandRow="1">
                <a:tableStyleId>{5C22544A-7EE6-4342-B048-85BDC9FD1C3A}</a:tableStyleId>
              </a:tblPr>
              <a:tblGrid>
                <a:gridCol w="2743200"/>
                <a:gridCol w="2743200"/>
                <a:gridCol w="2743200"/>
              </a:tblGrid>
              <a:tr h="365760">
                <a:tc>
                  <a:txBody>
                    <a:bodyPr/>
                    <a:lstStyle/>
                    <a:p>
                      <a:pPr algn="ctr">
                        <a:defRPr b="1" sz="1400">
                          <a:solidFill>
                            <a:srgbClr val="FFFFFF"/>
                          </a:solidFill>
                        </a:defRPr>
                      </a:pPr>
                      <a:r>
                        <a:t>Package</a:t>
                      </a:r>
                    </a:p>
                  </a:txBody>
                  <a:tcPr>
                    <a:solidFill>
                      <a:srgbClr val="1A2A4A"/>
                    </a:solidFill>
                  </a:tcPr>
                </a:tc>
                <a:tc>
                  <a:txBody>
                    <a:bodyPr/>
                    <a:lstStyle/>
                    <a:p>
                      <a:pPr algn="ctr">
                        <a:defRPr b="1" sz="1400">
                          <a:solidFill>
                            <a:srgbClr val="FFFFFF"/>
                          </a:solidFill>
                        </a:defRPr>
                      </a:pPr>
                      <a:r>
                        <a:t>Includes</a:t>
                      </a:r>
                    </a:p>
                  </a:txBody>
                  <a:tcPr>
                    <a:solidFill>
                      <a:srgbClr val="1A2A4A"/>
                    </a:solidFill>
                  </a:tcPr>
                </a:tc>
                <a:tc>
                  <a:txBody>
                    <a:bodyPr/>
                    <a:lstStyle/>
                    <a:p>
                      <a:pPr algn="ctr">
                        <a:defRPr b="1" sz="1400">
                          <a:solidFill>
                            <a:srgbClr val="FFFFFF"/>
                          </a:solidFill>
                        </a:defRPr>
                      </a:pPr>
                      <a:r>
                        <a:t>Premium</a:t>
                      </a:r>
                    </a:p>
                  </a:txBody>
                  <a:tcPr>
                    <a:solidFill>
                      <a:srgbClr val="1A2A4A"/>
                    </a:solidFill>
                  </a:tcPr>
                </a:tc>
              </a:tr>
              <a:tr h="365760">
                <a:tc>
                  <a:txBody>
                    <a:bodyPr/>
                    <a:lstStyle/>
                    <a:p>
                      <a:pPr algn="ctr">
                        <a:defRPr sz="1200">
                          <a:solidFill>
                            <a:srgbClr val="444444"/>
                          </a:solidFill>
                        </a:defRPr>
                      </a:pPr>
                      <a:r>
                        <a:t>Fixed Plus Bronze</a:t>
                      </a:r>
                    </a:p>
                  </a:txBody>
                  <a:tcPr>
                    <a:solidFill>
                      <a:srgbClr val="F5F5F5"/>
                    </a:solidFill>
                  </a:tcPr>
                </a:tc>
                <a:tc>
                  <a:txBody>
                    <a:bodyPr/>
                    <a:lstStyle/>
                    <a:p>
                      <a:pPr algn="ctr">
                        <a:defRPr sz="1200">
                          <a:solidFill>
                            <a:srgbClr val="444444"/>
                          </a:solidFill>
                        </a:defRPr>
                      </a:pPr>
                      <a:r>
                        <a:t>+1 Special ticket</a:t>
                      </a:r>
                    </a:p>
                  </a:txBody>
                  <a:tcPr>
                    <a:solidFill>
                      <a:srgbClr val="F5F5F5"/>
                    </a:solidFill>
                  </a:tcPr>
                </a:tc>
                <a:tc>
                  <a:txBody>
                    <a:bodyPr/>
                    <a:lstStyle/>
                    <a:p>
                      <a:pPr algn="ctr">
                        <a:defRPr sz="1200">
                          <a:solidFill>
                            <a:srgbClr val="444444"/>
                          </a:solidFill>
                        </a:defRPr>
                      </a:pPr>
                      <a:r>
                        <a:t>10%</a:t>
                      </a:r>
                    </a:p>
                  </a:txBody>
                  <a:tcPr>
                    <a:solidFill>
                      <a:srgbClr val="F5F5F5"/>
                    </a:solidFill>
                  </a:tcPr>
                </a:tc>
              </a:tr>
              <a:tr h="365760">
                <a:tc>
                  <a:txBody>
                    <a:bodyPr/>
                    <a:lstStyle/>
                    <a:p>
                      <a:pPr algn="ctr">
                        <a:defRPr sz="1200">
                          <a:solidFill>
                            <a:srgbClr val="444444"/>
                          </a:solidFill>
                        </a:defRPr>
                      </a:pPr>
                      <a:r>
                        <a:t>Fixed Plus Gold</a:t>
                      </a:r>
                    </a:p>
                  </a:txBody>
                  <a:tcPr/>
                </a:tc>
                <a:tc>
                  <a:txBody>
                    <a:bodyPr/>
                    <a:lstStyle/>
                    <a:p>
                      <a:pPr algn="ctr">
                        <a:defRPr sz="1200">
                          <a:solidFill>
                            <a:srgbClr val="444444"/>
                          </a:solidFill>
                        </a:defRPr>
                      </a:pPr>
                      <a:r>
                        <a:t>+2 tickets (Holiday + Special)</a:t>
                      </a:r>
                    </a:p>
                  </a:txBody>
                  <a:tcPr/>
                </a:tc>
                <a:tc>
                  <a:txBody>
                    <a:bodyPr/>
                    <a:lstStyle/>
                    <a:p>
                      <a:pPr algn="ctr">
                        <a:defRPr sz="1200">
                          <a:solidFill>
                            <a:srgbClr val="444444"/>
                          </a:solidFill>
                        </a:defRPr>
                      </a:pPr>
                      <a:r>
                        <a:t>10%</a:t>
                      </a:r>
                    </a:p>
                  </a:txBody>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548640"/>
          </a:xfrm>
          <a:prstGeom prst="rect">
            <a:avLst/>
          </a:prstGeom>
          <a:noFill/>
        </p:spPr>
        <p:txBody>
          <a:bodyPr wrap="none">
            <a:spAutoFit/>
          </a:bodyPr>
          <a:lstStyle/>
          <a:p>
            <a:pPr>
              <a:defRPr sz="2800" b="1">
                <a:solidFill>
                  <a:srgbClr val="1A2A4A"/>
                </a:solidFill>
              </a:defRPr>
            </a:pPr>
            <a:r>
              <a:t>Fixed Plus Benefits</a:t>
            </a:r>
          </a:p>
        </p:txBody>
      </p:sp>
      <p:sp>
        <p:nvSpPr>
          <p:cNvPr id="3" name="TextBox 2"/>
          <p:cNvSpPr txBox="1"/>
          <p:nvPr/>
        </p:nvSpPr>
        <p:spPr>
          <a:xfrm>
            <a:off x="457200" y="777240"/>
            <a:ext cx="8229600" cy="365760"/>
          </a:xfrm>
          <a:prstGeom prst="rect">
            <a:avLst/>
          </a:prstGeom>
          <a:noFill/>
        </p:spPr>
        <p:txBody>
          <a:bodyPr wrap="none">
            <a:spAutoFit/>
          </a:bodyPr>
          <a:lstStyle/>
          <a:p>
            <a:pPr>
              <a:defRPr sz="1800" b="1">
                <a:solidFill>
                  <a:srgbClr val="D4AF37"/>
                </a:solidFill>
              </a:defRPr>
            </a:pPr>
            <a:r>
              <a:t>ACCESS BENEFITS (Core Value)</a:t>
            </a:r>
          </a:p>
        </p:txBody>
      </p:sp>
      <p:sp>
        <p:nvSpPr>
          <p:cNvPr id="4" name="Rounded Rectangle 3"/>
          <p:cNvSpPr/>
          <p:nvPr/>
        </p:nvSpPr>
        <p:spPr>
          <a:xfrm>
            <a:off x="457200" y="1280160"/>
            <a:ext cx="8229600" cy="1005840"/>
          </a:xfrm>
          <a:prstGeom prst="roundRect">
            <a:avLst/>
          </a:prstGeom>
          <a:solidFill>
            <a:srgbClr val="F5F5F5"/>
          </a:solidFill>
          <a:ln>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371600"/>
            <a:ext cx="7772400" cy="365760"/>
          </a:xfrm>
          <a:prstGeom prst="rect">
            <a:avLst/>
          </a:prstGeom>
          <a:noFill/>
        </p:spPr>
        <p:txBody>
          <a:bodyPr wrap="none">
            <a:spAutoFit/>
          </a:bodyPr>
          <a:lstStyle/>
          <a:p>
            <a:pPr>
              <a:defRPr sz="1800" b="1">
                <a:solidFill>
                  <a:srgbClr val="1A2A4A"/>
                </a:solidFill>
              </a:defRPr>
            </a:pPr>
            <a:r>
              <a:t>Priority Access Window</a:t>
            </a:r>
          </a:p>
        </p:txBody>
      </p:sp>
      <p:sp>
        <p:nvSpPr>
          <p:cNvPr id="6" name="TextBox 5"/>
          <p:cNvSpPr txBox="1"/>
          <p:nvPr/>
        </p:nvSpPr>
        <p:spPr>
          <a:xfrm>
            <a:off x="640080" y="1737360"/>
            <a:ext cx="7772400" cy="457200"/>
          </a:xfrm>
          <a:prstGeom prst="rect">
            <a:avLst/>
          </a:prstGeom>
          <a:noFill/>
        </p:spPr>
        <p:txBody>
          <a:bodyPr wrap="square">
            <a:spAutoFit/>
          </a:bodyPr>
          <a:lstStyle/>
          <a:p>
            <a:pPr>
              <a:defRPr sz="1400">
                <a:solidFill>
                  <a:srgbClr val="444444"/>
                </a:solidFill>
              </a:defRPr>
            </a:pPr>
            <a:r>
              <a:t>Book Holiday/Special events 2 weeks before general public</a:t>
            </a:r>
          </a:p>
        </p:txBody>
      </p:sp>
      <p:sp>
        <p:nvSpPr>
          <p:cNvPr id="7" name="Rounded Rectangle 6"/>
          <p:cNvSpPr/>
          <p:nvPr/>
        </p:nvSpPr>
        <p:spPr>
          <a:xfrm>
            <a:off x="457200" y="2468880"/>
            <a:ext cx="8229600" cy="1005840"/>
          </a:xfrm>
          <a:prstGeom prst="roundRect">
            <a:avLst/>
          </a:prstGeom>
          <a:solidFill>
            <a:srgbClr val="F5F5F5"/>
          </a:solidFill>
          <a:ln>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560320"/>
            <a:ext cx="7772400" cy="365760"/>
          </a:xfrm>
          <a:prstGeom prst="rect">
            <a:avLst/>
          </a:prstGeom>
          <a:noFill/>
        </p:spPr>
        <p:txBody>
          <a:bodyPr wrap="none">
            <a:spAutoFit/>
          </a:bodyPr>
          <a:lstStyle/>
          <a:p>
            <a:pPr>
              <a:defRPr sz="1800" b="1">
                <a:solidFill>
                  <a:srgbClr val="1A2A4A"/>
                </a:solidFill>
              </a:defRPr>
            </a:pPr>
            <a:r>
              <a:t>Guaranteed Seat Holds</a:t>
            </a:r>
          </a:p>
        </p:txBody>
      </p:sp>
      <p:sp>
        <p:nvSpPr>
          <p:cNvPr id="9" name="TextBox 8"/>
          <p:cNvSpPr txBox="1"/>
          <p:nvPr/>
        </p:nvSpPr>
        <p:spPr>
          <a:xfrm>
            <a:off x="640080" y="2926080"/>
            <a:ext cx="7772400" cy="457200"/>
          </a:xfrm>
          <a:prstGeom prst="rect">
            <a:avLst/>
          </a:prstGeom>
          <a:noFill/>
        </p:spPr>
        <p:txBody>
          <a:bodyPr wrap="square">
            <a:spAutoFit/>
          </a:bodyPr>
          <a:lstStyle/>
          <a:p>
            <a:pPr>
              <a:defRPr sz="1400">
                <a:solidFill>
                  <a:srgbClr val="444444"/>
                </a:solidFill>
              </a:defRPr>
            </a:pPr>
            <a:r>
              <a:t>Your preferred section reserved for add-on events</a:t>
            </a:r>
          </a:p>
        </p:txBody>
      </p:sp>
      <p:sp>
        <p:nvSpPr>
          <p:cNvPr id="10" name="Rounded Rectangle 9"/>
          <p:cNvSpPr/>
          <p:nvPr/>
        </p:nvSpPr>
        <p:spPr>
          <a:xfrm>
            <a:off x="457200" y="3657600"/>
            <a:ext cx="8229600" cy="1005840"/>
          </a:xfrm>
          <a:prstGeom prst="roundRect">
            <a:avLst/>
          </a:prstGeom>
          <a:solidFill>
            <a:srgbClr val="F5F5F5"/>
          </a:solidFill>
          <a:ln>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3749039"/>
            <a:ext cx="7772400" cy="365760"/>
          </a:xfrm>
          <a:prstGeom prst="rect">
            <a:avLst/>
          </a:prstGeom>
          <a:noFill/>
        </p:spPr>
        <p:txBody>
          <a:bodyPr wrap="none">
            <a:spAutoFit/>
          </a:bodyPr>
          <a:lstStyle/>
          <a:p>
            <a:pPr>
              <a:defRPr sz="1800" b="1">
                <a:solidFill>
                  <a:srgbClr val="1A2A4A"/>
                </a:solidFill>
              </a:defRPr>
            </a:pPr>
            <a:r>
              <a:t>Sellout Protection</a:t>
            </a:r>
          </a:p>
        </p:txBody>
      </p:sp>
      <p:sp>
        <p:nvSpPr>
          <p:cNvPr id="12" name="TextBox 11"/>
          <p:cNvSpPr txBox="1"/>
          <p:nvPr/>
        </p:nvSpPr>
        <p:spPr>
          <a:xfrm>
            <a:off x="640080" y="4114800"/>
            <a:ext cx="7772400" cy="457200"/>
          </a:xfrm>
          <a:prstGeom prst="rect">
            <a:avLst/>
          </a:prstGeom>
          <a:noFill/>
        </p:spPr>
        <p:txBody>
          <a:bodyPr wrap="square">
            <a:spAutoFit/>
          </a:bodyPr>
          <a:lstStyle/>
          <a:p>
            <a:pPr>
              <a:defRPr sz="1400">
                <a:solidFill>
                  <a:srgbClr val="444444"/>
                </a:solidFill>
              </a:defRPr>
            </a:pPr>
            <a:r>
              <a:t>Never miss a Holiday show due to capacity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548640"/>
          </a:xfrm>
          <a:prstGeom prst="rect">
            <a:avLst/>
          </a:prstGeom>
          <a:noFill/>
        </p:spPr>
        <p:txBody>
          <a:bodyPr wrap="none">
            <a:spAutoFit/>
          </a:bodyPr>
          <a:lstStyle/>
          <a:p>
            <a:pPr>
              <a:defRPr sz="2800" b="1">
                <a:solidFill>
                  <a:srgbClr val="1A2A4A"/>
                </a:solidFill>
              </a:defRPr>
            </a:pPr>
            <a:r>
              <a:t>Fixed Plus Benefits</a:t>
            </a:r>
          </a:p>
        </p:txBody>
      </p:sp>
      <p:sp>
        <p:nvSpPr>
          <p:cNvPr id="3" name="TextBox 2"/>
          <p:cNvSpPr txBox="1"/>
          <p:nvPr/>
        </p:nvSpPr>
        <p:spPr>
          <a:xfrm>
            <a:off x="457200" y="777240"/>
            <a:ext cx="8229600" cy="365760"/>
          </a:xfrm>
          <a:prstGeom prst="rect">
            <a:avLst/>
          </a:prstGeom>
          <a:noFill/>
        </p:spPr>
        <p:txBody>
          <a:bodyPr wrap="none">
            <a:spAutoFit/>
          </a:bodyPr>
          <a:lstStyle/>
          <a:p>
            <a:pPr>
              <a:defRPr sz="1800" b="1">
                <a:solidFill>
                  <a:srgbClr val="D4AF37"/>
                </a:solidFill>
              </a:defRPr>
            </a:pPr>
            <a:r>
              <a:t>EXPERIENCE BENEFITS (Differentiation)</a:t>
            </a:r>
          </a:p>
        </p:txBody>
      </p:sp>
      <p:sp>
        <p:nvSpPr>
          <p:cNvPr id="4" name="Rounded Rectangle 3"/>
          <p:cNvSpPr/>
          <p:nvPr/>
        </p:nvSpPr>
        <p:spPr>
          <a:xfrm>
            <a:off x="457200" y="1280160"/>
            <a:ext cx="8229600" cy="1005840"/>
          </a:xfrm>
          <a:prstGeom prst="roundRect">
            <a:avLst/>
          </a:prstGeom>
          <a:solidFill>
            <a:srgbClr val="F5F5F5"/>
          </a:solidFill>
          <a:ln>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371600"/>
            <a:ext cx="7772400" cy="365760"/>
          </a:xfrm>
          <a:prstGeom prst="rect">
            <a:avLst/>
          </a:prstGeom>
          <a:noFill/>
        </p:spPr>
        <p:txBody>
          <a:bodyPr wrap="none">
            <a:spAutoFit/>
          </a:bodyPr>
          <a:lstStyle/>
          <a:p>
            <a:pPr>
              <a:defRPr sz="1800" b="1">
                <a:solidFill>
                  <a:srgbClr val="1A2A4A"/>
                </a:solidFill>
              </a:defRPr>
            </a:pPr>
            <a:r>
              <a:t>Pre-Concert Insights</a:t>
            </a:r>
          </a:p>
        </p:txBody>
      </p:sp>
      <p:sp>
        <p:nvSpPr>
          <p:cNvPr id="6" name="TextBox 5"/>
          <p:cNvSpPr txBox="1"/>
          <p:nvPr/>
        </p:nvSpPr>
        <p:spPr>
          <a:xfrm>
            <a:off x="640080" y="1737360"/>
            <a:ext cx="7772400" cy="457200"/>
          </a:xfrm>
          <a:prstGeom prst="rect">
            <a:avLst/>
          </a:prstGeom>
          <a:noFill/>
        </p:spPr>
        <p:txBody>
          <a:bodyPr wrap="square">
            <a:spAutoFit/>
          </a:bodyPr>
          <a:lstStyle/>
          <a:p>
            <a:pPr>
              <a:defRPr sz="1400">
                <a:solidFill>
                  <a:srgbClr val="444444"/>
                </a:solidFill>
              </a:defRPr>
            </a:pPr>
            <a:r>
              <a:t>Exclusive pre-concert talk or conductor Q&amp;A</a:t>
            </a:r>
          </a:p>
        </p:txBody>
      </p:sp>
      <p:sp>
        <p:nvSpPr>
          <p:cNvPr id="7" name="Rounded Rectangle 6"/>
          <p:cNvSpPr/>
          <p:nvPr/>
        </p:nvSpPr>
        <p:spPr>
          <a:xfrm>
            <a:off x="457200" y="2468880"/>
            <a:ext cx="8229600" cy="1005840"/>
          </a:xfrm>
          <a:prstGeom prst="roundRect">
            <a:avLst/>
          </a:prstGeom>
          <a:solidFill>
            <a:srgbClr val="F5F5F5"/>
          </a:solidFill>
          <a:ln>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560320"/>
            <a:ext cx="7772400" cy="365760"/>
          </a:xfrm>
          <a:prstGeom prst="rect">
            <a:avLst/>
          </a:prstGeom>
          <a:noFill/>
        </p:spPr>
        <p:txBody>
          <a:bodyPr wrap="none">
            <a:spAutoFit/>
          </a:bodyPr>
          <a:lstStyle/>
          <a:p>
            <a:pPr>
              <a:defRPr sz="1800" b="1">
                <a:solidFill>
                  <a:srgbClr val="1A2A4A"/>
                </a:solidFill>
              </a:defRPr>
            </a:pPr>
            <a:r>
              <a:t>Intermission Lounge Access</a:t>
            </a:r>
          </a:p>
        </p:txBody>
      </p:sp>
      <p:sp>
        <p:nvSpPr>
          <p:cNvPr id="9" name="TextBox 8"/>
          <p:cNvSpPr txBox="1"/>
          <p:nvPr/>
        </p:nvSpPr>
        <p:spPr>
          <a:xfrm>
            <a:off x="640080" y="2926080"/>
            <a:ext cx="7772400" cy="457200"/>
          </a:xfrm>
          <a:prstGeom prst="rect">
            <a:avLst/>
          </a:prstGeom>
          <a:noFill/>
        </p:spPr>
        <p:txBody>
          <a:bodyPr wrap="square">
            <a:spAutoFit/>
          </a:bodyPr>
          <a:lstStyle/>
          <a:p>
            <a:pPr>
              <a:defRPr sz="1400">
                <a:solidFill>
                  <a:srgbClr val="444444"/>
                </a:solidFill>
              </a:defRPr>
            </a:pPr>
            <a:r>
              <a:t>Dedicated refreshment area - skip the lines</a:t>
            </a:r>
          </a:p>
        </p:txBody>
      </p:sp>
      <p:sp>
        <p:nvSpPr>
          <p:cNvPr id="10" name="Rounded Rectangle 9"/>
          <p:cNvSpPr/>
          <p:nvPr/>
        </p:nvSpPr>
        <p:spPr>
          <a:xfrm>
            <a:off x="457200" y="3657600"/>
            <a:ext cx="8229600" cy="1005840"/>
          </a:xfrm>
          <a:prstGeom prst="roundRect">
            <a:avLst/>
          </a:prstGeom>
          <a:solidFill>
            <a:srgbClr val="F5F5F5"/>
          </a:solidFill>
          <a:ln>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3749039"/>
            <a:ext cx="7772400" cy="365760"/>
          </a:xfrm>
          <a:prstGeom prst="rect">
            <a:avLst/>
          </a:prstGeom>
          <a:noFill/>
        </p:spPr>
        <p:txBody>
          <a:bodyPr wrap="none">
            <a:spAutoFit/>
          </a:bodyPr>
          <a:lstStyle/>
          <a:p>
            <a:pPr>
              <a:defRPr sz="1800" b="1">
                <a:solidFill>
                  <a:srgbClr val="1A2A4A"/>
                </a:solidFill>
              </a:defRPr>
            </a:pPr>
            <a:r>
              <a:t>Program Recognition</a:t>
            </a:r>
          </a:p>
        </p:txBody>
      </p:sp>
      <p:sp>
        <p:nvSpPr>
          <p:cNvPr id="12" name="TextBox 11"/>
          <p:cNvSpPr txBox="1"/>
          <p:nvPr/>
        </p:nvSpPr>
        <p:spPr>
          <a:xfrm>
            <a:off x="640080" y="4114800"/>
            <a:ext cx="7772400" cy="457200"/>
          </a:xfrm>
          <a:prstGeom prst="rect">
            <a:avLst/>
          </a:prstGeom>
          <a:noFill/>
        </p:spPr>
        <p:txBody>
          <a:bodyPr wrap="square">
            <a:spAutoFit/>
          </a:bodyPr>
          <a:lstStyle/>
          <a:p>
            <a:pPr>
              <a:defRPr sz="1400">
                <a:solidFill>
                  <a:srgbClr val="444444"/>
                </a:solidFill>
              </a:defRPr>
            </a:pPr>
            <a:r>
              <a:t>'Fixed Plus Member' acknowledgment - VIP status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548640"/>
          </a:xfrm>
          <a:prstGeom prst="rect">
            <a:avLst/>
          </a:prstGeom>
          <a:noFill/>
        </p:spPr>
        <p:txBody>
          <a:bodyPr wrap="none">
            <a:spAutoFit/>
          </a:bodyPr>
          <a:lstStyle/>
          <a:p>
            <a:pPr>
              <a:defRPr sz="2800" b="1">
                <a:solidFill>
                  <a:srgbClr val="1A2A4A"/>
                </a:solidFill>
              </a:defRPr>
            </a:pPr>
            <a:r>
              <a:t>Fixed Plus Benefits</a:t>
            </a:r>
          </a:p>
        </p:txBody>
      </p:sp>
      <p:sp>
        <p:nvSpPr>
          <p:cNvPr id="3" name="TextBox 2"/>
          <p:cNvSpPr txBox="1"/>
          <p:nvPr/>
        </p:nvSpPr>
        <p:spPr>
          <a:xfrm>
            <a:off x="457200" y="777240"/>
            <a:ext cx="8229600" cy="365760"/>
          </a:xfrm>
          <a:prstGeom prst="rect">
            <a:avLst/>
          </a:prstGeom>
          <a:noFill/>
        </p:spPr>
        <p:txBody>
          <a:bodyPr wrap="none">
            <a:spAutoFit/>
          </a:bodyPr>
          <a:lstStyle/>
          <a:p>
            <a:pPr>
              <a:defRPr sz="1800" b="1">
                <a:solidFill>
                  <a:srgbClr val="D4AF37"/>
                </a:solidFill>
              </a:defRPr>
            </a:pPr>
            <a:r>
              <a:t>CONVENIENCE BENEFITS (Remove Friction)</a:t>
            </a:r>
          </a:p>
        </p:txBody>
      </p:sp>
      <p:sp>
        <p:nvSpPr>
          <p:cNvPr id="4" name="Rounded Rectangle 3"/>
          <p:cNvSpPr/>
          <p:nvPr/>
        </p:nvSpPr>
        <p:spPr>
          <a:xfrm>
            <a:off x="457200" y="1280160"/>
            <a:ext cx="8229600" cy="1005840"/>
          </a:xfrm>
          <a:prstGeom prst="roundRect">
            <a:avLst/>
          </a:prstGeom>
          <a:solidFill>
            <a:srgbClr val="F5F5F5"/>
          </a:solidFill>
          <a:ln>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371600"/>
            <a:ext cx="7772400" cy="365760"/>
          </a:xfrm>
          <a:prstGeom prst="rect">
            <a:avLst/>
          </a:prstGeom>
          <a:noFill/>
        </p:spPr>
        <p:txBody>
          <a:bodyPr wrap="none">
            <a:spAutoFit/>
          </a:bodyPr>
          <a:lstStyle/>
          <a:p>
            <a:pPr>
              <a:defRPr sz="1800" b="1">
                <a:solidFill>
                  <a:srgbClr val="1A2A4A"/>
                </a:solidFill>
              </a:defRPr>
            </a:pPr>
            <a:r>
              <a:t>Single Checkout</a:t>
            </a:r>
          </a:p>
        </p:txBody>
      </p:sp>
      <p:sp>
        <p:nvSpPr>
          <p:cNvPr id="6" name="TextBox 5"/>
          <p:cNvSpPr txBox="1"/>
          <p:nvPr/>
        </p:nvSpPr>
        <p:spPr>
          <a:xfrm>
            <a:off x="640080" y="1737360"/>
            <a:ext cx="7772400" cy="457200"/>
          </a:xfrm>
          <a:prstGeom prst="rect">
            <a:avLst/>
          </a:prstGeom>
          <a:noFill/>
        </p:spPr>
        <p:txBody>
          <a:bodyPr wrap="square">
            <a:spAutoFit/>
          </a:bodyPr>
          <a:lstStyle/>
          <a:p>
            <a:pPr>
              <a:defRPr sz="1400">
                <a:solidFill>
                  <a:srgbClr val="444444"/>
                </a:solidFill>
              </a:defRPr>
            </a:pPr>
            <a:r>
              <a:t>Add-on events charged with subscription renewal</a:t>
            </a:r>
          </a:p>
        </p:txBody>
      </p:sp>
      <p:sp>
        <p:nvSpPr>
          <p:cNvPr id="7" name="Rounded Rectangle 6"/>
          <p:cNvSpPr/>
          <p:nvPr/>
        </p:nvSpPr>
        <p:spPr>
          <a:xfrm>
            <a:off x="457200" y="2468880"/>
            <a:ext cx="8229600" cy="1005840"/>
          </a:xfrm>
          <a:prstGeom prst="roundRect">
            <a:avLst/>
          </a:prstGeom>
          <a:solidFill>
            <a:srgbClr val="F5F5F5"/>
          </a:solidFill>
          <a:ln>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560320"/>
            <a:ext cx="7772400" cy="365760"/>
          </a:xfrm>
          <a:prstGeom prst="rect">
            <a:avLst/>
          </a:prstGeom>
          <a:noFill/>
        </p:spPr>
        <p:txBody>
          <a:bodyPr wrap="none">
            <a:spAutoFit/>
          </a:bodyPr>
          <a:lstStyle/>
          <a:p>
            <a:pPr>
              <a:defRPr sz="1800" b="1">
                <a:solidFill>
                  <a:srgbClr val="1A2A4A"/>
                </a:solidFill>
              </a:defRPr>
            </a:pPr>
            <a:r>
              <a:t>Flex Swap Option</a:t>
            </a:r>
          </a:p>
        </p:txBody>
      </p:sp>
      <p:sp>
        <p:nvSpPr>
          <p:cNvPr id="9" name="TextBox 8"/>
          <p:cNvSpPr txBox="1"/>
          <p:nvPr/>
        </p:nvSpPr>
        <p:spPr>
          <a:xfrm>
            <a:off x="640080" y="2926080"/>
            <a:ext cx="7772400" cy="457200"/>
          </a:xfrm>
          <a:prstGeom prst="rect">
            <a:avLst/>
          </a:prstGeom>
          <a:noFill/>
        </p:spPr>
        <p:txBody>
          <a:bodyPr wrap="square">
            <a:spAutoFit/>
          </a:bodyPr>
          <a:lstStyle/>
          <a:p>
            <a:pPr>
              <a:defRPr sz="1400">
                <a:solidFill>
                  <a:srgbClr val="444444"/>
                </a:solidFill>
              </a:defRPr>
            </a:pPr>
            <a:r>
              <a:t>Exchange one add-on date for another same-tier event</a:t>
            </a:r>
          </a:p>
        </p:txBody>
      </p:sp>
      <p:sp>
        <p:nvSpPr>
          <p:cNvPr id="10" name="Rounded Rectangle 9"/>
          <p:cNvSpPr/>
          <p:nvPr/>
        </p:nvSpPr>
        <p:spPr>
          <a:xfrm>
            <a:off x="457200" y="3657600"/>
            <a:ext cx="8229600" cy="1005840"/>
          </a:xfrm>
          <a:prstGeom prst="roundRect">
            <a:avLst/>
          </a:prstGeom>
          <a:solidFill>
            <a:srgbClr val="F5F5F5"/>
          </a:solidFill>
          <a:ln>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3749039"/>
            <a:ext cx="7772400" cy="365760"/>
          </a:xfrm>
          <a:prstGeom prst="rect">
            <a:avLst/>
          </a:prstGeom>
          <a:noFill/>
        </p:spPr>
        <p:txBody>
          <a:bodyPr wrap="none">
            <a:spAutoFit/>
          </a:bodyPr>
          <a:lstStyle/>
          <a:p>
            <a:pPr>
              <a:defRPr sz="1800" b="1">
                <a:solidFill>
                  <a:srgbClr val="1A2A4A"/>
                </a:solidFill>
              </a:defRPr>
            </a:pPr>
            <a:r>
              <a:t>Companion Discount</a:t>
            </a:r>
          </a:p>
        </p:txBody>
      </p:sp>
      <p:sp>
        <p:nvSpPr>
          <p:cNvPr id="12" name="TextBox 11"/>
          <p:cNvSpPr txBox="1"/>
          <p:nvPr/>
        </p:nvSpPr>
        <p:spPr>
          <a:xfrm>
            <a:off x="640080" y="4114800"/>
            <a:ext cx="7772400" cy="457200"/>
          </a:xfrm>
          <a:prstGeom prst="rect">
            <a:avLst/>
          </a:prstGeom>
          <a:noFill/>
        </p:spPr>
        <p:txBody>
          <a:bodyPr wrap="square">
            <a:spAutoFit/>
          </a:bodyPr>
          <a:lstStyle/>
          <a:p>
            <a:pPr>
              <a:defRPr sz="1400">
                <a:solidFill>
                  <a:srgbClr val="444444"/>
                </a:solidFill>
              </a:defRPr>
            </a:pPr>
            <a:r>
              <a:t>5% off for a guest ticket on add-on events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8229600" cy="731520"/>
          </a:xfrm>
          <a:prstGeom prst="rect">
            <a:avLst/>
          </a:prstGeom>
          <a:noFill/>
        </p:spPr>
        <p:txBody>
          <a:bodyPr wrap="none">
            <a:spAutoFit/>
          </a:bodyPr>
          <a:lstStyle/>
          <a:p>
            <a:pPr>
              <a:defRPr sz="3200" b="1">
                <a:solidFill>
                  <a:srgbClr val="1A2A4A"/>
                </a:solidFill>
              </a:defRPr>
            </a:pPr>
            <a:r>
              <a:t>Marketing: Sell Benefits, Not Price</a:t>
            </a:r>
          </a:p>
        </p:txBody>
      </p:sp>
      <p:sp>
        <p:nvSpPr>
          <p:cNvPr id="3" name="Rectangle 2"/>
          <p:cNvSpPr/>
          <p:nvPr/>
        </p:nvSpPr>
        <p:spPr>
          <a:xfrm>
            <a:off x="457200" y="1005840"/>
            <a:ext cx="8229600" cy="27432"/>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80160"/>
            <a:ext cx="8229600" cy="4114800"/>
          </a:xfrm>
          <a:prstGeom prst="rect">
            <a:avLst/>
          </a:prstGeom>
          <a:noFill/>
        </p:spPr>
        <p:txBody>
          <a:bodyPr wrap="square">
            <a:spAutoFit/>
          </a:bodyPr>
          <a:lstStyle/>
          <a:p>
            <a:pPr>
              <a:spcAft>
                <a:spcPts val="1200"/>
              </a:spcAft>
              <a:defRPr sz="2000">
                <a:solidFill>
                  <a:srgbClr val="444444"/>
                </a:solidFill>
              </a:defRPr>
            </a:pPr>
            <a:r>
              <a:t>• DO NOT advertise the 10% premium</a:t>
            </a:r>
          </a:p>
          <a:p>
            <a:pPr>
              <a:spcAft>
                <a:spcPts val="1200"/>
              </a:spcAft>
              <a:defRPr sz="2000">
                <a:solidFill>
                  <a:srgbClr val="444444"/>
                </a:solidFill>
              </a:defRPr>
            </a:pPr>
            <a:r>
              <a:t>• INSTEAD, lead with exclusive benefits:</a:t>
            </a:r>
          </a:p>
          <a:p>
            <a:pPr>
              <a:spcAft>
                <a:spcPts val="1200"/>
              </a:spcAft>
              <a:defRPr sz="2000">
                <a:solidFill>
                  <a:srgbClr val="444444"/>
                </a:solidFill>
              </a:defRPr>
            </a:pPr>
            <a:r>
              <a:t>•     'Never miss a Holiday concert - guaranteed access'</a:t>
            </a:r>
          </a:p>
          <a:p>
            <a:pPr>
              <a:spcAft>
                <a:spcPts val="1200"/>
              </a:spcAft>
              <a:defRPr sz="2000">
                <a:solidFill>
                  <a:srgbClr val="444444"/>
                </a:solidFill>
              </a:defRPr>
            </a:pPr>
            <a:r>
              <a:t>•     'Your seats. Your events. Your way.'</a:t>
            </a:r>
          </a:p>
          <a:p>
            <a:pPr>
              <a:spcAft>
                <a:spcPts val="1200"/>
              </a:spcAft>
              <a:defRPr sz="2000">
                <a:solidFill>
                  <a:srgbClr val="444444"/>
                </a:solidFill>
              </a:defRPr>
            </a:pPr>
            <a:r>
              <a:t>•     'Join the Fixed Plus family'</a:t>
            </a:r>
          </a:p>
          <a:p>
            <a:pPr>
              <a:spcAft>
                <a:spcPts val="1200"/>
              </a:spcAft>
              <a:defRPr sz="2000">
                <a:solidFill>
                  <a:srgbClr val="444444"/>
                </a:solidFill>
              </a:defRPr>
            </a:pPr>
            <a:r>
              <a:t>• Position as an UPGRADE, not an expense</a:t>
            </a:r>
          </a:p>
          <a:p>
            <a:pPr>
              <a:spcAft>
                <a:spcPts val="1200"/>
              </a:spcAft>
              <a:defRPr sz="2000">
                <a:solidFill>
                  <a:srgbClr val="444444"/>
                </a:solidFill>
              </a:defRPr>
            </a:pPr>
            <a:r>
              <a:t>• Offer at subscription renewal - natural decision point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A2A4A"/>
        </a:solidFill>
        <a:effectLst/>
      </p:bgPr>
    </p:bg>
    <p:spTree>
      <p:nvGrpSpPr>
        <p:cNvPr id="1" name=""/>
        <p:cNvGrpSpPr/>
        <p:nvPr/>
      </p:nvGrpSpPr>
      <p:grpSpPr/>
      <p:sp>
        <p:nvSpPr>
          <p:cNvPr id="2" name="TextBox 1"/>
          <p:cNvSpPr txBox="1"/>
          <p:nvPr/>
        </p:nvSpPr>
        <p:spPr>
          <a:xfrm>
            <a:off x="457200" y="2743200"/>
            <a:ext cx="8229600" cy="914400"/>
          </a:xfrm>
          <a:prstGeom prst="rect">
            <a:avLst/>
          </a:prstGeom>
          <a:noFill/>
        </p:spPr>
        <p:txBody>
          <a:bodyPr wrap="none">
            <a:spAutoFit/>
          </a:bodyPr>
          <a:lstStyle/>
          <a:p>
            <a:pPr algn="ctr">
              <a:defRPr sz="4000" b="1">
                <a:solidFill>
                  <a:srgbClr val="FFFFFF"/>
                </a:solidFill>
              </a:defRPr>
            </a:pPr>
            <a:r>
              <a:t>Revenue Projections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2800" b="1">
                <a:solidFill>
                  <a:srgbClr val="1A2A4A"/>
                </a:solidFill>
              </a:defRPr>
            </a:pPr>
            <a:r>
              <a:t>Target Segments &amp; Uptake</a:t>
            </a:r>
          </a:p>
        </p:txBody>
      </p:sp>
      <p:graphicFrame>
        <p:nvGraphicFramePr>
          <p:cNvPr id="3" name="Table 2"/>
          <p:cNvGraphicFramePr>
            <a:graphicFrameLocks noGrp="1"/>
          </p:cNvGraphicFramePr>
          <p:nvPr/>
        </p:nvGraphicFramePr>
        <p:xfrm>
          <a:off x="457200" y="914400"/>
          <a:ext cx="8229600" cy="1463040"/>
        </p:xfrm>
        <a:graphic>
          <a:graphicData uri="http://schemas.openxmlformats.org/drawingml/2006/table">
            <a:tbl>
              <a:tblPr firstRow="1" bandRow="1">
                <a:tableStyleId>{5C22544A-7EE6-4342-B048-85BDC9FD1C3A}</a:tableStyleId>
              </a:tblPr>
              <a:tblGrid>
                <a:gridCol w="2057400"/>
                <a:gridCol w="2057400"/>
                <a:gridCol w="2057400"/>
                <a:gridCol w="2057400"/>
              </a:tblGrid>
              <a:tr h="365760">
                <a:tc>
                  <a:txBody>
                    <a:bodyPr/>
                    <a:lstStyle/>
                    <a:p>
                      <a:pPr algn="ctr">
                        <a:defRPr b="1" sz="1400">
                          <a:solidFill>
                            <a:srgbClr val="FFFFFF"/>
                          </a:solidFill>
                        </a:defRPr>
                      </a:pPr>
                      <a:r>
                        <a:t>Segment</a:t>
                      </a:r>
                    </a:p>
                  </a:txBody>
                  <a:tcPr>
                    <a:solidFill>
                      <a:srgbClr val="1A2A4A"/>
                    </a:solidFill>
                  </a:tcPr>
                </a:tc>
                <a:tc>
                  <a:txBody>
                    <a:bodyPr/>
                    <a:lstStyle/>
                    <a:p>
                      <a:pPr algn="ctr">
                        <a:defRPr b="1" sz="1400">
                          <a:solidFill>
                            <a:srgbClr val="FFFFFF"/>
                          </a:solidFill>
                        </a:defRPr>
                      </a:pPr>
                      <a:r>
                        <a:t>Size</a:t>
                      </a:r>
                    </a:p>
                  </a:txBody>
                  <a:tcPr>
                    <a:solidFill>
                      <a:srgbClr val="1A2A4A"/>
                    </a:solidFill>
                  </a:tcPr>
                </a:tc>
                <a:tc>
                  <a:txBody>
                    <a:bodyPr/>
                    <a:lstStyle/>
                    <a:p>
                      <a:pPr algn="ctr">
                        <a:defRPr b="1" sz="1400">
                          <a:solidFill>
                            <a:srgbClr val="FFFFFF"/>
                          </a:solidFill>
                        </a:defRPr>
                      </a:pPr>
                      <a:r>
                        <a:t>Uptake Rate</a:t>
                      </a:r>
                    </a:p>
                  </a:txBody>
                  <a:tcPr>
                    <a:solidFill>
                      <a:srgbClr val="1A2A4A"/>
                    </a:solidFill>
                  </a:tcPr>
                </a:tc>
                <a:tc>
                  <a:txBody>
                    <a:bodyPr/>
                    <a:lstStyle/>
                    <a:p>
                      <a:pPr algn="ctr">
                        <a:defRPr b="1" sz="1400">
                          <a:solidFill>
                            <a:srgbClr val="FFFFFF"/>
                          </a:solidFill>
                        </a:defRPr>
                      </a:pPr>
                      <a:r>
                        <a:t>Converts</a:t>
                      </a:r>
                    </a:p>
                  </a:txBody>
                  <a:tcPr>
                    <a:solidFill>
                      <a:srgbClr val="1A2A4A"/>
                    </a:solidFill>
                  </a:tcPr>
                </a:tc>
              </a:tr>
              <a:tr h="365760">
                <a:tc>
                  <a:txBody>
                    <a:bodyPr/>
                    <a:lstStyle/>
                    <a:p>
                      <a:pPr algn="ctr">
                        <a:defRPr sz="1200">
                          <a:solidFill>
                            <a:srgbClr val="444444"/>
                          </a:solidFill>
                        </a:defRPr>
                      </a:pPr>
                      <a:r>
                        <a:t>Current ST buyers (proven demand)</a:t>
                      </a:r>
                    </a:p>
                  </a:txBody>
                  <a:tcPr>
                    <a:solidFill>
                      <a:srgbClr val="F5F5F5"/>
                    </a:solidFill>
                  </a:tcPr>
                </a:tc>
                <a:tc>
                  <a:txBody>
                    <a:bodyPr/>
                    <a:lstStyle/>
                    <a:p>
                      <a:pPr algn="ctr">
                        <a:defRPr sz="1200">
                          <a:solidFill>
                            <a:srgbClr val="444444"/>
                          </a:solidFill>
                        </a:defRPr>
                      </a:pPr>
                      <a:r>
                        <a:t>950</a:t>
                      </a:r>
                    </a:p>
                  </a:txBody>
                  <a:tcPr>
                    <a:solidFill>
                      <a:srgbClr val="F5F5F5"/>
                    </a:solidFill>
                  </a:tcPr>
                </a:tc>
                <a:tc>
                  <a:txBody>
                    <a:bodyPr/>
                    <a:lstStyle/>
                    <a:p>
                      <a:pPr algn="ctr">
                        <a:defRPr sz="1200">
                          <a:solidFill>
                            <a:srgbClr val="444444"/>
                          </a:solidFill>
                        </a:defRPr>
                      </a:pPr>
                      <a:r>
                        <a:t>30%</a:t>
                      </a:r>
                    </a:p>
                  </a:txBody>
                  <a:tcPr>
                    <a:solidFill>
                      <a:srgbClr val="F5F5F5"/>
                    </a:solidFill>
                  </a:tcPr>
                </a:tc>
                <a:tc>
                  <a:txBody>
                    <a:bodyPr/>
                    <a:lstStyle/>
                    <a:p>
                      <a:pPr algn="ctr">
                        <a:defRPr sz="1200">
                          <a:solidFill>
                            <a:srgbClr val="444444"/>
                          </a:solidFill>
                        </a:defRPr>
                      </a:pPr>
                      <a:r>
                        <a:t>285</a:t>
                      </a:r>
                    </a:p>
                  </a:txBody>
                  <a:tcPr>
                    <a:solidFill>
                      <a:srgbClr val="F5F5F5"/>
                    </a:solidFill>
                  </a:tcPr>
                </a:tc>
              </a:tr>
              <a:tr h="365760">
                <a:tc>
                  <a:txBody>
                    <a:bodyPr/>
                    <a:lstStyle/>
                    <a:p>
                      <a:pPr algn="ctr">
                        <a:defRPr sz="1200">
                          <a:solidFill>
                            <a:srgbClr val="444444"/>
                          </a:solidFill>
                        </a:defRPr>
                      </a:pPr>
                      <a:r>
                        <a:t>Non-ST buyers (latent demand)</a:t>
                      </a:r>
                    </a:p>
                  </a:txBody>
                  <a:tcPr/>
                </a:tc>
                <a:tc>
                  <a:txBody>
                    <a:bodyPr/>
                    <a:lstStyle/>
                    <a:p>
                      <a:pPr algn="ctr">
                        <a:defRPr sz="1200">
                          <a:solidFill>
                            <a:srgbClr val="444444"/>
                          </a:solidFill>
                        </a:defRPr>
                      </a:pPr>
                      <a:r>
                        <a:t>693</a:t>
                      </a:r>
                    </a:p>
                  </a:txBody>
                  <a:tcPr/>
                </a:tc>
                <a:tc>
                  <a:txBody>
                    <a:bodyPr/>
                    <a:lstStyle/>
                    <a:p>
                      <a:pPr algn="ctr">
                        <a:defRPr sz="1200">
                          <a:solidFill>
                            <a:srgbClr val="444444"/>
                          </a:solidFill>
                        </a:defRPr>
                      </a:pPr>
                      <a:r>
                        <a:t>10%</a:t>
                      </a:r>
                    </a:p>
                  </a:txBody>
                  <a:tcPr/>
                </a:tc>
                <a:tc>
                  <a:txBody>
                    <a:bodyPr/>
                    <a:lstStyle/>
                    <a:p>
                      <a:pPr algn="ctr">
                        <a:defRPr sz="1200">
                          <a:solidFill>
                            <a:srgbClr val="444444"/>
                          </a:solidFill>
                        </a:defRPr>
                      </a:pPr>
                      <a:r>
                        <a:t>69</a:t>
                      </a:r>
                    </a:p>
                  </a:txBody>
                  <a:tcPr/>
                </a:tc>
              </a:tr>
              <a:tr h="365760">
                <a:tc>
                  <a:txBody>
                    <a:bodyPr/>
                    <a:lstStyle/>
                    <a:p>
                      <a:pPr algn="ctr">
                        <a:defRPr sz="1200" b="1">
                          <a:solidFill>
                            <a:srgbClr val="1A2A4A"/>
                          </a:solidFill>
                        </a:defRPr>
                      </a:pPr>
                      <a:r>
                        <a:t>TOTAL</a:t>
                      </a:r>
                    </a:p>
                  </a:txBody>
                  <a:tcPr>
                    <a:solidFill>
                      <a:srgbClr val="D4AF37"/>
                    </a:solidFill>
                  </a:tcPr>
                </a:tc>
                <a:tc>
                  <a:txBody>
                    <a:bodyPr/>
                    <a:lstStyle/>
                    <a:p>
                      <a:pPr algn="ctr">
                        <a:defRPr sz="1200" b="1">
                          <a:solidFill>
                            <a:srgbClr val="1A2A4A"/>
                          </a:solidFill>
                        </a:defRPr>
                      </a:pPr>
                      <a:r>
                        <a:t>1,643</a:t>
                      </a:r>
                    </a:p>
                  </a:txBody>
                  <a:tcPr>
                    <a:solidFill>
                      <a:srgbClr val="D4AF37"/>
                    </a:solidFill>
                  </a:tcPr>
                </a:tc>
                <a:tc>
                  <a:txBody>
                    <a:bodyPr/>
                    <a:lstStyle/>
                    <a:p>
                      <a:pPr algn="ctr">
                        <a:defRPr sz="1200" b="1">
                          <a:solidFill>
                            <a:srgbClr val="1A2A4A"/>
                          </a:solidFill>
                        </a:defRPr>
                      </a:pPr>
                      <a:r>
                        <a:t>-</a:t>
                      </a:r>
                    </a:p>
                  </a:txBody>
                  <a:tcPr>
                    <a:solidFill>
                      <a:srgbClr val="D4AF37"/>
                    </a:solidFill>
                  </a:tcPr>
                </a:tc>
                <a:tc>
                  <a:txBody>
                    <a:bodyPr/>
                    <a:lstStyle/>
                    <a:p>
                      <a:pPr algn="ctr">
                        <a:defRPr sz="1200" b="1">
                          <a:solidFill>
                            <a:srgbClr val="1A2A4A"/>
                          </a:solidFill>
                        </a:defRPr>
                      </a:pPr>
                      <a:r>
                        <a:t>354</a:t>
                      </a:r>
                    </a:p>
                  </a:txBody>
                  <a:tcPr>
                    <a:solidFill>
                      <a:srgbClr val="D4AF37"/>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2800" b="1">
                <a:solidFill>
                  <a:srgbClr val="1A2A4A"/>
                </a:solidFill>
              </a:defRPr>
            </a:pPr>
            <a:r>
              <a:t>Projected Revenue</a:t>
            </a:r>
          </a:p>
        </p:txBody>
      </p:sp>
      <p:graphicFrame>
        <p:nvGraphicFramePr>
          <p:cNvPr id="3" name="Table 2"/>
          <p:cNvGraphicFramePr>
            <a:graphicFrameLocks noGrp="1"/>
          </p:cNvGraphicFramePr>
          <p:nvPr/>
        </p:nvGraphicFramePr>
        <p:xfrm>
          <a:off x="457200" y="914400"/>
          <a:ext cx="8229600" cy="1463040"/>
        </p:xfrm>
        <a:graphic>
          <a:graphicData uri="http://schemas.openxmlformats.org/drawingml/2006/table">
            <a:tbl>
              <a:tblPr firstRow="1" bandRow="1">
                <a:tableStyleId>{5C22544A-7EE6-4342-B048-85BDC9FD1C3A}</a:tableStyleId>
              </a:tblPr>
              <a:tblGrid>
                <a:gridCol w="2743200"/>
                <a:gridCol w="2743200"/>
                <a:gridCol w="2743200"/>
              </a:tblGrid>
              <a:tr h="365760">
                <a:tc>
                  <a:txBody>
                    <a:bodyPr/>
                    <a:lstStyle/>
                    <a:p>
                      <a:pPr algn="ctr">
                        <a:defRPr b="1" sz="1400">
                          <a:solidFill>
                            <a:srgbClr val="FFFFFF"/>
                          </a:solidFill>
                        </a:defRPr>
                      </a:pPr>
                      <a:r>
                        <a:t>Package</a:t>
                      </a:r>
                    </a:p>
                  </a:txBody>
                  <a:tcPr>
                    <a:solidFill>
                      <a:srgbClr val="1A2A4A"/>
                    </a:solidFill>
                  </a:tcPr>
                </a:tc>
                <a:tc>
                  <a:txBody>
                    <a:bodyPr/>
                    <a:lstStyle/>
                    <a:p>
                      <a:pPr algn="ctr">
                        <a:defRPr b="1" sz="1400">
                          <a:solidFill>
                            <a:srgbClr val="FFFFFF"/>
                          </a:solidFill>
                        </a:defRPr>
                      </a:pPr>
                      <a:r>
                        <a:t>Subscribers</a:t>
                      </a:r>
                    </a:p>
                  </a:txBody>
                  <a:tcPr>
                    <a:solidFill>
                      <a:srgbClr val="1A2A4A"/>
                    </a:solidFill>
                  </a:tcPr>
                </a:tc>
                <a:tc>
                  <a:txBody>
                    <a:bodyPr/>
                    <a:lstStyle/>
                    <a:p>
                      <a:pPr algn="ctr">
                        <a:defRPr b="1" sz="1400">
                          <a:solidFill>
                            <a:srgbClr val="FFFFFF"/>
                          </a:solidFill>
                        </a:defRPr>
                      </a:pPr>
                      <a:r>
                        <a:t>Revenue</a:t>
                      </a:r>
                    </a:p>
                  </a:txBody>
                  <a:tcPr>
                    <a:solidFill>
                      <a:srgbClr val="1A2A4A"/>
                    </a:solidFill>
                  </a:tcPr>
                </a:tc>
              </a:tr>
              <a:tr h="365760">
                <a:tc>
                  <a:txBody>
                    <a:bodyPr/>
                    <a:lstStyle/>
                    <a:p>
                      <a:pPr algn="ctr">
                        <a:defRPr sz="1200">
                          <a:solidFill>
                            <a:srgbClr val="444444"/>
                          </a:solidFill>
                        </a:defRPr>
                      </a:pPr>
                      <a:r>
                        <a:t>Fixed Plus Bronze (+1 Special)</a:t>
                      </a:r>
                    </a:p>
                  </a:txBody>
                  <a:tcPr>
                    <a:solidFill>
                      <a:srgbClr val="F5F5F5"/>
                    </a:solidFill>
                  </a:tcPr>
                </a:tc>
                <a:tc>
                  <a:txBody>
                    <a:bodyPr/>
                    <a:lstStyle/>
                    <a:p>
                      <a:pPr algn="ctr">
                        <a:defRPr sz="1200">
                          <a:solidFill>
                            <a:srgbClr val="444444"/>
                          </a:solidFill>
                        </a:defRPr>
                      </a:pPr>
                      <a:r>
                        <a:t>141</a:t>
                      </a:r>
                    </a:p>
                  </a:txBody>
                  <a:tcPr>
                    <a:solidFill>
                      <a:srgbClr val="F5F5F5"/>
                    </a:solidFill>
                  </a:tcPr>
                </a:tc>
                <a:tc>
                  <a:txBody>
                    <a:bodyPr/>
                    <a:lstStyle/>
                    <a:p>
                      <a:pPr algn="ctr">
                        <a:defRPr sz="1200">
                          <a:solidFill>
                            <a:srgbClr val="444444"/>
                          </a:solidFill>
                        </a:defRPr>
                      </a:pPr>
                      <a:r>
                        <a:t>$12,397</a:t>
                      </a:r>
                    </a:p>
                  </a:txBody>
                  <a:tcPr>
                    <a:solidFill>
                      <a:srgbClr val="F5F5F5"/>
                    </a:solidFill>
                  </a:tcPr>
                </a:tc>
              </a:tr>
              <a:tr h="365760">
                <a:tc>
                  <a:txBody>
                    <a:bodyPr/>
                    <a:lstStyle/>
                    <a:p>
                      <a:pPr algn="ctr">
                        <a:defRPr sz="1200">
                          <a:solidFill>
                            <a:srgbClr val="444444"/>
                          </a:solidFill>
                        </a:defRPr>
                      </a:pPr>
                      <a:r>
                        <a:t>Fixed Plus Gold (+2 Holiday/Special)</a:t>
                      </a:r>
                    </a:p>
                  </a:txBody>
                  <a:tcPr/>
                </a:tc>
                <a:tc>
                  <a:txBody>
                    <a:bodyPr/>
                    <a:lstStyle/>
                    <a:p>
                      <a:pPr algn="ctr">
                        <a:defRPr sz="1200">
                          <a:solidFill>
                            <a:srgbClr val="444444"/>
                          </a:solidFill>
                        </a:defRPr>
                      </a:pPr>
                      <a:r>
                        <a:t>212</a:t>
                      </a:r>
                    </a:p>
                  </a:txBody>
                  <a:tcPr/>
                </a:tc>
                <a:tc>
                  <a:txBody>
                    <a:bodyPr/>
                    <a:lstStyle/>
                    <a:p>
                      <a:pPr algn="ctr">
                        <a:defRPr sz="1200">
                          <a:solidFill>
                            <a:srgbClr val="444444"/>
                          </a:solidFill>
                        </a:defRPr>
                      </a:pPr>
                      <a:r>
                        <a:t>$31,913</a:t>
                      </a:r>
                    </a:p>
                  </a:txBody>
                  <a:tcPr/>
                </a:tc>
              </a:tr>
              <a:tr h="365760">
                <a:tc>
                  <a:txBody>
                    <a:bodyPr/>
                    <a:lstStyle/>
                    <a:p>
                      <a:pPr algn="ctr">
                        <a:defRPr sz="1200" b="1">
                          <a:solidFill>
                            <a:srgbClr val="1A2A4A"/>
                          </a:solidFill>
                        </a:defRPr>
                      </a:pPr>
                      <a:r>
                        <a:t>TOTAL</a:t>
                      </a:r>
                    </a:p>
                  </a:txBody>
                  <a:tcPr>
                    <a:solidFill>
                      <a:srgbClr val="D4AF37"/>
                    </a:solidFill>
                  </a:tcPr>
                </a:tc>
                <a:tc>
                  <a:txBody>
                    <a:bodyPr/>
                    <a:lstStyle/>
                    <a:p>
                      <a:pPr algn="ctr">
                        <a:defRPr sz="1200" b="1">
                          <a:solidFill>
                            <a:srgbClr val="1A2A4A"/>
                          </a:solidFill>
                        </a:defRPr>
                      </a:pPr>
                      <a:r>
                        <a:t>354</a:t>
                      </a:r>
                    </a:p>
                  </a:txBody>
                  <a:tcPr>
                    <a:solidFill>
                      <a:srgbClr val="D4AF37"/>
                    </a:solidFill>
                  </a:tcPr>
                </a:tc>
                <a:tc>
                  <a:txBody>
                    <a:bodyPr/>
                    <a:lstStyle/>
                    <a:p>
                      <a:pPr algn="ctr">
                        <a:defRPr sz="1200" b="1">
                          <a:solidFill>
                            <a:srgbClr val="1A2A4A"/>
                          </a:solidFill>
                        </a:defRPr>
                      </a:pPr>
                      <a:r>
                        <a:t>$44,310</a:t>
                      </a:r>
                    </a:p>
                  </a:txBody>
                  <a:tcPr>
                    <a:solidFill>
                      <a:srgbClr val="D4AF37"/>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8229600" cy="731520"/>
          </a:xfrm>
          <a:prstGeom prst="rect">
            <a:avLst/>
          </a:prstGeom>
          <a:noFill/>
        </p:spPr>
        <p:txBody>
          <a:bodyPr wrap="none">
            <a:spAutoFit/>
          </a:bodyPr>
          <a:lstStyle/>
          <a:p>
            <a:pPr>
              <a:defRPr sz="3200" b="1">
                <a:solidFill>
                  <a:srgbClr val="1A2A4A"/>
                </a:solidFill>
              </a:defRPr>
            </a:pPr>
            <a:r>
              <a:t>Financial Summary</a:t>
            </a:r>
          </a:p>
        </p:txBody>
      </p:sp>
      <p:sp>
        <p:nvSpPr>
          <p:cNvPr id="3" name="Rounded Rectangle 2"/>
          <p:cNvSpPr/>
          <p:nvPr/>
        </p:nvSpPr>
        <p:spPr>
          <a:xfrm>
            <a:off x="457200" y="1828800"/>
            <a:ext cx="2560320" cy="1645920"/>
          </a:xfrm>
          <a:prstGeom prst="roundRect">
            <a:avLst/>
          </a:prstGeom>
          <a:solidFill>
            <a:srgbClr val="1A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0"/>
            <a:ext cx="2560320" cy="914400"/>
          </a:xfrm>
          <a:prstGeom prst="rect">
            <a:avLst/>
          </a:prstGeom>
          <a:noFill/>
        </p:spPr>
        <p:txBody>
          <a:bodyPr wrap="none">
            <a:spAutoFit/>
          </a:bodyPr>
          <a:lstStyle/>
          <a:p>
            <a:pPr algn="ctr">
              <a:defRPr sz="2800" b="1">
                <a:solidFill>
                  <a:srgbClr val="D4AF37"/>
                </a:solidFill>
              </a:defRPr>
            </a:pPr>
            <a:r>
              <a:t>$44,310</a:t>
            </a:r>
          </a:p>
        </p:txBody>
      </p:sp>
      <p:sp>
        <p:nvSpPr>
          <p:cNvPr id="5" name="TextBox 4"/>
          <p:cNvSpPr txBox="1"/>
          <p:nvPr/>
        </p:nvSpPr>
        <p:spPr>
          <a:xfrm>
            <a:off x="457200" y="2834640"/>
            <a:ext cx="2560320" cy="548640"/>
          </a:xfrm>
          <a:prstGeom prst="rect">
            <a:avLst/>
          </a:prstGeom>
          <a:noFill/>
        </p:spPr>
        <p:txBody>
          <a:bodyPr wrap="square">
            <a:spAutoFit/>
          </a:bodyPr>
          <a:lstStyle/>
          <a:p>
            <a:pPr algn="ctr">
              <a:defRPr sz="1400">
                <a:solidFill>
                  <a:srgbClr val="FFFFFF"/>
                </a:solidFill>
              </a:defRPr>
            </a:pPr>
            <a:r>
              <a:t>Total Fixed Plus</a:t>
            </a:r>
            <a:br/>
            <a:r>
              <a:t>Revenue</a:t>
            </a:r>
          </a:p>
        </p:txBody>
      </p:sp>
      <p:sp>
        <p:nvSpPr>
          <p:cNvPr id="6" name="Rounded Rectangle 5"/>
          <p:cNvSpPr/>
          <p:nvPr/>
        </p:nvSpPr>
        <p:spPr>
          <a:xfrm>
            <a:off x="3291840" y="1828800"/>
            <a:ext cx="2560320" cy="1645920"/>
          </a:xfrm>
          <a:prstGeom prst="roundRect">
            <a:avLst/>
          </a:prstGeom>
          <a:solidFill>
            <a:srgbClr val="1A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91840" y="2011680"/>
            <a:ext cx="2560320" cy="914400"/>
          </a:xfrm>
          <a:prstGeom prst="rect">
            <a:avLst/>
          </a:prstGeom>
          <a:noFill/>
        </p:spPr>
        <p:txBody>
          <a:bodyPr wrap="none">
            <a:spAutoFit/>
          </a:bodyPr>
          <a:lstStyle/>
          <a:p>
            <a:pPr algn="ctr">
              <a:defRPr sz="2800" b="1">
                <a:solidFill>
                  <a:srgbClr val="D4AF37"/>
                </a:solidFill>
              </a:defRPr>
            </a:pPr>
            <a:r>
              <a:t>$4,028</a:t>
            </a:r>
          </a:p>
        </p:txBody>
      </p:sp>
      <p:sp>
        <p:nvSpPr>
          <p:cNvPr id="8" name="TextBox 7"/>
          <p:cNvSpPr txBox="1"/>
          <p:nvPr/>
        </p:nvSpPr>
        <p:spPr>
          <a:xfrm>
            <a:off x="3291840" y="2834640"/>
            <a:ext cx="2560320" cy="548640"/>
          </a:xfrm>
          <a:prstGeom prst="rect">
            <a:avLst/>
          </a:prstGeom>
          <a:noFill/>
        </p:spPr>
        <p:txBody>
          <a:bodyPr wrap="square">
            <a:spAutoFit/>
          </a:bodyPr>
          <a:lstStyle/>
          <a:p>
            <a:pPr algn="ctr">
              <a:defRPr sz="1400">
                <a:solidFill>
                  <a:srgbClr val="FFFFFF"/>
                </a:solidFill>
              </a:defRPr>
            </a:pPr>
            <a:r>
              <a:t>Premium Captured</a:t>
            </a:r>
            <a:br/>
            <a:r>
              <a:t>(10%)</a:t>
            </a:r>
          </a:p>
        </p:txBody>
      </p:sp>
      <p:sp>
        <p:nvSpPr>
          <p:cNvPr id="9" name="Rounded Rectangle 8"/>
          <p:cNvSpPr/>
          <p:nvPr/>
        </p:nvSpPr>
        <p:spPr>
          <a:xfrm>
            <a:off x="6126480" y="1828800"/>
            <a:ext cx="2560320" cy="1645920"/>
          </a:xfrm>
          <a:prstGeom prst="roundRect">
            <a:avLst/>
          </a:prstGeom>
          <a:solidFill>
            <a:srgbClr val="1A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0" y="2011680"/>
            <a:ext cx="2560320" cy="914400"/>
          </a:xfrm>
          <a:prstGeom prst="rect">
            <a:avLst/>
          </a:prstGeom>
          <a:noFill/>
        </p:spPr>
        <p:txBody>
          <a:bodyPr wrap="none">
            <a:spAutoFit/>
          </a:bodyPr>
          <a:lstStyle/>
          <a:p>
            <a:pPr algn="ctr">
              <a:defRPr sz="2800" b="1">
                <a:solidFill>
                  <a:srgbClr val="D4AF37"/>
                </a:solidFill>
              </a:defRPr>
            </a:pPr>
            <a:r>
              <a:t>$125</a:t>
            </a:r>
          </a:p>
        </p:txBody>
      </p:sp>
      <p:sp>
        <p:nvSpPr>
          <p:cNvPr id="11" name="TextBox 10"/>
          <p:cNvSpPr txBox="1"/>
          <p:nvPr/>
        </p:nvSpPr>
        <p:spPr>
          <a:xfrm>
            <a:off x="6126480" y="2834640"/>
            <a:ext cx="2560320" cy="548640"/>
          </a:xfrm>
          <a:prstGeom prst="rect">
            <a:avLst/>
          </a:prstGeom>
          <a:noFill/>
        </p:spPr>
        <p:txBody>
          <a:bodyPr wrap="square">
            <a:spAutoFit/>
          </a:bodyPr>
          <a:lstStyle/>
          <a:p>
            <a:pPr algn="ctr">
              <a:defRPr sz="1400">
                <a:solidFill>
                  <a:srgbClr val="FFFFFF"/>
                </a:solidFill>
              </a:defRPr>
            </a:pPr>
            <a:r>
              <a:t>Avg Revenue per</a:t>
            </a:r>
            <a:br/>
            <a:r>
              <a:t>Fixed Plus Sub</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8229600" cy="731520"/>
          </a:xfrm>
          <a:prstGeom prst="rect">
            <a:avLst/>
          </a:prstGeom>
          <a:noFill/>
        </p:spPr>
        <p:txBody>
          <a:bodyPr wrap="none">
            <a:spAutoFit/>
          </a:bodyPr>
          <a:lstStyle/>
          <a:p>
            <a:pPr>
              <a:defRPr sz="3200" b="1">
                <a:solidFill>
                  <a:srgbClr val="1A2A4A"/>
                </a:solidFill>
              </a:defRPr>
            </a:pPr>
            <a:r>
              <a:t>Why This Works (Psychology)</a:t>
            </a:r>
          </a:p>
        </p:txBody>
      </p:sp>
      <p:sp>
        <p:nvSpPr>
          <p:cNvPr id="3" name="Rectangle 2"/>
          <p:cNvSpPr/>
          <p:nvPr/>
        </p:nvSpPr>
        <p:spPr>
          <a:xfrm>
            <a:off x="457200" y="1005840"/>
            <a:ext cx="8229600" cy="27432"/>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80160"/>
            <a:ext cx="8229600" cy="4114800"/>
          </a:xfrm>
          <a:prstGeom prst="rect">
            <a:avLst/>
          </a:prstGeom>
          <a:noFill/>
        </p:spPr>
        <p:txBody>
          <a:bodyPr wrap="square">
            <a:spAutoFit/>
          </a:bodyPr>
          <a:lstStyle/>
          <a:p>
            <a:pPr>
              <a:spcAft>
                <a:spcPts val="1200"/>
              </a:spcAft>
              <a:defRPr sz="2000">
                <a:solidFill>
                  <a:srgbClr val="444444"/>
                </a:solidFill>
              </a:defRPr>
            </a:pPr>
            <a:r>
              <a:t>• BUNDLING: Bundles feel like better value than buying separately</a:t>
            </a:r>
          </a:p>
          <a:p>
            <a:pPr>
              <a:spcAft>
                <a:spcPts val="1200"/>
              </a:spcAft>
              <a:defRPr sz="2000">
                <a:solidFill>
                  <a:srgbClr val="444444"/>
                </a:solidFill>
              </a:defRPr>
            </a:pPr>
            <a:r>
              <a:t>• LOSS AVERSION: 'Sellout Protection' = avoiding loss (powerful motivator)</a:t>
            </a:r>
          </a:p>
          <a:p>
            <a:pPr>
              <a:spcAft>
                <a:spcPts val="1200"/>
              </a:spcAft>
              <a:defRPr sz="2000">
                <a:solidFill>
                  <a:srgbClr val="444444"/>
                </a:solidFill>
              </a:defRPr>
            </a:pPr>
            <a:r>
              <a:t>• STATUS: 'Fixed Plus Member' appeals to identity and belonging</a:t>
            </a:r>
          </a:p>
          <a:p>
            <a:pPr>
              <a:spcAft>
                <a:spcPts val="1200"/>
              </a:spcAft>
              <a:defRPr sz="2000">
                <a:solidFill>
                  <a:srgbClr val="444444"/>
                </a:solidFill>
              </a:defRPr>
            </a:pPr>
            <a:r>
              <a:t>• COMMITMENT: Once a 'Plus' member, more likely to renew &amp; upgrade</a:t>
            </a:r>
          </a:p>
          <a:p>
            <a:pPr>
              <a:spcAft>
                <a:spcPts val="1200"/>
              </a:spcAft>
              <a:defRPr sz="2000">
                <a:solidFill>
                  <a:srgbClr val="444444"/>
                </a:solidFill>
              </a:defRPr>
            </a:pPr>
            <a:r>
              <a:t>• CONVENIENCE: Single checkout removes friction that blocks purchases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8229600" cy="731520"/>
          </a:xfrm>
          <a:prstGeom prst="rect">
            <a:avLst/>
          </a:prstGeom>
          <a:noFill/>
        </p:spPr>
        <p:txBody>
          <a:bodyPr wrap="none">
            <a:spAutoFit/>
          </a:bodyPr>
          <a:lstStyle/>
          <a:p>
            <a:pPr>
              <a:defRPr sz="3200" b="1">
                <a:solidFill>
                  <a:srgbClr val="1A2A4A"/>
                </a:solidFill>
              </a:defRPr>
            </a:pPr>
            <a:r>
              <a:t>Risk Mitigation</a:t>
            </a:r>
          </a:p>
        </p:txBody>
      </p:sp>
      <p:sp>
        <p:nvSpPr>
          <p:cNvPr id="3" name="Rectangle 2"/>
          <p:cNvSpPr/>
          <p:nvPr/>
        </p:nvSpPr>
        <p:spPr>
          <a:xfrm>
            <a:off x="457200" y="1005840"/>
            <a:ext cx="8229600" cy="27432"/>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80160"/>
            <a:ext cx="8229600" cy="4114800"/>
          </a:xfrm>
          <a:prstGeom prst="rect">
            <a:avLst/>
          </a:prstGeom>
          <a:noFill/>
        </p:spPr>
        <p:txBody>
          <a:bodyPr wrap="square">
            <a:spAutoFit/>
          </a:bodyPr>
          <a:lstStyle/>
          <a:p>
            <a:pPr>
              <a:spcAft>
                <a:spcPts val="1200"/>
              </a:spcAft>
              <a:defRPr sz="2000">
                <a:solidFill>
                  <a:srgbClr val="444444"/>
                </a:solidFill>
              </a:defRPr>
            </a:pPr>
            <a:r>
              <a:t>• CANNIBALIZATION: 10% premium means no revenue loss on conversions</a:t>
            </a:r>
          </a:p>
          <a:p>
            <a:pPr>
              <a:spcAft>
                <a:spcPts val="1200"/>
              </a:spcAft>
              <a:defRPr sz="2000">
                <a:solidFill>
                  <a:srgbClr val="444444"/>
                </a:solidFill>
              </a:defRPr>
            </a:pPr>
            <a:r>
              <a:t>• If they would have bought anyway → we capture extra margin</a:t>
            </a:r>
          </a:p>
          <a:p>
            <a:pPr>
              <a:spcAft>
                <a:spcPts val="1200"/>
              </a:spcAft>
              <a:defRPr sz="2000">
                <a:solidFill>
                  <a:srgbClr val="444444"/>
                </a:solidFill>
              </a:defRPr>
            </a:pPr>
            <a:r>
              <a:t>• If they wouldn't have bought → we unlock new revenue</a:t>
            </a:r>
          </a:p>
          <a:p>
            <a:pPr>
              <a:spcAft>
                <a:spcPts val="1200"/>
              </a:spcAft>
              <a:defRPr sz="2000">
                <a:solidFill>
                  <a:srgbClr val="444444"/>
                </a:solidFill>
              </a:defRPr>
            </a:pPr>
            <a:r>
              <a:t>• OPERATIONAL: Start with modest seat holds (5% of Holiday/Special)</a:t>
            </a:r>
          </a:p>
          <a:p>
            <a:pPr>
              <a:spcAft>
                <a:spcPts val="1200"/>
              </a:spcAft>
              <a:defRPr sz="2000">
                <a:solidFill>
                  <a:srgbClr val="444444"/>
                </a:solidFill>
              </a:defRPr>
            </a:pPr>
            <a:r>
              <a:t>• BENEFITS: Phase in over time - start with access, add experience later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2800" b="1">
                <a:solidFill>
                  <a:srgbClr val="1A2A4A"/>
                </a:solidFill>
              </a:defRPr>
            </a:pPr>
            <a:r>
              <a:t>Success Metrics</a:t>
            </a:r>
          </a:p>
        </p:txBody>
      </p:sp>
      <p:graphicFrame>
        <p:nvGraphicFramePr>
          <p:cNvPr id="3" name="Table 2"/>
          <p:cNvGraphicFramePr>
            <a:graphicFrameLocks noGrp="1"/>
          </p:cNvGraphicFramePr>
          <p:nvPr/>
        </p:nvGraphicFramePr>
        <p:xfrm>
          <a:off x="457200" y="914400"/>
          <a:ext cx="8229600" cy="1828800"/>
        </p:xfrm>
        <a:graphic>
          <a:graphicData uri="http://schemas.openxmlformats.org/drawingml/2006/table">
            <a:tbl>
              <a:tblPr firstRow="1" bandRow="1">
                <a:tableStyleId>{5C22544A-7EE6-4342-B048-85BDC9FD1C3A}</a:tableStyleId>
              </a:tblPr>
              <a:tblGrid>
                <a:gridCol w="2743200"/>
                <a:gridCol w="2743200"/>
                <a:gridCol w="2743200"/>
              </a:tblGrid>
              <a:tr h="365760">
                <a:tc>
                  <a:txBody>
                    <a:bodyPr/>
                    <a:lstStyle/>
                    <a:p>
                      <a:pPr algn="ctr">
                        <a:defRPr b="1" sz="1400">
                          <a:solidFill>
                            <a:srgbClr val="FFFFFF"/>
                          </a:solidFill>
                        </a:defRPr>
                      </a:pPr>
                      <a:r>
                        <a:t>Metric</a:t>
                      </a:r>
                    </a:p>
                  </a:txBody>
                  <a:tcPr>
                    <a:solidFill>
                      <a:srgbClr val="1A2A4A"/>
                    </a:solidFill>
                  </a:tcPr>
                </a:tc>
                <a:tc>
                  <a:txBody>
                    <a:bodyPr/>
                    <a:lstStyle/>
                    <a:p>
                      <a:pPr algn="ctr">
                        <a:defRPr b="1" sz="1400">
                          <a:solidFill>
                            <a:srgbClr val="FFFFFF"/>
                          </a:solidFill>
                        </a:defRPr>
                      </a:pPr>
                      <a:r>
                        <a:t>Target</a:t>
                      </a:r>
                    </a:p>
                  </a:txBody>
                  <a:tcPr>
                    <a:solidFill>
                      <a:srgbClr val="1A2A4A"/>
                    </a:solidFill>
                  </a:tcPr>
                </a:tc>
                <a:tc>
                  <a:txBody>
                    <a:bodyPr/>
                    <a:lstStyle/>
                    <a:p>
                      <a:pPr algn="ctr">
                        <a:defRPr b="1" sz="1400">
                          <a:solidFill>
                            <a:srgbClr val="FFFFFF"/>
                          </a:solidFill>
                        </a:defRPr>
                      </a:pPr>
                      <a:r>
                        <a:t>Red Flag</a:t>
                      </a:r>
                    </a:p>
                  </a:txBody>
                  <a:tcPr>
                    <a:solidFill>
                      <a:srgbClr val="1A2A4A"/>
                    </a:solidFill>
                  </a:tcPr>
                </a:tc>
              </a:tr>
              <a:tr h="365760">
                <a:tc>
                  <a:txBody>
                    <a:bodyPr/>
                    <a:lstStyle/>
                    <a:p>
                      <a:pPr algn="ctr">
                        <a:defRPr sz="1200">
                          <a:solidFill>
                            <a:srgbClr val="444444"/>
                          </a:solidFill>
                        </a:defRPr>
                      </a:pPr>
                      <a:r>
                        <a:t>Fixed Plus uptake rate</a:t>
                      </a:r>
                    </a:p>
                  </a:txBody>
                  <a:tcPr>
                    <a:solidFill>
                      <a:srgbClr val="F5F5F5"/>
                    </a:solidFill>
                  </a:tcPr>
                </a:tc>
                <a:tc>
                  <a:txBody>
                    <a:bodyPr/>
                    <a:lstStyle/>
                    <a:p>
                      <a:pPr algn="ctr">
                        <a:defRPr sz="1200">
                          <a:solidFill>
                            <a:srgbClr val="444444"/>
                          </a:solidFill>
                        </a:defRPr>
                      </a:pPr>
                      <a:r>
                        <a:t>&gt;15% of Fixed 6</a:t>
                      </a:r>
                    </a:p>
                  </a:txBody>
                  <a:tcPr>
                    <a:solidFill>
                      <a:srgbClr val="F5F5F5"/>
                    </a:solidFill>
                  </a:tcPr>
                </a:tc>
                <a:tc>
                  <a:txBody>
                    <a:bodyPr/>
                    <a:lstStyle/>
                    <a:p>
                      <a:pPr algn="ctr">
                        <a:defRPr sz="1200">
                          <a:solidFill>
                            <a:srgbClr val="444444"/>
                          </a:solidFill>
                        </a:defRPr>
                      </a:pPr>
                      <a:r>
                        <a:t>&lt;8%</a:t>
                      </a:r>
                    </a:p>
                  </a:txBody>
                  <a:tcPr>
                    <a:solidFill>
                      <a:srgbClr val="F5F5F5"/>
                    </a:solidFill>
                  </a:tcPr>
                </a:tc>
              </a:tr>
              <a:tr h="365760">
                <a:tc>
                  <a:txBody>
                    <a:bodyPr/>
                    <a:lstStyle/>
                    <a:p>
                      <a:pPr algn="ctr">
                        <a:defRPr sz="1200">
                          <a:solidFill>
                            <a:srgbClr val="444444"/>
                          </a:solidFill>
                        </a:defRPr>
                      </a:pPr>
                      <a:r>
                        <a:t>Renewal rate (Fixed Plus)</a:t>
                      </a:r>
                    </a:p>
                  </a:txBody>
                  <a:tcPr/>
                </a:tc>
                <a:tc>
                  <a:txBody>
                    <a:bodyPr/>
                    <a:lstStyle/>
                    <a:p>
                      <a:pPr algn="ctr">
                        <a:defRPr sz="1200">
                          <a:solidFill>
                            <a:srgbClr val="444444"/>
                          </a:solidFill>
                        </a:defRPr>
                      </a:pPr>
                      <a:r>
                        <a:t>&gt;90%</a:t>
                      </a:r>
                    </a:p>
                  </a:txBody>
                  <a:tcPr/>
                </a:tc>
                <a:tc>
                  <a:txBody>
                    <a:bodyPr/>
                    <a:lstStyle/>
                    <a:p>
                      <a:pPr algn="ctr">
                        <a:defRPr sz="1200">
                          <a:solidFill>
                            <a:srgbClr val="444444"/>
                          </a:solidFill>
                        </a:defRPr>
                      </a:pPr>
                      <a:r>
                        <a:t>&lt;80%</a:t>
                      </a:r>
                    </a:p>
                  </a:txBody>
                  <a:tcPr/>
                </a:tc>
              </a:tr>
              <a:tr h="365760">
                <a:tc>
                  <a:txBody>
                    <a:bodyPr/>
                    <a:lstStyle/>
                    <a:p>
                      <a:pPr algn="ctr">
                        <a:defRPr sz="1200">
                          <a:solidFill>
                            <a:srgbClr val="444444"/>
                          </a:solidFill>
                        </a:defRPr>
                      </a:pPr>
                      <a:r>
                        <a:t>Upgrade Bronze → Gold</a:t>
                      </a:r>
                    </a:p>
                  </a:txBody>
                  <a:tcPr>
                    <a:solidFill>
                      <a:srgbClr val="F5F5F5"/>
                    </a:solidFill>
                  </a:tcPr>
                </a:tc>
                <a:tc>
                  <a:txBody>
                    <a:bodyPr/>
                    <a:lstStyle/>
                    <a:p>
                      <a:pPr algn="ctr">
                        <a:defRPr sz="1200">
                          <a:solidFill>
                            <a:srgbClr val="444444"/>
                          </a:solidFill>
                        </a:defRPr>
                      </a:pPr>
                      <a:r>
                        <a:t>&gt;30%</a:t>
                      </a:r>
                    </a:p>
                  </a:txBody>
                  <a:tcPr>
                    <a:solidFill>
                      <a:srgbClr val="F5F5F5"/>
                    </a:solidFill>
                  </a:tcPr>
                </a:tc>
                <a:tc>
                  <a:txBody>
                    <a:bodyPr/>
                    <a:lstStyle/>
                    <a:p>
                      <a:pPr algn="ctr">
                        <a:defRPr sz="1200">
                          <a:solidFill>
                            <a:srgbClr val="444444"/>
                          </a:solidFill>
                        </a:defRPr>
                      </a:pPr>
                      <a:r>
                        <a:t>&lt;15%</a:t>
                      </a:r>
                    </a:p>
                  </a:txBody>
                  <a:tcPr>
                    <a:solidFill>
                      <a:srgbClr val="F5F5F5"/>
                    </a:solidFill>
                  </a:tcPr>
                </a:tc>
              </a:tr>
              <a:tr h="365760">
                <a:tc>
                  <a:txBody>
                    <a:bodyPr/>
                    <a:lstStyle/>
                    <a:p>
                      <a:pPr algn="ctr">
                        <a:defRPr sz="1200">
                          <a:solidFill>
                            <a:srgbClr val="444444"/>
                          </a:solidFill>
                        </a:defRPr>
                      </a:pPr>
                      <a:r>
                        <a:t>Net Promoter Score</a:t>
                      </a:r>
                    </a:p>
                  </a:txBody>
                  <a:tcPr/>
                </a:tc>
                <a:tc>
                  <a:txBody>
                    <a:bodyPr/>
                    <a:lstStyle/>
                    <a:p>
                      <a:pPr algn="ctr">
                        <a:defRPr sz="1200">
                          <a:solidFill>
                            <a:srgbClr val="444444"/>
                          </a:solidFill>
                        </a:defRPr>
                      </a:pPr>
                      <a:r>
                        <a:t>&gt;60</a:t>
                      </a:r>
                    </a:p>
                  </a:txBody>
                  <a:tcPr/>
                </a:tc>
                <a:tc>
                  <a:txBody>
                    <a:bodyPr/>
                    <a:lstStyle/>
                    <a:p>
                      <a:pPr algn="ctr">
                        <a:defRPr sz="1200">
                          <a:solidFill>
                            <a:srgbClr val="444444"/>
                          </a:solidFill>
                        </a:defRPr>
                      </a:pPr>
                      <a:r>
                        <a:t>&lt;40</a:t>
                      </a:r>
                    </a:p>
                  </a:txBody>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8229600" cy="731520"/>
          </a:xfrm>
          <a:prstGeom prst="rect">
            <a:avLst/>
          </a:prstGeom>
          <a:noFill/>
        </p:spPr>
        <p:txBody>
          <a:bodyPr wrap="none">
            <a:spAutoFit/>
          </a:bodyPr>
          <a:lstStyle/>
          <a:p>
            <a:pPr>
              <a:defRPr sz="3200" b="1">
                <a:solidFill>
                  <a:srgbClr val="1A2A4A"/>
                </a:solidFill>
              </a:defRPr>
            </a:pPr>
            <a:r>
              <a:t>Implementation Roadmap</a:t>
            </a:r>
          </a:p>
        </p:txBody>
      </p:sp>
      <p:sp>
        <p:nvSpPr>
          <p:cNvPr id="3" name="Rectangle 2"/>
          <p:cNvSpPr/>
          <p:nvPr/>
        </p:nvSpPr>
        <p:spPr>
          <a:xfrm>
            <a:off x="457200" y="1005840"/>
            <a:ext cx="8229600" cy="27432"/>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80160"/>
            <a:ext cx="8229600" cy="4114800"/>
          </a:xfrm>
          <a:prstGeom prst="rect">
            <a:avLst/>
          </a:prstGeom>
          <a:noFill/>
        </p:spPr>
        <p:txBody>
          <a:bodyPr wrap="square">
            <a:spAutoFit/>
          </a:bodyPr>
          <a:lstStyle/>
          <a:p>
            <a:pPr>
              <a:spcAft>
                <a:spcPts val="1200"/>
              </a:spcAft>
              <a:defRPr sz="2000">
                <a:solidFill>
                  <a:srgbClr val="444444"/>
                </a:solidFill>
              </a:defRPr>
            </a:pPr>
            <a:r>
              <a:t>• PHASE 1 - Pilot:</a:t>
            </a:r>
          </a:p>
          <a:p>
            <a:pPr>
              <a:spcAft>
                <a:spcPts val="1200"/>
              </a:spcAft>
              <a:defRPr sz="2000">
                <a:solidFill>
                  <a:srgbClr val="444444"/>
                </a:solidFill>
              </a:defRPr>
            </a:pPr>
            <a:r>
              <a:t>•     Target existing ST buyers (950 accounts) at renewal</a:t>
            </a:r>
          </a:p>
          <a:p>
            <a:pPr>
              <a:spcAft>
                <a:spcPts val="1200"/>
              </a:spcAft>
              <a:defRPr sz="2000">
                <a:solidFill>
                  <a:srgbClr val="444444"/>
                </a:solidFill>
              </a:defRPr>
            </a:pPr>
            <a:r>
              <a:t>•     Focus on access benefits, goal: 100 subscribers</a:t>
            </a:r>
          </a:p>
          <a:p>
            <a:pPr>
              <a:spcAft>
                <a:spcPts val="1200"/>
              </a:spcAft>
              <a:defRPr sz="2000">
                <a:solidFill>
                  <a:srgbClr val="444444"/>
                </a:solidFill>
              </a:defRPr>
            </a:pPr>
            <a:r>
              <a:t>• PHASE 2 - Expand:</a:t>
            </a:r>
          </a:p>
          <a:p>
            <a:pPr>
              <a:spcAft>
                <a:spcPts val="1200"/>
              </a:spcAft>
              <a:defRPr sz="2000">
                <a:solidFill>
                  <a:srgbClr val="444444"/>
                </a:solidFill>
              </a:defRPr>
            </a:pPr>
            <a:r>
              <a:t>•     Target all Fixed 6, add experience benefits</a:t>
            </a:r>
          </a:p>
          <a:p>
            <a:pPr>
              <a:spcAft>
                <a:spcPts val="1200"/>
              </a:spcAft>
              <a:defRPr sz="2000">
                <a:solidFill>
                  <a:srgbClr val="444444"/>
                </a:solidFill>
              </a:defRPr>
            </a:pPr>
            <a:r>
              <a:t>•     Goal: 250 subscribers</a:t>
            </a:r>
          </a:p>
          <a:p>
            <a:pPr>
              <a:spcAft>
                <a:spcPts val="1200"/>
              </a:spcAft>
              <a:defRPr sz="2000">
                <a:solidFill>
                  <a:srgbClr val="444444"/>
                </a:solidFill>
              </a:defRPr>
            </a:pPr>
            <a:r>
              <a:t>• PHASE 3 - Premium Tier:</a:t>
            </a:r>
          </a:p>
          <a:p>
            <a:pPr>
              <a:spcAft>
                <a:spcPts val="1200"/>
              </a:spcAft>
              <a:defRPr sz="2000">
                <a:solidFill>
                  <a:srgbClr val="444444"/>
                </a:solidFill>
              </a:defRPr>
            </a:pPr>
            <a:r>
              <a:t>•     Introduce 'Fixed Plus Platinum' with backstage access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8229600" cy="731520"/>
          </a:xfrm>
          <a:prstGeom prst="rect">
            <a:avLst/>
          </a:prstGeom>
          <a:noFill/>
        </p:spPr>
        <p:txBody>
          <a:bodyPr wrap="none">
            <a:spAutoFit/>
          </a:bodyPr>
          <a:lstStyle/>
          <a:p>
            <a:pPr>
              <a:defRPr sz="3200" b="1">
                <a:solidFill>
                  <a:srgbClr val="1A2A4A"/>
                </a:solidFill>
              </a:defRPr>
            </a:pPr>
            <a:r>
              <a:t>Conclusion</a:t>
            </a:r>
          </a:p>
        </p:txBody>
      </p:sp>
      <p:sp>
        <p:nvSpPr>
          <p:cNvPr id="3" name="Rectangle 2"/>
          <p:cNvSpPr/>
          <p:nvPr/>
        </p:nvSpPr>
        <p:spPr>
          <a:xfrm>
            <a:off x="457200" y="1005840"/>
            <a:ext cx="8229600" cy="27432"/>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80160"/>
            <a:ext cx="8229600" cy="4114800"/>
          </a:xfrm>
          <a:prstGeom prst="rect">
            <a:avLst/>
          </a:prstGeom>
          <a:noFill/>
        </p:spPr>
        <p:txBody>
          <a:bodyPr wrap="square">
            <a:spAutoFit/>
          </a:bodyPr>
          <a:lstStyle/>
          <a:p>
            <a:pPr>
              <a:spcAft>
                <a:spcPts val="1200"/>
              </a:spcAft>
              <a:defRPr sz="2000">
                <a:solidFill>
                  <a:srgbClr val="444444"/>
                </a:solidFill>
              </a:defRPr>
            </a:pPr>
            <a:r>
              <a:t>• Fixed 6 subscribers are loyal but UNDERSERVED</a:t>
            </a:r>
          </a:p>
          <a:p>
            <a:pPr>
              <a:spcAft>
                <a:spcPts val="1200"/>
              </a:spcAft>
              <a:defRPr sz="2000">
                <a:solidFill>
                  <a:srgbClr val="444444"/>
                </a:solidFill>
              </a:defRPr>
            </a:pPr>
            <a:r>
              <a:t>• 57.8% already buy extra tickets - demand is PROVEN</a:t>
            </a:r>
          </a:p>
          <a:p>
            <a:pPr>
              <a:spcAft>
                <a:spcPts val="1200"/>
              </a:spcAft>
              <a:defRPr sz="2000">
                <a:solidFill>
                  <a:srgbClr val="444444"/>
                </a:solidFill>
              </a:defRPr>
            </a:pPr>
            <a:r>
              <a:t>• Fixed Plus meets them with bundled convenience + VIP benefits</a:t>
            </a:r>
          </a:p>
          <a:p>
            <a:pPr>
              <a:spcAft>
                <a:spcPts val="1200"/>
              </a:spcAft>
              <a:defRPr sz="2000">
                <a:solidFill>
                  <a:srgbClr val="444444"/>
                </a:solidFill>
              </a:defRPr>
            </a:pPr>
            <a:r>
              <a:t>• 10% premium is justified by exclusive access &amp; experience</a:t>
            </a:r>
          </a:p>
          <a:p>
            <a:pPr>
              <a:spcAft>
                <a:spcPts val="1200"/>
              </a:spcAft>
              <a:defRPr sz="2000">
                <a:solidFill>
                  <a:srgbClr val="444444"/>
                </a:solidFill>
              </a:defRPr>
            </a:pPr>
            <a:r>
              <a:t>• Projected: 354 subscribers, $44,310 revenue, pathway to expand</a:t>
            </a:r>
          </a:p>
        </p:txBody>
      </p:sp>
      <p:sp>
        <p:nvSpPr>
          <p:cNvPr id="5" name="Rounded Rectangle 4"/>
          <p:cNvSpPr/>
          <p:nvPr/>
        </p:nvSpPr>
        <p:spPr>
          <a:xfrm>
            <a:off x="457200" y="4754880"/>
            <a:ext cx="8229600" cy="1097280"/>
          </a:xfrm>
          <a:prstGeom prst="round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1A2A4A"/>
                </a:solidFill>
              </a:defRPr>
            </a:pPr>
            <a:r>
              <a:t>Give your best subscribers what they want - and capture the premium</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A2A4A"/>
        </a:solidFill>
        <a:effectLst/>
      </p:bgPr>
    </p:bg>
    <p:spTree>
      <p:nvGrpSpPr>
        <p:cNvPr id="1" name=""/>
        <p:cNvGrpSpPr/>
        <p:nvPr/>
      </p:nvGrpSpPr>
      <p:grpSpPr/>
      <p:sp>
        <p:nvSpPr>
          <p:cNvPr id="2" name="TextBox 1"/>
          <p:cNvSpPr txBox="1"/>
          <p:nvPr/>
        </p:nvSpPr>
        <p:spPr>
          <a:xfrm>
            <a:off x="457200" y="2286000"/>
            <a:ext cx="8229600" cy="1371600"/>
          </a:xfrm>
          <a:prstGeom prst="rect">
            <a:avLst/>
          </a:prstGeom>
          <a:noFill/>
        </p:spPr>
        <p:txBody>
          <a:bodyPr wrap="square">
            <a:spAutoFit/>
          </a:bodyPr>
          <a:lstStyle/>
          <a:p>
            <a:pPr algn="ctr">
              <a:defRPr sz="4400" b="1">
                <a:solidFill>
                  <a:srgbClr val="FFFFFF"/>
                </a:solidFill>
              </a:defRPr>
            </a:pPr>
            <a:r>
              <a:t>Thank You</a:t>
            </a:r>
          </a:p>
        </p:txBody>
      </p:sp>
      <p:sp>
        <p:nvSpPr>
          <p:cNvPr id="3" name="TextBox 2"/>
          <p:cNvSpPr txBox="1"/>
          <p:nvPr/>
        </p:nvSpPr>
        <p:spPr>
          <a:xfrm>
            <a:off x="457200" y="3657600"/>
            <a:ext cx="8229600" cy="914400"/>
          </a:xfrm>
          <a:prstGeom prst="rect">
            <a:avLst/>
          </a:prstGeom>
          <a:noFill/>
        </p:spPr>
        <p:txBody>
          <a:bodyPr wrap="none">
            <a:spAutoFit/>
          </a:bodyPr>
          <a:lstStyle/>
          <a:p>
            <a:pPr algn="ctr">
              <a:defRPr sz="2400">
                <a:solidFill>
                  <a:srgbClr val="D4AF37"/>
                </a:solidFill>
              </a:defRPr>
            </a:pPr>
            <a:r>
              <a:t>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