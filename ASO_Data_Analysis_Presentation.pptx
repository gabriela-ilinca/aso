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3744"/>
  </p:normalViewPr>
  <p:slideViewPr>
    <p:cSldViewPr snapToGrid="0" snapToObjects="1">
      <p:cViewPr varScale="1">
        <p:scale>
          <a:sx n="72" d="100"/>
          <a:sy n="72" d="100"/>
        </p:scale>
        <p:origin x="448" y="184"/>
      </p:cViewPr>
      <p:guideLst>
        <p:guide orient="horz" pos="2160"/>
        <p:guide pos="2880"/>
      </p:guideLst>
    </p:cSldViewPr>
  </p:slideViewPr>
  <p:notesTextViewPr>
    <p:cViewPr>
      <p:scale>
        <a:sx n="100" d="100"/>
        <a:sy n="100" d="100"/>
      </p:scale>
      <p:origin x="0" y="-1096"/>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2CD648-D2FE-D84B-B0C8-01034D7D94A8}" type="datetimeFigureOut">
              <a:rPr lang="en-US" smtClean="0"/>
              <a:t>12/4/25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7B857A-7EF3-7245-8888-F6E65C140C63}" type="slidenum">
              <a:rPr lang="en-US" smtClean="0"/>
              <a:t>‹#›</a:t>
            </a:fld>
            <a:endParaRPr lang="en-US"/>
          </a:p>
        </p:txBody>
      </p:sp>
    </p:spTree>
    <p:extLst>
      <p:ext uri="{BB962C8B-B14F-4D97-AF65-F5344CB8AC3E}">
        <p14:creationId xmlns:p14="http://schemas.microsoft.com/office/powerpoint/2010/main" val="1739996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Agenda Slide</a:t>
            </a:r>
          </a:p>
          <a:p>
            <a:endParaRPr/>
          </a:p>
          <a:p>
            <a:r>
              <a:t>OPENING (30 seconds):</a:t>
            </a:r>
          </a:p>
          <a:p>
            <a:r>
              <a:t>"Thank you for the opportunity to present our findings. Over the past several months, we analyzed over 68,000 ticket records from FY23 and FY24 to answer three strategic questions: How do we get single ticket buyers to return? How do we attract and retain subscribers? And how do we engage younger audiences?"</a:t>
            </a:r>
          </a:p>
          <a:p>
            <a:endParaRPr/>
          </a:p>
          <a:p>
            <a:r>
              <a:t>KEY FRAMING:</a:t>
            </a:r>
          </a:p>
          <a:p>
            <a:r>
              <a:t>"Today's presentation builds from understanding customer behavior, through demand analysis, to two specific pricing simulations that we believe can generate meaningful incremental revenue while strengthening customer relationships."</a:t>
            </a:r>
          </a:p>
          <a:p>
            <a:endParaRPr/>
          </a:p>
          <a:p>
            <a:r>
              <a:t>TRANSITION:</a:t>
            </a:r>
          </a:p>
          <a:p>
            <a:r>
              <a:t>"Let's start by understanding who your customers are and how they behave."</a:t>
            </a:r>
          </a:p>
          <a:p>
            <a:endParaRPr/>
          </a:p>
          <a:p>
            <a:r>
              <a:t>ANTICIPATED QUESTIONS:</a:t>
            </a:r>
          </a:p>
          <a:p>
            <a:r>
              <a:t>- Q: What data sources did you use? A: FY23 and FY24 regular ticket data, demographics, price codes, and event information - over 68,000 paid ticket records.</a:t>
            </a:r>
          </a:p>
          <a:p>
            <a:r>
              <a:t>- Q: Who was involved in this analysis? A: Cross-functional collaboration with box office, marketing, and finance teams.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Section Header</a:t>
            </a:r>
          </a:p>
          <a:p>
            <a:endParaRPr/>
          </a:p>
          <a:p>
            <a:r>
              <a:t>TRANSITION:</a:t>
            </a:r>
          </a:p>
          <a:p>
            <a:r>
              <a:t>"Understanding audience behavior is the foundation of any pricing strategy. Let's look at how your subscriber and single ticket buyer populations compare and how they've evolved."</a:t>
            </a:r>
          </a:p>
          <a:p>
            <a:endParaRPr/>
          </a:p>
          <a:p>
            <a:r>
              <a:t>KEY CONTEXT TO SET:</a:t>
            </a:r>
          </a:p>
          <a:p>
            <a:r>
              <a:t>- ASO averages 88% hall occupancy - among the best in the industry</a:t>
            </a:r>
          </a:p>
          <a:p>
            <a:r>
              <a:t>- Budget split: 51% contributed, 49% earned revenue</a:t>
            </a:r>
          </a:p>
          <a:p>
            <a:r>
              <a:t>- Data covers two full seasons: FY23 and FY24</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Subscriber vs Single Ticket Comparison</a:t>
            </a:r>
          </a:p>
          <a:p>
            <a:endParaRPr/>
          </a:p>
          <a:p>
            <a:r>
              <a:t>KEY INSIGHT:</a:t>
            </a:r>
          </a:p>
          <a:p>
            <a:r>
              <a:t>"Your single ticket buyer population is growing rapidly - up by nearly 2,800 accounts year-over-year - while subscribers declined slightly. This is both an opportunity and a challenge. Single ticket buyers pay more per ticket ($59.86 vs $51.02) but their retention is extremely low - 80% never return."</a:t>
            </a:r>
          </a:p>
          <a:p>
            <a:endParaRPr/>
          </a:p>
          <a:p>
            <a:r>
              <a:t>DATA POINTS TO EMPHASIZE:</a:t>
            </a:r>
          </a:p>
          <a:p>
            <a:r>
              <a:t>1. The price differential: Single ticket buyers pay 17% more per seat than subscribers</a:t>
            </a:r>
          </a:p>
          <a:p>
            <a:r>
              <a:t>2. The timing difference: 17 days vs 2 months - single ticket buyers are last-minute</a:t>
            </a:r>
          </a:p>
          <a:p>
            <a:r>
              <a:t>3. The retention gap: 80% single ticket churn vs 85% established subscriber renewal</a:t>
            </a:r>
          </a:p>
          <a:p>
            <a:endParaRPr/>
          </a:p>
          <a:p>
            <a:r>
              <a:t>STRATEGIC IMPLICATION:</a:t>
            </a:r>
          </a:p>
          <a:p>
            <a:r>
              <a:t>"The growth in single ticket buyers, especially in Holiday, Special, and Delta Series events, represents a pipeline for future subscribers IF we can convert them. This is the insight that drives our first pricing simulation."</a:t>
            </a:r>
          </a:p>
          <a:p>
            <a:endParaRPr/>
          </a:p>
          <a:p>
            <a:r>
              <a:t>ANTICIPATED QUESTIONS:</a:t>
            </a:r>
          </a:p>
          <a:p>
            <a:r>
              <a:t>- Q: Why are subscribers declining? A: Industry-wide trend toward flexibility; also demographic shifts (average age 63)</a:t>
            </a:r>
          </a:p>
          <a:p>
            <a:r>
              <a:t>- Q: What's driving single ticket growth in Holiday/Special? A: More accessible programming, different audience segment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Single Ticket Buyer Behavior</a:t>
            </a:r>
          </a:p>
          <a:p>
            <a:endParaRPr/>
          </a:p>
          <a:p>
            <a:r>
              <a:t>KEY STORY:</a:t>
            </a:r>
          </a:p>
          <a:p>
            <a:r>
              <a:t>"Single ticket buyers are a fascinating segment. They're willing to pay more - $59.86 on average versus $51.02 for subscribers - but they decide late and rarely come back. The 17-day purchase window versus 2 months for subscribers tells us they're responding to specific event marketing, not planning their season."</a:t>
            </a:r>
          </a:p>
          <a:p>
            <a:endParaRPr/>
          </a:p>
          <a:p>
            <a:r>
              <a:t>BEHAVIORAL INSIGHT:</a:t>
            </a:r>
          </a:p>
          <a:p>
            <a:r>
              <a:t>"The 80% one-and-done rate is actually an opportunity. These aren't people who dislike ASO - they bought a ticket! They simply haven't been given a compelling reason to return. That's what our pricing simulations address."</a:t>
            </a:r>
          </a:p>
          <a:p>
            <a:endParaRPr/>
          </a:p>
          <a:p>
            <a:r>
              <a:t>SHARE OF TICKET GROUPS:</a:t>
            </a:r>
          </a:p>
          <a:p>
            <a:r>
              <a:t>- Holiday events: Largest single ticket buyer concentration</a:t>
            </a:r>
          </a:p>
          <a:p>
            <a:r>
              <a:t>- Special events: Second highest</a:t>
            </a:r>
          </a:p>
          <a:p>
            <a:r>
              <a:t>- Classical: Lower single ticket penetration but higher loyalty</a:t>
            </a:r>
          </a:p>
          <a:p>
            <a:endParaRPr/>
          </a:p>
          <a:p>
            <a:r>
              <a:t>FLUCTUATION PATTERNS:</a:t>
            </a:r>
          </a:p>
          <a:p>
            <a:r>
              <a:t>"Single ticket sales are highly variable week-to-week, driven by artist recognition and event marketing. Subscribers provide predictable baseline; single ticket is your upside."</a:t>
            </a:r>
          </a:p>
          <a:p>
            <a:endParaRPr/>
          </a:p>
          <a:p>
            <a:r>
              <a:t>TRANSITION:</a:t>
            </a:r>
          </a:p>
          <a:p>
            <a:r>
              <a:t>"Now let's look at subscribers, who behave very differently..."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Subscriber Behavior</a:t>
            </a:r>
          </a:p>
          <a:p>
            <a:endParaRPr/>
          </a:p>
          <a:p>
            <a:r>
              <a:t>KEY INSIGHT:</a:t>
            </a:r>
          </a:p>
          <a:p>
            <a:r>
              <a:t>"Your subscribers aren't just attending their subscription concerts - they want MORE. 57% of subscribers purchase additional single tickets, averaging 4 add-on tickets worth $355 in revenue. This is proven demand for content beyond their package."</a:t>
            </a:r>
          </a:p>
          <a:p>
            <a:endParaRPr/>
          </a:p>
          <a:p>
            <a:r>
              <a:t>MOST POPULAR ADD-ON EVENTS (BY CROSSOVER):</a:t>
            </a:r>
          </a:p>
          <a:p>
            <a:r>
              <a:t>1. Josh Bell - celebrity draw</a:t>
            </a:r>
          </a:p>
          <a:p>
            <a:r>
              <a:t>2. Vivaldi's Four Seasons - accessible repertoire</a:t>
            </a:r>
          </a:p>
          <a:p>
            <a:r>
              <a:t>3. Beethoven Symphony No. 9 - iconic programming</a:t>
            </a:r>
          </a:p>
          <a:p>
            <a:endParaRPr/>
          </a:p>
          <a:p>
            <a:r>
              <a:t>"Notice a pattern? Subscribers gravitate toward recognizable names and works when buying add-ons. This insight informs our marketing recommendations."</a:t>
            </a:r>
          </a:p>
          <a:p>
            <a:endParaRPr/>
          </a:p>
          <a:p>
            <a:r>
              <a:t>STRATEGIC IMPLICATION:</a:t>
            </a:r>
          </a:p>
          <a:p>
            <a:r>
              <a:t>"The fact that 57% of subscribers already buy extras means there's no risk of cannibalizing subscription value with an add-on program. We're simply making it easier for them to do what they already want to do - and capturing a premium in the process."</a:t>
            </a:r>
          </a:p>
          <a:p>
            <a:endParaRPr/>
          </a:p>
          <a:p>
            <a:r>
              <a:t>TRANSITION:</a:t>
            </a:r>
          </a:p>
          <a:p>
            <a:r>
              <a:t>"Now let's understand the revenue implications of these behaviors..."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Section Header</a:t>
            </a:r>
          </a:p>
          <a:p>
            <a:endParaRPr/>
          </a:p>
          <a:p>
            <a:r>
              <a:t>TRANSITION:</a:t>
            </a:r>
          </a:p>
          <a:p>
            <a:r>
              <a:t>"Understanding who generates revenue - and how - is critical for pricing strategy. Let's look at the composition of your earned revenue and some surprising findings about subscriber economics."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Revenue by Fiscal Year</a:t>
            </a:r>
          </a:p>
          <a:p>
            <a:endParaRPr/>
          </a:p>
          <a:p>
            <a:r>
              <a:t>KEY STORY:</a:t>
            </a:r>
          </a:p>
          <a:p>
            <a:r>
              <a:t>"While total ticket revenue grew 3.4% year-over-year, the composition is shifting. Subscription revenue declined 2.6% while single ticket revenue surged 14.3%. The subscription share of total revenue dropped from 64% to 61%."</a:t>
            </a:r>
          </a:p>
          <a:p>
            <a:endParaRPr/>
          </a:p>
          <a:p>
            <a:r>
              <a:t>STRATEGIC IMPLICATIONS:</a:t>
            </a:r>
          </a:p>
          <a:p>
            <a:r>
              <a:t>1. Revenue growth is coming from single ticket, not subscription</a:t>
            </a:r>
          </a:p>
          <a:p>
            <a:r>
              <a:t>2. This increases revenue volatility (single ticket is less predictable)</a:t>
            </a:r>
          </a:p>
          <a:p>
            <a:r>
              <a:t>3. Converting single ticket buyers to subscribers would stabilize revenue</a:t>
            </a:r>
          </a:p>
          <a:p>
            <a:endParaRPr/>
          </a:p>
          <a:p>
            <a:r>
              <a:t>WHY THIS MATTERS:</a:t>
            </a:r>
          </a:p>
          <a:p>
            <a:r>
              <a:t>"Subscriptions are sold well in advance and provide cash flow predictability. Single ticket revenue, while growing, comes late and is event-dependent. The ideal outcome is to grow single ticket revenue while building a pipeline to subscription."</a:t>
            </a:r>
          </a:p>
          <a:p>
            <a:endParaRPr/>
          </a:p>
          <a:p>
            <a:r>
              <a:t>TRANSITION:</a:t>
            </a:r>
          </a:p>
          <a:p>
            <a:r>
              <a:t>"Within subscribers, there's significant variation in value. Let's look at CYO subscribers specifically..."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CYO Revenue Contribution</a:t>
            </a:r>
          </a:p>
          <a:p>
            <a:endParaRPr/>
          </a:p>
          <a:p>
            <a:r>
              <a:t>KEY INSIGHT:</a:t>
            </a:r>
          </a:p>
          <a:p>
            <a:r>
              <a:t>"CYO subscribers are your most valuable subscriber segment by far. They represent just 13.73% of subscription accounts but generate 22-24% of subscription revenue. Their average ticket price of $67.96 is 72% higher than other subscribers at $39.48."</a:t>
            </a:r>
          </a:p>
          <a:p>
            <a:endParaRPr/>
          </a:p>
          <a:p>
            <a:r>
              <a:t>WHY CYO IS VALUABLE:</a:t>
            </a:r>
          </a:p>
          <a:p>
            <a:r>
              <a:t>1. Self-selection: CYO subscribers choose specific concerts, so they attend what they want</a:t>
            </a:r>
          </a:p>
          <a:p>
            <a:r>
              <a:t>2. Premium seating: They tend to select better seats</a:t>
            </a:r>
          </a:p>
          <a:p>
            <a:r>
              <a:t>3. Higher engagement: They're actively planning their season</a:t>
            </a:r>
          </a:p>
          <a:p>
            <a:r>
              <a:t>4. Better retention: Higher satisfaction from personalized experience</a:t>
            </a:r>
          </a:p>
          <a:p>
            <a:endParaRPr/>
          </a:p>
          <a:p>
            <a:r>
              <a:t>STRATEGIC IMPLICATION:</a:t>
            </a:r>
          </a:p>
          <a:p>
            <a:r>
              <a:t>"Growing your CYO subscriber base should be a priority. That's why our Classical Add-On program includes a CYO conversion pathway - we project 50 new CYO subscribers from the program."</a:t>
            </a:r>
          </a:p>
          <a:p>
            <a:endParaRPr/>
          </a:p>
          <a:p>
            <a:r>
              <a:t>TRANSITION:</a:t>
            </a:r>
          </a:p>
          <a:p>
            <a:r>
              <a:t>"Let's look at subscriber retention patterns to understand where conversion efforts should focus..."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Subscriber Movement</a:t>
            </a:r>
          </a:p>
          <a:p>
            <a:endParaRPr/>
          </a:p>
          <a:p>
            <a:r>
              <a:t>KEY STORY:</a:t>
            </a:r>
          </a:p>
          <a:p>
            <a:r>
              <a:t>"Subscriber retention follows a predictable pattern: Year 1 is brutal at only 56%, Year 2 improves to about 80%, and by Year 3+ you're seeing 85%+ retention. The implication is clear - if you can keep subscribers through their first two years, they become highly loyal."</a:t>
            </a:r>
          </a:p>
          <a:p>
            <a:endParaRPr/>
          </a:p>
          <a:p>
            <a:r>
              <a:t>CYO SPECIFIC INSIGHTS:</a:t>
            </a:r>
          </a:p>
          <a:p>
            <a:r>
              <a:t>"We lost 161 CYO subscribers between 2023 and 2024. Analysis shows peak consumption at 3-4 tickets - some CYO subscribers aren't using their full packages, which may indicate a mismatch between what they bought and what they need."</a:t>
            </a:r>
          </a:p>
          <a:p>
            <a:endParaRPr/>
          </a:p>
          <a:p>
            <a:r>
              <a:t>STRATEGIC IMPLICATIONS:</a:t>
            </a:r>
          </a:p>
          <a:p>
            <a:r>
              <a:t>1. Invest in Year 1 and Year 2 subscriber experience</a:t>
            </a:r>
          </a:p>
          <a:p>
            <a:r>
              <a:t>2. Consider package flexibility for new subscribers</a:t>
            </a:r>
          </a:p>
          <a:p>
            <a:r>
              <a:t>3. Monitor CYO utilization as an early warning indicator</a:t>
            </a:r>
          </a:p>
          <a:p>
            <a:endParaRPr/>
          </a:p>
          <a:p>
            <a:r>
              <a:t>ACTION ITEMS:</a:t>
            </a:r>
          </a:p>
          <a:p>
            <a:r>
              <a:t>- Outreach to first-year subscribers mid-season</a:t>
            </a:r>
          </a:p>
          <a:p>
            <a:r>
              <a:t>- Under-utilized CYO subscribers need attention before renewal</a:t>
            </a:r>
          </a:p>
          <a:p>
            <a:r>
              <a:t>- Create "bridge" products that ease the commitment curve</a:t>
            </a:r>
          </a:p>
          <a:p>
            <a:endParaRPr/>
          </a:p>
          <a:p>
            <a:r>
              <a:t>TRANSITION:</a:t>
            </a:r>
          </a:p>
          <a:p>
            <a:r>
              <a:t>"Now let's move to demand analysis to understand pricing opportunities..."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Section Header</a:t>
            </a:r>
          </a:p>
          <a:p>
            <a:endParaRPr/>
          </a:p>
          <a:p>
            <a:r>
              <a:t>TRANSITION:</a:t>
            </a:r>
          </a:p>
          <a:p>
            <a:r>
              <a:t>"Understanding price elasticity - how quantity demanded changes with price - is essential for setting optimal prices. We analyzed demand curves across multiple dimensions: by seat section, subscription type, and event category."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SPEAKER NOTES - Demand by Event Type</a:t>
            </a:r>
          </a:p>
          <a:p>
            <a:endParaRPr dirty="0"/>
          </a:p>
          <a:p>
            <a:r>
              <a:rPr dirty="0"/>
              <a:t>INTERPRETING ELASTICITY:</a:t>
            </a:r>
          </a:p>
          <a:p>
            <a:r>
              <a:rPr dirty="0"/>
              <a:t>"Negative elasticity between 0 and -1 means inelastic demand - raising prices increases revenue. Elasticity below -1 means elastic demand - lowering prices can increase revenue."</a:t>
            </a:r>
          </a:p>
          <a:p>
            <a:endParaRPr dirty="0"/>
          </a:p>
          <a:p>
            <a:r>
              <a:rPr dirty="0"/>
              <a:t>KEY FINDINGS:</a:t>
            </a:r>
          </a:p>
          <a:p>
            <a:r>
              <a:rPr dirty="0"/>
              <a:t>1. Special Events (-1.35): Elastic demand! A 10% discount leads to 15% more tickets and 3.8% net revenue gain.</a:t>
            </a:r>
          </a:p>
          <a:p>
            <a:r>
              <a:rPr dirty="0"/>
              <a:t>2. Holiday (-0.86): Slightly inelastic - loyal Holiday audience will pay.</a:t>
            </a:r>
          </a:p>
          <a:p>
            <a:r>
              <a:rPr dirty="0"/>
              <a:t>3. Classical (-0.18): Very inelastic - price changes don't move the needle.</a:t>
            </a:r>
          </a:p>
          <a:p>
            <a:endParaRPr dirty="0"/>
          </a:p>
          <a:p>
            <a:r>
              <a:rPr dirty="0"/>
              <a:t>STRATEGIC IMPLICATIONS:</a:t>
            </a:r>
          </a:p>
          <a:p>
            <a:r>
              <a:rPr dirty="0"/>
              <a:t>"Special Events respond to promotional pricing. Classical does not - those who want it will pay; price cuts just erode margin. Holiday is in between."</a:t>
            </a:r>
          </a:p>
          <a:p>
            <a:endParaRPr dirty="0"/>
          </a:p>
          <a:p>
            <a:r>
              <a:rPr dirty="0"/>
              <a:t>PRICING RECOMMENDATIONS:</a:t>
            </a:r>
          </a:p>
          <a:p>
            <a:r>
              <a:rPr dirty="0"/>
              <a:t>- Special Events: Strategic discounting can work</a:t>
            </a:r>
          </a:p>
          <a:p>
            <a:r>
              <a:rPr dirty="0"/>
              <a:t>- Classical: Protect pricing; use programming, not price cuts</a:t>
            </a:r>
          </a:p>
          <a:p>
            <a:r>
              <a:rPr dirty="0"/>
              <a:t>- Holiday: Maintain current pricing</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SPEAKER NOTES - Subscription Demand by Section</a:t>
            </a:r>
          </a:p>
          <a:p>
            <a:endParaRPr dirty="0"/>
          </a:p>
          <a:p>
            <a:r>
              <a:rPr dirty="0"/>
              <a:t>KEY INSIGHTS:</a:t>
            </a:r>
          </a:p>
          <a:p>
            <a:r>
              <a:rPr dirty="0"/>
              <a:t>1. Fixed subscribers in Premium Orchestra (-0.89) are relatively inelastic - they're committed</a:t>
            </a:r>
          </a:p>
          <a:p>
            <a:r>
              <a:rPr dirty="0"/>
              <a:t>2. CYO subscribers are very elastic (-2.19 in Premium Orchestra) - they actively compare value</a:t>
            </a:r>
          </a:p>
          <a:p>
            <a:r>
              <a:rPr dirty="0"/>
              <a:t>3. Balcony subscribers are inelastic but driven by budget constraints</a:t>
            </a:r>
          </a:p>
          <a:p>
            <a:endParaRPr dirty="0"/>
          </a:p>
          <a:p>
            <a:r>
              <a:rPr dirty="0"/>
              <a:t>STRATEGIC INTERPRETATION:</a:t>
            </a:r>
          </a:p>
          <a:p>
            <a:r>
              <a:rPr dirty="0"/>
              <a:t>"Fixed subscribers have made a commitment and are less price sensitive. CYO subscribers are 'shopping' each season and respond more to price changes. This explains why CYO generates higher per-ticket revenue - they're choosing premium when they see value."</a:t>
            </a:r>
          </a:p>
          <a:p>
            <a:endParaRPr dirty="0"/>
          </a:p>
          <a:p>
            <a:r>
              <a:rPr dirty="0"/>
              <a:t>PRICING STRATEGY:</a:t>
            </a:r>
          </a:p>
          <a:p>
            <a:r>
              <a:rPr dirty="0"/>
              <a:t>- Fixed subscriptions: Can support modest price increases</a:t>
            </a:r>
          </a:p>
          <a:p>
            <a:r>
              <a:rPr dirty="0"/>
              <a:t>- CYO subscriptions: Be careful with price increases; focus on value communication</a:t>
            </a:r>
          </a:p>
          <a:p>
            <a:r>
              <a:rPr dirty="0"/>
              <a:t>- Balcony: Keep as accessible entry point</a:t>
            </a:r>
          </a:p>
          <a:p>
            <a:endParaRPr dirty="0"/>
          </a:p>
          <a:p>
            <a:r>
              <a:rPr dirty="0"/>
              <a:t>WHY THIS MATTERS FOR FIXED PLUS:</a:t>
            </a:r>
          </a:p>
          <a:p>
            <a:r>
              <a:rPr dirty="0"/>
              <a:t>"Fixed subscribers' inelastic demand (-0.89) means they can support a 10% premium for bundled value without significant volume loss."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SPEAKER NOTES - Demand by Event Type</a:t>
            </a:r>
          </a:p>
          <a:p>
            <a:endParaRPr dirty="0"/>
          </a:p>
          <a:p>
            <a:r>
              <a:rPr dirty="0"/>
              <a:t>CRITICAL INSIGHT:</a:t>
            </a:r>
          </a:p>
          <a:p>
            <a:r>
              <a:rPr dirty="0"/>
              <a:t>"Special Events single tickets show high elasticity (-1.35). This means discounting Special Events actually INCREASES revenue - a 10% discount leads to 15% more tickets and 3.8% net revenue gain. This is unusual and valuable."</a:t>
            </a:r>
          </a:p>
          <a:p>
            <a:endParaRPr dirty="0"/>
          </a:p>
          <a:p>
            <a:r>
              <a:rPr dirty="0"/>
              <a:t>CLASSICAL IS DIFFERENT:</a:t>
            </a:r>
          </a:p>
          <a:p>
            <a:r>
              <a:rPr dirty="0"/>
              <a:t>"Classical single tickets are highly inelastic (-0.18). Discounting Classical erodes revenue without driving meaningful volume. The buyers who want Classical will pay; those who don't, won't be swayed by price alone."</a:t>
            </a:r>
          </a:p>
          <a:p>
            <a:endParaRPr dirty="0"/>
          </a:p>
          <a:p>
            <a:r>
              <a:rPr dirty="0"/>
              <a:t>WHY THIS MATTERS FOR CLASSICAL ADD-ON:</a:t>
            </a:r>
          </a:p>
          <a:p>
            <a:r>
              <a:rPr dirty="0"/>
              <a:t>"This is exactly why our Classical Add-On program uses modest discounts (5-15%) - not to drive price-sensitive demand, but to remove the psychological barrier for Special/Holiday buyers who've never tried Classical. The discount is a 'permission slip' to try something new."</a:t>
            </a:r>
          </a:p>
          <a:p>
            <a:endParaRPr dirty="0"/>
          </a:p>
          <a:p>
            <a:r>
              <a:rPr dirty="0"/>
              <a:t>PRICING STRATEGY:</a:t>
            </a:r>
          </a:p>
          <a:p>
            <a:r>
              <a:rPr dirty="0"/>
              <a:t>- Special Events: Can use discounting strategically</a:t>
            </a:r>
          </a:p>
          <a:p>
            <a:r>
              <a:rPr dirty="0"/>
              <a:t>- Classical: Protect pricing; use product differentiation not price cuts</a:t>
            </a:r>
          </a:p>
          <a:p>
            <a:r>
              <a:rPr dirty="0"/>
              <a:t>- Premium sections: Maintain or increase</a:t>
            </a:r>
          </a:p>
          <a:p>
            <a:endParaRPr dirty="0"/>
          </a:p>
          <a:p>
            <a:r>
              <a:rPr dirty="0"/>
              <a:t>TRANSITION:</a:t>
            </a:r>
          </a:p>
          <a:p>
            <a:r>
              <a:rPr dirty="0"/>
              <a:t>"Now let's apply these insights to two specific pricing simulations..."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SPEAKER NOTES - Section Header</a:t>
            </a:r>
          </a:p>
          <a:p>
            <a:endParaRPr dirty="0"/>
          </a:p>
          <a:p>
            <a:r>
              <a:rPr dirty="0"/>
              <a:t>TRANSITION:</a:t>
            </a:r>
          </a:p>
          <a:p>
            <a:r>
              <a:rPr dirty="0"/>
              <a:t>"Based on our behavioral and demand analysis, we developed two pricing simulations that target different customer segments with different objectives. Both are designed to generate incremental revenue while strengthening customer relationships."</a:t>
            </a:r>
          </a:p>
          <a:p>
            <a:endParaRPr dirty="0"/>
          </a:p>
          <a:p>
            <a:r>
              <a:rPr dirty="0"/>
              <a:t>PREVIEW:</a:t>
            </a:r>
          </a:p>
          <a:p>
            <a:r>
              <a:rPr dirty="0"/>
              <a:t>1. Classical Add-On Product: Converts Special/Holiday single ticket buyers into Classical attendees</a:t>
            </a:r>
          </a:p>
          <a:p>
            <a:r>
              <a:rPr dirty="0"/>
              <a:t>2. Fixed Plus Premium: Captures value from Fixed 6 subscribers who already want more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SPEAKER NOTES - Classical Add-On Overview</a:t>
            </a:r>
          </a:p>
          <a:p>
            <a:endParaRPr dirty="0"/>
          </a:p>
          <a:p>
            <a:r>
              <a:rPr dirty="0"/>
              <a:t>FRAMING THE OPPORTUNITY:</a:t>
            </a:r>
          </a:p>
          <a:p>
            <a:r>
              <a:rPr dirty="0"/>
              <a:t>"Think about this: 7,008 people attended your Special or Holiday events as single ticket buyers last season. More than 80% of them have NEVER bought a Classical ticket. These aren't strangers - they've already paid to experience ASO. They simply haven't been invited to try your core product."</a:t>
            </a:r>
          </a:p>
          <a:p>
            <a:endParaRPr dirty="0"/>
          </a:p>
          <a:p>
            <a:r>
              <a:rPr dirty="0"/>
              <a:t>WHY SAME-DAY OFFERS:</a:t>
            </a:r>
          </a:p>
          <a:p>
            <a:r>
              <a:rPr dirty="0"/>
              <a:t>"Behavioral economics tells us the moment of highest engagement is immediately after a positive experience. By offering Classical discounts on the same day someone attends a Special event, we're meeting them at peak satisfaction. The ask is: 'You loved this. Want more?'"</a:t>
            </a:r>
          </a:p>
          <a:p>
            <a:endParaRPr dirty="0"/>
          </a:p>
          <a:p>
            <a:r>
              <a:rPr dirty="0"/>
              <a:t>RISK MITIGATION:</a:t>
            </a:r>
          </a:p>
          <a:p>
            <a:r>
              <a:rPr dirty="0"/>
              <a:t>"This program offers discounts ONLY on the new add-on product, not existing pricing. Someone who would have bought Classical at full price still can. We're creating a new conversion pathway without eroding current revenue."</a:t>
            </a:r>
          </a:p>
          <a:p>
            <a:endParaRPr dirty="0"/>
          </a:p>
          <a:p>
            <a:r>
              <a:rPr dirty="0"/>
              <a:t>ANTICIPATED OBJECTION:</a:t>
            </a:r>
          </a:p>
          <a:p>
            <a:r>
              <a:rPr dirty="0"/>
              <a:t>- Q: Won't this train people to expect discounts?</a:t>
            </a:r>
          </a:p>
          <a:p>
            <a:r>
              <a:rPr dirty="0"/>
              <a:t>- A: No - the discount is explicitly tied to attending a gateway event. It's a reward for engagement, not a general price cut.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SPEAKER NOTES - Discount Structure</a:t>
            </a:r>
          </a:p>
          <a:p>
            <a:endParaRPr dirty="0"/>
          </a:p>
          <a:p>
            <a:r>
              <a:rPr dirty="0"/>
              <a:t>RATIONALE FOR TIERED DISCOUNTS:</a:t>
            </a:r>
          </a:p>
          <a:p>
            <a:r>
              <a:rPr dirty="0"/>
              <a:t>"We designed the discount structure to encourage progressive engagement. A 5% discount on one ticket removes the price barrier for trying Classical. The 10% discount for two tickets encourages bringing a companion - which increases the social experience. The 15% discount for three tickets creates subscription-like behavior."</a:t>
            </a:r>
          </a:p>
          <a:p>
            <a:endParaRPr dirty="0"/>
          </a:p>
          <a:p>
            <a:r>
              <a:rPr dirty="0"/>
              <a:t>OFFER WINDOW:</a:t>
            </a:r>
          </a:p>
          <a:p>
            <a:r>
              <a:rPr dirty="0"/>
              <a:t>"The offer is valid for 60 days from attending a Special/Holiday event. This creates urgency while allowing time for upcoming Classical concerts to fall within the window."</a:t>
            </a:r>
          </a:p>
          <a:p>
            <a:endParaRPr dirty="0"/>
          </a:p>
          <a:p>
            <a:r>
              <a:rPr dirty="0"/>
              <a:t>MARKETING TOUCHPOINTS:</a:t>
            </a:r>
          </a:p>
          <a:p>
            <a:r>
              <a:rPr dirty="0"/>
              <a:t>1. Email within 2 hours post-event: 'Continue your ASO experience...'</a:t>
            </a:r>
          </a:p>
          <a:p>
            <a:r>
              <a:rPr dirty="0"/>
              <a:t>2. In-venue signage during intermission/exit with QR code</a:t>
            </a:r>
          </a:p>
          <a:p>
            <a:r>
              <a:rPr dirty="0"/>
              <a:t>3. Box office staff mention at check-in</a:t>
            </a:r>
          </a:p>
          <a:p>
            <a:r>
              <a:rPr dirty="0"/>
              <a:t>4. SMS next morning (if opted in)</a:t>
            </a:r>
          </a:p>
          <a:p>
            <a:endParaRPr dirty="0"/>
          </a:p>
          <a:p>
            <a:r>
              <a:rPr dirty="0"/>
              <a:t>GATEWAY EVENTS TO PROMOTE:</a:t>
            </a:r>
          </a:p>
          <a:p>
            <a:r>
              <a:rPr dirty="0"/>
              <a:t>Based on historical crossover, these Classical concerts have highest appeal to Special/Holiday buyers:</a:t>
            </a:r>
          </a:p>
          <a:p>
            <a:r>
              <a:rPr dirty="0"/>
              <a:t>- Beethoven Symphony No. 9 (188 crossover buyers)</a:t>
            </a:r>
          </a:p>
          <a:p>
            <a:r>
              <a:rPr dirty="0"/>
              <a:t>- Opening Weekend (164)</a:t>
            </a:r>
          </a:p>
          <a:p>
            <a:r>
              <a:rPr dirty="0"/>
              <a:t>- Orff: Carmina Burana (139)</a:t>
            </a:r>
          </a:p>
          <a:p>
            <a:r>
              <a:rPr dirty="0"/>
              <a:t>- Beethoven and Bolero (119)</a:t>
            </a:r>
          </a:p>
          <a:p>
            <a:endParaRPr dirty="0"/>
          </a:p>
          <a:p>
            <a:r>
              <a:rPr dirty="0"/>
              <a:t>"The message should connect: 'You loved Holiday Pops - experience Beethoven's 9th next!'"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SPEAKER NOTES - Before/After Analysis</a:t>
            </a:r>
          </a:p>
          <a:p>
            <a:endParaRPr dirty="0"/>
          </a:p>
          <a:p>
            <a:r>
              <a:rPr dirty="0"/>
              <a:t>METHODOLOGY:</a:t>
            </a:r>
          </a:p>
          <a:p>
            <a:r>
              <a:rPr dirty="0"/>
              <a:t>"We applied a conservative 20% response rate to the target population. This is based on industry benchmarks for same-day, targeted offers to warm audiences. The actual rate could be higher given the engagement timing."</a:t>
            </a:r>
          </a:p>
          <a:p>
            <a:endParaRPr dirty="0"/>
          </a:p>
          <a:p>
            <a:r>
              <a:rPr dirty="0"/>
              <a:t>BREAKDOWN BY SEGMENT:</a:t>
            </a:r>
          </a:p>
          <a:p>
            <a:r>
              <a:rPr dirty="0"/>
              <a:t>- Group A (never bought Classical): 1,129 responders, 1,689 new tickets at ~$53.30 average</a:t>
            </a:r>
          </a:p>
          <a:p>
            <a:r>
              <a:rPr dirty="0"/>
              <a:t>- Group B (1 Classical ever): 145 responders buying 187 additional tickets</a:t>
            </a:r>
          </a:p>
          <a:p>
            <a:r>
              <a:rPr dirty="0"/>
              <a:t>- Group C (2 Classical ever): 50 responders buying 50 additional tickets</a:t>
            </a:r>
          </a:p>
          <a:p>
            <a:endParaRPr dirty="0"/>
          </a:p>
          <a:p>
            <a:r>
              <a:rPr dirty="0"/>
              <a:t>REVENUE CALCULATION:</a:t>
            </a:r>
          </a:p>
          <a:p>
            <a:r>
              <a:rPr dirty="0"/>
              <a:t>- Total discounted revenue: $102,099</a:t>
            </a:r>
          </a:p>
          <a:p>
            <a:r>
              <a:rPr dirty="0"/>
              <a:t>- Full price equivalent: $112,777</a:t>
            </a:r>
          </a:p>
          <a:p>
            <a:r>
              <a:rPr dirty="0"/>
              <a:t>- Effective discount rate: 9.5%</a:t>
            </a:r>
          </a:p>
          <a:p>
            <a:r>
              <a:rPr dirty="0"/>
              <a:t>- Average discount per ticket: $5.54</a:t>
            </a:r>
          </a:p>
          <a:p>
            <a:endParaRPr dirty="0"/>
          </a:p>
          <a:p>
            <a:r>
              <a:rPr dirty="0"/>
              <a:t>KEY POINT:</a:t>
            </a:r>
          </a:p>
          <a:p>
            <a:r>
              <a:rPr dirty="0"/>
              <a:t>"The 'discount cost' of ~$10,700 represents value given up versus full price. But these are customers who would NOT have bought Classical otherwise. The full $102,099 is incremental revenue."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SPEAKER NOTES - CYO Conversion Pipeline</a:t>
            </a:r>
          </a:p>
          <a:p>
            <a:endParaRPr dirty="0"/>
          </a:p>
          <a:p>
            <a:r>
              <a:rPr dirty="0"/>
              <a:t>THE CONVERSION FUNNEL:</a:t>
            </a:r>
          </a:p>
          <a:p>
            <a:r>
              <a:rPr dirty="0"/>
              <a:t>"We analyzed historical data and found that 24.6% of single ticket buyers who purchase 3+ Classical tickets eventually become CYO subscribers. This is a proven pathway."</a:t>
            </a:r>
          </a:p>
          <a:p>
            <a:endParaRPr dirty="0"/>
          </a:p>
          <a:p>
            <a:r>
              <a:rPr dirty="0"/>
              <a:t>HOW THE ADD-ON CREATES CONVERTS:</a:t>
            </a:r>
          </a:p>
          <a:p>
            <a:r>
              <a:rPr dirty="0"/>
              <a:t>- Group A buyers getting +3: 112 accounts reach threshold</a:t>
            </a:r>
          </a:p>
          <a:p>
            <a:r>
              <a:rPr dirty="0"/>
              <a:t>- Group B buyers getting +2 more: 43 accounts reach threshold</a:t>
            </a:r>
          </a:p>
          <a:p>
            <a:r>
              <a:rPr dirty="0"/>
              <a:t>- Group C buyers getting +1 more: 50 accounts reach threshold</a:t>
            </a:r>
          </a:p>
          <a:p>
            <a:r>
              <a:rPr dirty="0"/>
              <a:t>- Total new 3+ buyers: 205 accounts</a:t>
            </a:r>
          </a:p>
          <a:p>
            <a:endParaRPr dirty="0"/>
          </a:p>
          <a:p>
            <a:r>
              <a:rPr dirty="0"/>
              <a:t>APPLYING CONVERSION RATE:</a:t>
            </a:r>
          </a:p>
          <a:p>
            <a:r>
              <a:rPr dirty="0"/>
              <a:t>"205 new 3+ Classical buyers x 24.6% conversion rate = 50 projected new CYO subscribers"</a:t>
            </a:r>
          </a:p>
          <a:p>
            <a:endParaRPr dirty="0"/>
          </a:p>
          <a:p>
            <a:r>
              <a:rPr dirty="0"/>
              <a:t>RECURRING REVENUE VALUE:</a:t>
            </a:r>
          </a:p>
          <a:p>
            <a:r>
              <a:rPr dirty="0"/>
              <a:t>- Low estimate: 50 x $400/season = $20,000/year</a:t>
            </a:r>
          </a:p>
          <a:p>
            <a:r>
              <a:rPr dirty="0"/>
              <a:t>- High estimate: 50 x $600/season = $30,000/year</a:t>
            </a:r>
          </a:p>
          <a:p>
            <a:endParaRPr dirty="0"/>
          </a:p>
          <a:p>
            <a:r>
              <a:rPr dirty="0"/>
              <a:t>STRATEGIC IMPLICATION:</a:t>
            </a:r>
          </a:p>
          <a:p>
            <a:r>
              <a:rPr dirty="0"/>
              <a:t>"This is the compound effect. The Classical Add-On generates $102K in Year 1 ticket revenue PLUS creates an ongoing pipeline of CYO subscribers worth $20-30K annually. And those CYO subscribers have high lifetime value."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SPEAKER NOTES - Fixed Plus Overview</a:t>
            </a:r>
          </a:p>
          <a:p>
            <a:endParaRPr dirty="0"/>
          </a:p>
          <a:p>
            <a:r>
              <a:rPr dirty="0"/>
              <a:t>WHY FIXED 6:</a:t>
            </a:r>
          </a:p>
          <a:p>
            <a:r>
              <a:rPr dirty="0"/>
              <a:t>"Fixed 6 is your largest Fixed tier at 1,643 accounts - 70% of all Fixed subscribers. They're committed enough to subscribe but haven't maxed out. And critically, 57.8% of them are ALREADY buying single tickets. This is proven demand."</a:t>
            </a:r>
          </a:p>
          <a:p>
            <a:endParaRPr dirty="0"/>
          </a:p>
          <a:p>
            <a:r>
              <a:rPr dirty="0"/>
              <a:t>WHAT THEY BUY AS SINGLES:</a:t>
            </a:r>
          </a:p>
          <a:p>
            <a:r>
              <a:rPr dirty="0"/>
              <a:t>- Classical: 709 unique buyers, $208,590 revenue</a:t>
            </a:r>
          </a:p>
          <a:p>
            <a:r>
              <a:rPr dirty="0"/>
              <a:t>- Special: 381 unique buyers, $82,806 revenue</a:t>
            </a:r>
          </a:p>
          <a:p>
            <a:r>
              <a:rPr dirty="0"/>
              <a:t>- Holiday: 196 unique buyers, $41,980 revenue</a:t>
            </a:r>
          </a:p>
          <a:p>
            <a:endParaRPr dirty="0"/>
          </a:p>
          <a:p>
            <a:r>
              <a:rPr dirty="0"/>
              <a:t>THE FIXED PLUS CONCEPT:</a:t>
            </a:r>
          </a:p>
          <a:p>
            <a:r>
              <a:rPr dirty="0"/>
              <a:t>"Instead of letting them buy Holiday and Special as separate transactions, we bundle it into their subscription at a 10% premium. They get guaranteed access and premium benefits; we capture incremental revenue and lock in commitment."</a:t>
            </a:r>
          </a:p>
          <a:p>
            <a:endParaRPr dirty="0"/>
          </a:p>
          <a:p>
            <a:r>
              <a:rPr dirty="0"/>
              <a:t>WHY 10% PREMIUM:</a:t>
            </a:r>
          </a:p>
          <a:p>
            <a:r>
              <a:rPr dirty="0"/>
              <a:t>"Our elasticity analysis shows Fixed subscribers can support modest price increases. A 10% premium for bundled value - priority access, guaranteed seating, no separate transactions - is well within acceptance range for this segment."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SPEAKER NOTES - Product Design</a:t>
            </a:r>
          </a:p>
          <a:p>
            <a:endParaRPr dirty="0"/>
          </a:p>
          <a:p>
            <a:r>
              <a:rPr dirty="0"/>
              <a:t>PRICING LOGIC:</a:t>
            </a:r>
          </a:p>
          <a:p>
            <a:r>
              <a:rPr dirty="0"/>
              <a:t>"We kept the premium simple at 10% across both tiers. This is easy to communicate and justified by the value-adds."</a:t>
            </a:r>
          </a:p>
          <a:p>
            <a:endParaRPr dirty="0"/>
          </a:p>
          <a:p>
            <a:r>
              <a:rPr dirty="0"/>
              <a:t>THE BENEFITS THAT JUSTIFY PREMIUM:</a:t>
            </a:r>
          </a:p>
          <a:p>
            <a:r>
              <a:rPr dirty="0"/>
              <a:t>Tier 1 - Access Benefits (Core Value):</a:t>
            </a:r>
          </a:p>
          <a:p>
            <a:r>
              <a:rPr dirty="0"/>
              <a:t>- Priority Access Window: Book 2 weeks before general public</a:t>
            </a:r>
          </a:p>
          <a:p>
            <a:r>
              <a:rPr dirty="0"/>
              <a:t>- Guaranteed Seat Holds: Your preferred section reserved</a:t>
            </a:r>
          </a:p>
          <a:p>
            <a:r>
              <a:rPr dirty="0"/>
              <a:t>- Sellout Protection: Never miss a Special or Holiday event due to capacity</a:t>
            </a:r>
          </a:p>
          <a:p>
            <a:endParaRPr dirty="0"/>
          </a:p>
          <a:p>
            <a:r>
              <a:rPr dirty="0"/>
              <a:t>Tier 2 - Experience Benefits:</a:t>
            </a:r>
          </a:p>
          <a:p>
            <a:r>
              <a:rPr dirty="0"/>
              <a:t>- Pre-Concert Insights: Exclusive pre-concert talks</a:t>
            </a:r>
          </a:p>
          <a:p>
            <a:r>
              <a:rPr dirty="0"/>
              <a:t>- Intermission Lounge Access: Dedicated refreshment area</a:t>
            </a:r>
          </a:p>
          <a:p>
            <a:r>
              <a:rPr dirty="0"/>
              <a:t>- Program Recognition: 'Fixed Plus Member' acknowledgment</a:t>
            </a:r>
          </a:p>
          <a:p>
            <a:endParaRPr dirty="0"/>
          </a:p>
          <a:p>
            <a:r>
              <a:rPr dirty="0"/>
              <a:t>Tier 3 - Convenience Benefits:</a:t>
            </a:r>
          </a:p>
          <a:p>
            <a:r>
              <a:rPr dirty="0"/>
              <a:t>- Single Checkout: Charged with subscription renewal</a:t>
            </a:r>
          </a:p>
          <a:p>
            <a:r>
              <a:rPr dirty="0"/>
              <a:t>- Flex Swap Option: Exchange dates within tier</a:t>
            </a:r>
          </a:p>
          <a:p>
            <a:r>
              <a:rPr dirty="0"/>
              <a:t>- Companion Discount: 5% off guest tickets</a:t>
            </a:r>
          </a:p>
          <a:p>
            <a:endParaRPr dirty="0"/>
          </a:p>
          <a:p>
            <a:r>
              <a:rPr dirty="0"/>
              <a:t>MARKETING STRATEGY:</a:t>
            </a:r>
          </a:p>
          <a:p>
            <a:r>
              <a:rPr dirty="0"/>
              <a:t>"Do NOT advertise the price. Sell the benefits. 'Never miss another Special event' is more compelling than '$87.92 per ticket.'"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SPEAKER NOTES - Revenue Projections</a:t>
            </a:r>
          </a:p>
          <a:p>
            <a:endParaRPr dirty="0"/>
          </a:p>
          <a:p>
            <a:r>
              <a:rPr dirty="0"/>
              <a:t>UPTAKE ASSUMPTIONS:</a:t>
            </a:r>
          </a:p>
          <a:p>
            <a:r>
              <a:rPr dirty="0"/>
              <a:t>"We applied different uptake rates based on demonstrated behavior. Subscribers who already buy single tickets (proven demand) get 30% uptake - they're pre-qualified. Non-buyers get 10% - they may have latent demand we're unlocking."</a:t>
            </a:r>
          </a:p>
          <a:p>
            <a:endParaRPr dirty="0"/>
          </a:p>
          <a:p>
            <a:r>
              <a:rPr dirty="0"/>
              <a:t>PACKAGE MIX:</a:t>
            </a:r>
          </a:p>
          <a:p>
            <a:r>
              <a:rPr dirty="0"/>
              <a:t>- 40% Bronze (141 subscribers x $87.92 = $12,397)</a:t>
            </a:r>
          </a:p>
          <a:p>
            <a:r>
              <a:rPr dirty="0"/>
              <a:t>- 60% Gold (212 subscribers x $150.53 = $31,913)</a:t>
            </a:r>
          </a:p>
          <a:p>
            <a:endParaRPr dirty="0"/>
          </a:p>
          <a:p>
            <a:r>
              <a:rPr dirty="0"/>
              <a:t>TOTAL PROGRAM VALUE:</a:t>
            </a:r>
          </a:p>
          <a:p>
            <a:r>
              <a:rPr dirty="0"/>
              <a:t>- Fixed Plus Revenue: $44,310</a:t>
            </a:r>
          </a:p>
          <a:p>
            <a:r>
              <a:rPr dirty="0"/>
              <a:t>- Regular price equivalent: $40,282</a:t>
            </a:r>
          </a:p>
          <a:p>
            <a:r>
              <a:rPr dirty="0"/>
              <a:t>- Pure premium captured: $4,028 (9.1% of program revenue)</a:t>
            </a:r>
          </a:p>
          <a:p>
            <a:endParaRPr dirty="0"/>
          </a:p>
          <a:p>
            <a:r>
              <a:rPr dirty="0"/>
              <a:t>UPSIDE SCENARIOS:</a:t>
            </a:r>
          </a:p>
          <a:p>
            <a:r>
              <a:rPr dirty="0"/>
              <a:t>- Higher uptake (40% for ST buyers): +$14,800</a:t>
            </a:r>
          </a:p>
          <a:p>
            <a:r>
              <a:rPr dirty="0"/>
              <a:t>- Higher premium (15%): +$2,200</a:t>
            </a:r>
          </a:p>
          <a:p>
            <a:r>
              <a:rPr dirty="0"/>
              <a:t>- Companion tickets (50% buy guest): +$9,200</a:t>
            </a:r>
          </a:p>
          <a:p>
            <a:endParaRPr dirty="0"/>
          </a:p>
          <a:p>
            <a:r>
              <a:rPr dirty="0"/>
              <a:t>BREAK-EVEN:</a:t>
            </a:r>
          </a:p>
          <a:p>
            <a:r>
              <a:rPr dirty="0"/>
              <a:t>"We need about 100 Fixed Plus subscribers to cover program administration costs. At 354, this is comfortably profitable."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SPEAKER NOTES - Benefits Package</a:t>
            </a:r>
          </a:p>
          <a:p>
            <a:endParaRPr dirty="0"/>
          </a:p>
          <a:p>
            <a:r>
              <a:rPr dirty="0"/>
              <a:t>WHY THESE BENEFITS:</a:t>
            </a:r>
          </a:p>
          <a:p>
            <a:r>
              <a:rPr dirty="0"/>
              <a:t>"Every benefit is based on observed behavior:</a:t>
            </a:r>
          </a:p>
          <a:p>
            <a:r>
              <a:rPr dirty="0"/>
              <a:t>1. 45% of Fixed 6 subscribers buy tickets 2+ months in advance - they WANT to plan ahead</a:t>
            </a:r>
          </a:p>
          <a:p>
            <a:r>
              <a:rPr dirty="0"/>
              <a:t>2. 83% sit in premium sections - seat quality matters</a:t>
            </a:r>
          </a:p>
          <a:p>
            <a:r>
              <a:rPr dirty="0"/>
              <a:t>3. 57.8% already buy extras - convenience removes friction"</a:t>
            </a:r>
          </a:p>
          <a:p>
            <a:endParaRPr dirty="0"/>
          </a:p>
          <a:p>
            <a:r>
              <a:rPr dirty="0"/>
              <a:t>BEHAVIORAL ECONOMICS AT PLAY:</a:t>
            </a:r>
          </a:p>
          <a:p>
            <a:r>
              <a:rPr dirty="0"/>
              <a:t>1. Bundling Effect: Bundles feel like better value even at same price</a:t>
            </a:r>
          </a:p>
          <a:p>
            <a:r>
              <a:rPr dirty="0"/>
              <a:t>2. Loss Aversion: 'Sellout Protection' frames as avoiding loss, not gaining access</a:t>
            </a:r>
          </a:p>
          <a:p>
            <a:r>
              <a:rPr dirty="0"/>
              <a:t>3. Status Signaling: 'Fixed Plus Member' appeals to identity</a:t>
            </a:r>
          </a:p>
          <a:p>
            <a:r>
              <a:rPr dirty="0"/>
              <a:t>4. Commitment &amp; Consistency: Once they identify as Fixed Plus, they renew</a:t>
            </a:r>
          </a:p>
          <a:p>
            <a:endParaRPr dirty="0"/>
          </a:p>
          <a:p>
            <a:r>
              <a:rPr dirty="0"/>
              <a:t>PHASED BENEFIT ROLLOUT:</a:t>
            </a:r>
          </a:p>
          <a:p>
            <a:r>
              <a:rPr dirty="0"/>
              <a:t>"Start with low-cost/no-cost benefits (priority access, recognition). Add experiential benefits (pre-concert talks, lounge) as program matures and revenue justifies investment."</a:t>
            </a:r>
          </a:p>
          <a:p>
            <a:endParaRPr dirty="0"/>
          </a:p>
          <a:p>
            <a:r>
              <a:rPr dirty="0"/>
              <a:t>OPERATIONAL REQUIREMENTS:</a:t>
            </a:r>
          </a:p>
          <a:p>
            <a:r>
              <a:rPr dirty="0"/>
              <a:t>- Hold 5% of Holiday/Special capacity for Fixed Plus priority</a:t>
            </a:r>
          </a:p>
          <a:p>
            <a:r>
              <a:rPr dirty="0"/>
              <a:t>- Simple flag in ticketing system for member identification</a:t>
            </a:r>
          </a:p>
          <a:p>
            <a:r>
              <a:rPr dirty="0"/>
              <a:t>- Staff training on Fixed Plus recognition</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Section Header</a:t>
            </a:r>
          </a:p>
          <a:p>
            <a:endParaRPr/>
          </a:p>
          <a:p>
            <a:r>
              <a:t>TRANSITION:</a:t>
            </a:r>
          </a:p>
          <a:p>
            <a:r>
              <a:t>"Let's step back and compare these two programs side by side. They target different audiences, use different mechanisms, and have different risk profiles - but they're complementary, not competing."</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Comparison</a:t>
            </a:r>
          </a:p>
          <a:p>
            <a:endParaRPr dirty="0"/>
          </a:p>
          <a:p>
            <a:r>
              <a:rPr dirty="0"/>
              <a:t>COMPLEMENTARY, NOT COMPETING:</a:t>
            </a:r>
          </a:p>
          <a:p>
            <a:r>
              <a:rPr dirty="0"/>
              <a:t>"These programs work together. Classical Add-On brings new people into your ecosystem; Fixed Plus deepens commitment from existing subscribers. Different targets, different mechanisms, both valuable."</a:t>
            </a:r>
          </a:p>
          <a:p>
            <a:endParaRPr dirty="0"/>
          </a:p>
          <a:p>
            <a:r>
              <a:rPr dirty="0"/>
              <a:t>REVENUE COMPARISON:</a:t>
            </a:r>
          </a:p>
          <a:p>
            <a:r>
              <a:rPr dirty="0"/>
              <a:t>- Classical Add-On: $102,099 Year 1 + CYO pipeline</a:t>
            </a:r>
          </a:p>
          <a:p>
            <a:r>
              <a:rPr dirty="0"/>
              <a:t>- Fixed Plus: $44,310 Year 1 + retention benefits</a:t>
            </a:r>
          </a:p>
          <a:p>
            <a:endParaRPr dirty="0"/>
          </a:p>
          <a:p>
            <a:r>
              <a:rPr dirty="0"/>
              <a:t>Total Year 1 impact: ~$146,000 in additional revenue</a:t>
            </a:r>
          </a:p>
          <a:p>
            <a:endParaRPr dirty="0"/>
          </a:p>
          <a:p>
            <a:r>
              <a:rPr dirty="0"/>
              <a:t>RISK COMPARISON:</a:t>
            </a:r>
          </a:p>
          <a:p>
            <a:r>
              <a:rPr dirty="0"/>
              <a:t>- Classical Add-On: Zero cannibalization risk (product differentiation)</a:t>
            </a:r>
          </a:p>
          <a:p>
            <a:r>
              <a:rPr dirty="0"/>
              <a:t>- Fixed Plus: Minimal risk (they're buying anyway; we're bundling)</a:t>
            </a:r>
          </a:p>
          <a:p>
            <a:endParaRPr dirty="0"/>
          </a:p>
          <a:p>
            <a:r>
              <a:rPr dirty="0"/>
              <a:t>IMPLEMENTATION COMPARISON:</a:t>
            </a:r>
          </a:p>
          <a:p>
            <a:r>
              <a:rPr dirty="0"/>
              <a:t>- Classical Add-On: Easier (marketing only)</a:t>
            </a:r>
          </a:p>
          <a:p>
            <a:r>
              <a:rPr dirty="0"/>
              <a:t>- Fixed Plus: More complex (operations + benefits)</a:t>
            </a:r>
          </a:p>
          <a:p>
            <a:endParaRPr dirty="0"/>
          </a:p>
          <a:p>
            <a:r>
              <a:rPr dirty="0"/>
              <a:t>RECOMMENDATION:</a:t>
            </a:r>
          </a:p>
          <a:p>
            <a:r>
              <a:rPr dirty="0"/>
              <a:t>"We recommend launching both, with Classical Add-On in Phase 1 (lower complexity) and Fixed Plus in Phase 2 (requires more preparation)."</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Combined Impact</a:t>
            </a:r>
          </a:p>
          <a:p>
            <a:endParaRPr/>
          </a:p>
          <a:p>
            <a:r>
              <a:t>YEAR 1 SUMMARY:</a:t>
            </a:r>
          </a:p>
          <a:p>
            <a:r>
              <a:t>- Classical Add-On: $102,099 ticket revenue</a:t>
            </a:r>
          </a:p>
          <a:p>
            <a:r>
              <a:t>- Fixed Plus: $44,310 premium-priced revenue</a:t>
            </a:r>
          </a:p>
          <a:p>
            <a:r>
              <a:t>- Total: $146,409</a:t>
            </a:r>
          </a:p>
          <a:p>
            <a:endParaRPr/>
          </a:p>
          <a:p>
            <a:r>
              <a:t>BEYOND YEAR 1:</a:t>
            </a:r>
          </a:p>
          <a:p>
            <a:r>
              <a:t>Classical Add-On ongoing value:</a:t>
            </a:r>
          </a:p>
          <a:p>
            <a:r>
              <a:t>- 50 new CYO subscribers x $500 avg = $25,000/year ongoing</a:t>
            </a:r>
          </a:p>
          <a:p>
            <a:r>
              <a:t>- Repeat conversion from each season's Special/Holiday buyers</a:t>
            </a:r>
          </a:p>
          <a:p>
            <a:endParaRPr/>
          </a:p>
          <a:p>
            <a:r>
              <a:t>Fixed Plus ongoing value:</a:t>
            </a:r>
          </a:p>
          <a:p>
            <a:r>
              <a:t>- 90%+ projected renewal rate</a:t>
            </a:r>
          </a:p>
          <a:p>
            <a:r>
              <a:t>- Pathway to higher tiers (Gold, future Platinum)</a:t>
            </a:r>
          </a:p>
          <a:p>
            <a:r>
              <a:t>- Stronger subscriber retention overall</a:t>
            </a:r>
          </a:p>
          <a:p>
            <a:endParaRPr/>
          </a:p>
          <a:p>
            <a:r>
              <a:t>5-YEAR PROJECTION:</a:t>
            </a:r>
          </a:p>
          <a:p>
            <a:r>
              <a:t>Conservative estimate: $550K-750K cumulative impact</a:t>
            </a:r>
          </a:p>
          <a:p>
            <a:r>
              <a:t>- Year 1: $146K</a:t>
            </a:r>
          </a:p>
          <a:p>
            <a:r>
              <a:t>- Years 2-5: Growing as programs mature and CYO pipeline compounds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Section Header</a:t>
            </a:r>
          </a:p>
          <a:p>
            <a:endParaRPr/>
          </a:p>
          <a:p>
            <a:r>
              <a:t>TRANSITION:</a:t>
            </a:r>
          </a:p>
          <a:p>
            <a:r>
              <a:t>"Let me walk you through how we recommend implementing these programs, starting with quick wins and building to full scale."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Implementation Roadmap</a:t>
            </a:r>
          </a:p>
          <a:p>
            <a:endParaRPr/>
          </a:p>
          <a:p>
            <a:r>
              <a:t>PHASE 1 TIMELINE:</a:t>
            </a:r>
          </a:p>
          <a:p>
            <a:r>
              <a:t>"Start at your next Special or Holiday event. All you need is email capability and some signage. This is truly low-effort, high-potential."</a:t>
            </a:r>
          </a:p>
          <a:p>
            <a:endParaRPr/>
          </a:p>
          <a:p>
            <a:r>
              <a:t>PHASE 1 SUCCESS CRITERIA:</a:t>
            </a:r>
          </a:p>
          <a:p>
            <a:r>
              <a:t>- Response rate &gt;15% (expect 20%)</a:t>
            </a:r>
          </a:p>
          <a:p>
            <a:r>
              <a:t>- Redemption rate &gt;5% of responses</a:t>
            </a:r>
          </a:p>
          <a:p>
            <a:r>
              <a:t>- No increase in complaints or confusion</a:t>
            </a:r>
          </a:p>
          <a:p>
            <a:endParaRPr/>
          </a:p>
          <a:p>
            <a:r>
              <a:t>PHASE 2 TIMELINE:</a:t>
            </a:r>
          </a:p>
          <a:p>
            <a:r>
              <a:t>"Launch Fixed Plus at the next subscription renewal cycle. Lead with email to your best prospects - Fixed 6 subscribers who already buy single tickets."</a:t>
            </a:r>
          </a:p>
          <a:p>
            <a:endParaRPr/>
          </a:p>
          <a:p>
            <a:r>
              <a:t>PHASE 2 SUCCESS CRITERIA:</a:t>
            </a:r>
          </a:p>
          <a:p>
            <a:r>
              <a:t>- 100 Fixed Plus subscribers (proof of concept)</a:t>
            </a:r>
          </a:p>
          <a:p>
            <a:r>
              <a:t>- &lt;5% cannibalization of existing single ticket sales</a:t>
            </a:r>
          </a:p>
          <a:p>
            <a:r>
              <a:t>- Positive qualitative feedback</a:t>
            </a:r>
          </a:p>
          <a:p>
            <a:endParaRPr/>
          </a:p>
          <a:p>
            <a:r>
              <a:t>PHASE 3 TIMELINE:</a:t>
            </a:r>
          </a:p>
          <a:p>
            <a:r>
              <a:t>"Once both pilots succeed, scale across the full season. This is when you invest in A/B testing, CRM integration, and benefit delivery infrastructure."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Success Metrics</a:t>
            </a:r>
          </a:p>
          <a:p>
            <a:endParaRPr/>
          </a:p>
          <a:p>
            <a:r>
              <a:t>WHY THESE METRICS:</a:t>
            </a:r>
          </a:p>
          <a:p>
            <a:r>
              <a:t>"We've defined both success targets and red flags. If you're seeing green numbers, accelerate. If you hit a red flag, pause and diagnose before scaling."</a:t>
            </a:r>
          </a:p>
          <a:p>
            <a:endParaRPr/>
          </a:p>
          <a:p>
            <a:r>
              <a:t>MONITORING FREQUENCY:</a:t>
            </a:r>
          </a:p>
          <a:p>
            <a:r>
              <a:t>- Response rate: Daily during pilot</a:t>
            </a:r>
          </a:p>
          <a:p>
            <a:r>
              <a:t>- Redemption: Weekly</a:t>
            </a:r>
          </a:p>
          <a:p>
            <a:r>
              <a:t>- Cannibalization: Monthly comparison to prior year</a:t>
            </a:r>
          </a:p>
          <a:p>
            <a:r>
              <a:t>- Conversion/Retention: Quarterly</a:t>
            </a:r>
          </a:p>
          <a:p>
            <a:endParaRPr/>
          </a:p>
          <a:p>
            <a:r>
              <a:t>KEY DIAGNOSTIC QUESTIONS:</a:t>
            </a:r>
          </a:p>
          <a:p>
            <a:r>
              <a:t>If response rate is low:</a:t>
            </a:r>
          </a:p>
          <a:p>
            <a:r>
              <a:t>- Is the offer clear?</a:t>
            </a:r>
          </a:p>
          <a:p>
            <a:r>
              <a:t>- Is timing right (same-day)?</a:t>
            </a:r>
          </a:p>
          <a:p>
            <a:r>
              <a:t>- Are gateway events compelling?</a:t>
            </a:r>
          </a:p>
          <a:p>
            <a:endParaRPr/>
          </a:p>
          <a:p>
            <a:r>
              <a:t>If cannibalization appears:</a:t>
            </a:r>
          </a:p>
          <a:p>
            <a:r>
              <a:t>- Check if 'new' buyers were actually likely purchasers anyway</a:t>
            </a:r>
          </a:p>
          <a:p>
            <a:r>
              <a:t>- Review full-price sales by week to isolate effect</a:t>
            </a:r>
          </a:p>
          <a:p>
            <a:endParaRPr/>
          </a:p>
          <a:p>
            <a:r>
              <a:t>REPORTING RECOMMENDATION:</a:t>
            </a:r>
          </a:p>
          <a:p>
            <a:r>
              <a:t>"Create a simple dashboard with these 8 metrics. Review weekly with box office and marketing. Monthly summary to leadership."</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Risk Mitigation</a:t>
            </a:r>
          </a:p>
          <a:p>
            <a:endParaRPr/>
          </a:p>
          <a:p>
            <a:r>
              <a:t>THE PRODUCT DIFFERENTIATION PRINCIPLE:</a:t>
            </a:r>
          </a:p>
          <a:p>
            <a:r>
              <a:t>"The critical design choice in both programs is that we're NOT discounting or diluting your core offerings. Classical Add-On creates a new product category. Fixed Plus adds premium value on top of base subscription. In neither case are we training customers to expect less for the same thing."</a:t>
            </a:r>
          </a:p>
          <a:p>
            <a:endParaRPr/>
          </a:p>
          <a:p>
            <a:r>
              <a:t>CANNIBALIZATION RISK IS MINIMAL:</a:t>
            </a:r>
          </a:p>
          <a:p>
            <a:r>
              <a:t>Classical Add-On:</a:t>
            </a:r>
          </a:p>
          <a:p>
            <a:r>
              <a:t>- 80.6% of targets have NEVER bought Classical - they're net new</a:t>
            </a:r>
          </a:p>
          <a:p>
            <a:r>
              <a:t>- The 19.4% who have bought before get incremental tickets, not substitutes</a:t>
            </a:r>
          </a:p>
          <a:p>
            <a:endParaRPr/>
          </a:p>
          <a:p>
            <a:r>
              <a:t>Fixed Plus:</a:t>
            </a:r>
          </a:p>
          <a:p>
            <a:r>
              <a:t>- 57.8% are buying singles anyway - we're bundling, not creating new behavior</a:t>
            </a:r>
          </a:p>
          <a:p>
            <a:r>
              <a:t>- The 10% premium means even if some substitution occurs, revenue is protected</a:t>
            </a:r>
          </a:p>
          <a:p>
            <a:endParaRPr/>
          </a:p>
          <a:p>
            <a:r>
              <a:t>OPERATIONAL RISKS:</a:t>
            </a:r>
          </a:p>
          <a:p>
            <a:r>
              <a:t>- Classical Add-On: Very low (marketing execution only)</a:t>
            </a:r>
          </a:p>
          <a:p>
            <a:r>
              <a:t>- Fixed Plus: Moderate (benefit delivery requires coordination)</a:t>
            </a:r>
          </a:p>
          <a:p>
            <a:endParaRPr/>
          </a:p>
          <a:p>
            <a:r>
              <a:t>MITIGATION: Phase Fixed Plus benefits. Start with easy wins (priority access, recognition) before adding operationally complex benefits (lounge access, pre-concert talks).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Next Steps</a:t>
            </a:r>
          </a:p>
          <a:p>
            <a:endParaRPr/>
          </a:p>
          <a:p>
            <a:r>
              <a:t>DECISION POINT:</a:t>
            </a:r>
          </a:p>
          <a:p>
            <a:r>
              <a:t>"We're asking for approval to proceed with pilots of both programs. Classical Add-On can launch at your next Special or Holiday event. Fixed Plus will launch at the next subscription renewal cycle."</a:t>
            </a:r>
          </a:p>
          <a:p>
            <a:endParaRPr/>
          </a:p>
          <a:p>
            <a:r>
              <a:t>RESOURCE REQUIREMENTS:</a:t>
            </a:r>
          </a:p>
          <a:p>
            <a:r>
              <a:t>Classical Add-On:</a:t>
            </a:r>
          </a:p>
          <a:p>
            <a:r>
              <a:t>- Marketing: 20 hours for creative development</a:t>
            </a:r>
          </a:p>
          <a:p>
            <a:r>
              <a:t>- Box office: 2-hour staff briefing</a:t>
            </a:r>
          </a:p>
          <a:p>
            <a:r>
              <a:t>- Tech: Email automation setup (existing capability)</a:t>
            </a:r>
          </a:p>
          <a:p>
            <a:endParaRPr/>
          </a:p>
          <a:p>
            <a:r>
              <a:t>Fixed Plus:</a:t>
            </a:r>
          </a:p>
          <a:p>
            <a:r>
              <a:t>- Subscriptions: 40 hours for program design and launch</a:t>
            </a:r>
          </a:p>
          <a:p>
            <a:r>
              <a:t>- Operations: Coordination for benefit delivery</a:t>
            </a:r>
          </a:p>
          <a:p>
            <a:r>
              <a:t>- Tech: CRM flag for Fixed Plus members</a:t>
            </a:r>
          </a:p>
          <a:p>
            <a:endParaRPr/>
          </a:p>
          <a:p>
            <a:r>
              <a:t>COST ESTIMATE:</a:t>
            </a:r>
          </a:p>
          <a:p>
            <a:r>
              <a:t>- Classical Add-On pilot: &lt;$5,000 (email + signage)</a:t>
            </a:r>
          </a:p>
          <a:p>
            <a:r>
              <a:t>- Fixed Plus soft launch: &lt;$10,000 (creative + staff time)</a:t>
            </a:r>
          </a:p>
          <a:p>
            <a:r>
              <a:t>- Total investment: &lt;$15,000 for $143,000 projected return</a:t>
            </a:r>
          </a:p>
          <a:p>
            <a:endParaRPr/>
          </a:p>
          <a:p>
            <a:r>
              <a:t>TIMELINE:</a:t>
            </a:r>
          </a:p>
          <a:p>
            <a:r>
              <a:t>"We can have Classical Add-On running within 60 days. Fixed Plus will align with your subscription renewal calendar."</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Key Takeaways</a:t>
            </a:r>
          </a:p>
          <a:p>
            <a:endParaRPr/>
          </a:p>
          <a:p>
            <a:r>
              <a:t>THE 30-SECOND SUMMARY:</a:t>
            </a:r>
          </a:p>
          <a:p>
            <a:r>
              <a:t>"Your audience is shifting toward single ticket buyers who pay more per seat but rarely return. The opportunity is to convert them into subscribers through targeted programs. Our two simulations - Classical Add-On and Fixed Plus - together can generate $146,000 in Year 1 incremental revenue with minimal risk."</a:t>
            </a:r>
          </a:p>
          <a:p>
            <a:endParaRPr/>
          </a:p>
          <a:p>
            <a:r>
              <a:t>IF YOU REMEMBER ONE THING:</a:t>
            </a:r>
          </a:p>
          <a:p>
            <a:r>
              <a:t>"80.6% of your Special and Holiday buyers have never purchased a Classical ticket. That's not a problem - that's an opportunity. The Classical Add-On program bridges that gap."</a:t>
            </a:r>
          </a:p>
          <a:p>
            <a:endParaRPr/>
          </a:p>
          <a:p>
            <a:r>
              <a:t>THE STRATEGIC VISION:</a:t>
            </a:r>
          </a:p>
          <a:p>
            <a:r>
              <a:t>"In 5 years, we want to look back and see that these pilots launched a flywheel: Special/Holiday buyers become Classical attenders, Classical attenders become CYO subscribers, CYO subscribers become your highest-value patrons. These programs plant those seeds."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Closing</a:t>
            </a:r>
          </a:p>
          <a:p>
            <a:endParaRPr/>
          </a:p>
          <a:p>
            <a:r>
              <a:t>ANTICIPATED QUESTIONS:</a:t>
            </a:r>
          </a:p>
          <a:p>
            <a:endParaRPr/>
          </a:p>
          <a:p>
            <a:r>
              <a:t>Q: What if the response rates are lower than projected?</a:t>
            </a:r>
          </a:p>
          <a:p>
            <a:r>
              <a:t>A: We've built in conservative assumptions (20% response for Add-On, 21.5% for Fixed Plus). Even at half these rates, the programs are profitable. Pilots let us calibrate before scale.</a:t>
            </a:r>
          </a:p>
          <a:p>
            <a:endParaRPr/>
          </a:p>
          <a:p>
            <a:r>
              <a:t>Q: Won't discounting train customers to wait for deals?</a:t>
            </a:r>
          </a:p>
          <a:p>
            <a:r>
              <a:t>A: The discounts are explicitly tied to specific behaviors (attending a gateway event). This is reward-based, not promotional pricing. Customers can't access the discount without engaging first.</a:t>
            </a:r>
          </a:p>
          <a:p>
            <a:endParaRPr/>
          </a:p>
          <a:p>
            <a:r>
              <a:t>Q: How does this affect our brand positioning?</a:t>
            </a:r>
          </a:p>
          <a:p>
            <a:r>
              <a:t>A: Both programs reinforce the brand. Classical Add-On says 'We want you to experience more of what we offer.' Fixed Plus says 'You're a valued subscriber and we're investing in your experience.'</a:t>
            </a:r>
          </a:p>
          <a:p>
            <a:endParaRPr/>
          </a:p>
          <a:p>
            <a:r>
              <a:t>Q: What's the cost of implementation?</a:t>
            </a:r>
          </a:p>
          <a:p>
            <a:r>
              <a:t>A: Classical Add-On: &lt;$5,000 for pilot (email, signage). Fixed Plus: &lt;$10,000 (creative, staff time). Total: &lt;$15,000 for projected $146,000 return.</a:t>
            </a:r>
          </a:p>
          <a:p>
            <a:endParaRPr/>
          </a:p>
          <a:p>
            <a:r>
              <a:t>Q: When can we start?</a:t>
            </a:r>
          </a:p>
          <a:p>
            <a:r>
              <a:t>A: Classical Add-On can launch at your next Special or Holiday event. Fixed Plus aligns with subscription renewal cycle.</a:t>
            </a:r>
          </a:p>
          <a:p>
            <a:endParaRPr/>
          </a:p>
          <a:p>
            <a:r>
              <a:t>CLOSING STATEMENT:</a:t>
            </a:r>
          </a:p>
          <a:p>
            <a:r>
              <a:t>"Thank you for your time. We're excited about the opportunity these programs represent and ready to support implementation. What questions do you have?"</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12/4/25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0"/>
            <a:ext cx="9144000" cy="9144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011680"/>
            <a:ext cx="8229600" cy="914400"/>
          </a:xfrm>
          <a:prstGeom prst="rect">
            <a:avLst/>
          </a:prstGeom>
          <a:noFill/>
        </p:spPr>
        <p:txBody>
          <a:bodyPr wrap="none">
            <a:spAutoFit/>
          </a:bodyPr>
          <a:lstStyle/>
          <a:p>
            <a:pPr algn="ctr">
              <a:defRPr sz="4000" b="1">
                <a:solidFill>
                  <a:srgbClr val="FFFFFF"/>
                </a:solidFill>
              </a:defRPr>
            </a:pPr>
            <a:r>
              <a:t>Atlanta Symphony Orchestra</a:t>
            </a:r>
          </a:p>
        </p:txBody>
      </p:sp>
      <p:sp>
        <p:nvSpPr>
          <p:cNvPr id="5" name="TextBox 4"/>
          <p:cNvSpPr txBox="1"/>
          <p:nvPr/>
        </p:nvSpPr>
        <p:spPr>
          <a:xfrm>
            <a:off x="457200" y="3200400"/>
            <a:ext cx="8229600" cy="914400"/>
          </a:xfrm>
          <a:prstGeom prst="rect">
            <a:avLst/>
          </a:prstGeom>
          <a:noFill/>
        </p:spPr>
        <p:txBody>
          <a:bodyPr wrap="none">
            <a:spAutoFit/>
          </a:bodyPr>
          <a:lstStyle/>
          <a:p>
            <a:pPr algn="ctr">
              <a:defRPr sz="2400">
                <a:solidFill>
                  <a:srgbClr val="C5A467"/>
                </a:solidFill>
              </a:defRPr>
            </a:pPr>
            <a:r>
              <a:t>Data Analysis and Pricing Recommendations | December 2024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274320"/>
            <a:ext cx="8412480" cy="640080"/>
          </a:xfrm>
          <a:prstGeom prst="rect">
            <a:avLst/>
          </a:prstGeom>
          <a:noFill/>
        </p:spPr>
        <p:txBody>
          <a:bodyPr wrap="none">
            <a:spAutoFit/>
          </a:bodyPr>
          <a:lstStyle/>
          <a:p>
            <a:pPr>
              <a:defRPr sz="2200" b="1">
                <a:solidFill>
                  <a:srgbClr val="FFFFFF"/>
                </a:solidFill>
              </a:defRPr>
            </a:pPr>
            <a:r>
              <a:t>Agenda: Data-Driven Insights to Optimize Revenue and Engagement</a:t>
            </a:r>
          </a:p>
        </p:txBody>
      </p:sp>
      <p:sp>
        <p:nvSpPr>
          <p:cNvPr id="5" name="TextBox 4"/>
          <p:cNvSpPr txBox="1"/>
          <p:nvPr/>
        </p:nvSpPr>
        <p:spPr>
          <a:xfrm>
            <a:off x="457200" y="1280160"/>
            <a:ext cx="8229600" cy="5029200"/>
          </a:xfrm>
          <a:prstGeom prst="rect">
            <a:avLst/>
          </a:prstGeom>
          <a:noFill/>
        </p:spPr>
        <p:txBody>
          <a:bodyPr wrap="square">
            <a:spAutoFit/>
          </a:bodyPr>
          <a:lstStyle/>
          <a:p>
            <a:pPr>
              <a:spcAft>
                <a:spcPts val="800"/>
              </a:spcAft>
              <a:defRPr sz="1600">
                <a:solidFill>
                  <a:srgbClr val="404040"/>
                </a:solidFill>
              </a:defRPr>
            </a:pPr>
            <a:r>
              <a:t>1. Audience Behavior Analysis</a:t>
            </a:r>
          </a:p>
          <a:p>
            <a:pPr>
              <a:spcAft>
                <a:spcPts val="800"/>
              </a:spcAft>
              <a:defRPr sz="1600">
                <a:solidFill>
                  <a:srgbClr val="404040"/>
                </a:solidFill>
              </a:defRPr>
            </a:pPr>
            <a:r>
              <a:t>     - Subscribers vs. Single Ticket Buyers comparison</a:t>
            </a:r>
          </a:p>
          <a:p>
            <a:pPr>
              <a:spcAft>
                <a:spcPts val="800"/>
              </a:spcAft>
              <a:defRPr sz="1600">
                <a:solidFill>
                  <a:srgbClr val="404040"/>
                </a:solidFill>
              </a:defRPr>
            </a:pPr>
            <a:r>
              <a:t>     - Purchase patterns and timing insights</a:t>
            </a:r>
          </a:p>
          <a:p>
            <a:pPr>
              <a:spcAft>
                <a:spcPts val="800"/>
              </a:spcAft>
              <a:defRPr sz="1600">
                <a:solidFill>
                  <a:srgbClr val="404040"/>
                </a:solidFill>
              </a:defRPr>
            </a:pPr>
            <a:endParaRPr/>
          </a:p>
          <a:p>
            <a:pPr>
              <a:spcAft>
                <a:spcPts val="800"/>
              </a:spcAft>
              <a:defRPr sz="1600">
                <a:solidFill>
                  <a:srgbClr val="404040"/>
                </a:solidFill>
              </a:defRPr>
            </a:pPr>
            <a:r>
              <a:t>2. Revenue Deep Dive</a:t>
            </a:r>
          </a:p>
          <a:p>
            <a:pPr>
              <a:spcAft>
                <a:spcPts val="800"/>
              </a:spcAft>
              <a:defRPr sz="1600">
                <a:solidFill>
                  <a:srgbClr val="404040"/>
                </a:solidFill>
              </a:defRPr>
            </a:pPr>
            <a:r>
              <a:t>     - Revenue generators and subscription economics</a:t>
            </a:r>
          </a:p>
          <a:p>
            <a:pPr>
              <a:spcAft>
                <a:spcPts val="800"/>
              </a:spcAft>
              <a:defRPr sz="1600">
                <a:solidFill>
                  <a:srgbClr val="404040"/>
                </a:solidFill>
              </a:defRPr>
            </a:pPr>
            <a:r>
              <a:t>     - CYO subscriber value analysis</a:t>
            </a:r>
          </a:p>
          <a:p>
            <a:pPr>
              <a:spcAft>
                <a:spcPts val="800"/>
              </a:spcAft>
              <a:defRPr sz="1600">
                <a:solidFill>
                  <a:srgbClr val="404040"/>
                </a:solidFill>
              </a:defRPr>
            </a:pPr>
            <a:endParaRPr/>
          </a:p>
          <a:p>
            <a:pPr>
              <a:spcAft>
                <a:spcPts val="800"/>
              </a:spcAft>
              <a:defRPr sz="1600">
                <a:solidFill>
                  <a:srgbClr val="404040"/>
                </a:solidFill>
              </a:defRPr>
            </a:pPr>
            <a:r>
              <a:t>3. Demand Curve Analysis</a:t>
            </a:r>
          </a:p>
          <a:p>
            <a:pPr>
              <a:spcAft>
                <a:spcPts val="800"/>
              </a:spcAft>
              <a:defRPr sz="1600">
                <a:solidFill>
                  <a:srgbClr val="404040"/>
                </a:solidFill>
              </a:defRPr>
            </a:pPr>
            <a:r>
              <a:t>     - Price elasticity by segment and seat section</a:t>
            </a:r>
          </a:p>
          <a:p>
            <a:pPr>
              <a:spcAft>
                <a:spcPts val="800"/>
              </a:spcAft>
              <a:defRPr sz="1600">
                <a:solidFill>
                  <a:srgbClr val="404040"/>
                </a:solidFill>
              </a:defRPr>
            </a:pPr>
            <a:r>
              <a:t>     - Optimization opportunities</a:t>
            </a:r>
          </a:p>
          <a:p>
            <a:pPr>
              <a:spcAft>
                <a:spcPts val="800"/>
              </a:spcAft>
              <a:defRPr sz="1600">
                <a:solidFill>
                  <a:srgbClr val="404040"/>
                </a:solidFill>
              </a:defRPr>
            </a:pPr>
            <a:endParaRPr/>
          </a:p>
          <a:p>
            <a:pPr>
              <a:spcAft>
                <a:spcPts val="800"/>
              </a:spcAft>
              <a:defRPr sz="1600">
                <a:solidFill>
                  <a:srgbClr val="404040"/>
                </a:solidFill>
              </a:defRPr>
            </a:pPr>
            <a:r>
              <a:t>4. Pricing Simulations and Recommendations</a:t>
            </a:r>
          </a:p>
          <a:p>
            <a:pPr>
              <a:spcAft>
                <a:spcPts val="800"/>
              </a:spcAft>
              <a:defRPr sz="1600">
                <a:solidFill>
                  <a:srgbClr val="404040"/>
                </a:solidFill>
              </a:defRPr>
            </a:pPr>
            <a:r>
              <a:t>     - Classical Add-On Product (targeting Special/Holiday buyers)</a:t>
            </a:r>
          </a:p>
          <a:p>
            <a:pPr>
              <a:spcAft>
                <a:spcPts val="800"/>
              </a:spcAft>
              <a:defRPr sz="1600">
                <a:solidFill>
                  <a:srgbClr val="404040"/>
                </a:solidFill>
              </a:defRPr>
            </a:pPr>
            <a:r>
              <a:t>     - Fixed Plus Premium Program (targeting Fixed 6 subscribers)</a:t>
            </a:r>
          </a:p>
          <a:p>
            <a:pPr>
              <a:spcAft>
                <a:spcPts val="800"/>
              </a:spcAft>
              <a:defRPr sz="1600">
                <a:solidFill>
                  <a:srgbClr val="404040"/>
                </a:solidFill>
              </a:defRPr>
            </a:pPr>
            <a:endParaRPr/>
          </a:p>
          <a:p>
            <a:pPr>
              <a:spcAft>
                <a:spcPts val="800"/>
              </a:spcAft>
              <a:defRPr sz="1600">
                <a:solidFill>
                  <a:srgbClr val="404040"/>
                </a:solidFill>
              </a:defRPr>
            </a:pPr>
            <a:r>
              <a:t>5. Implementation Roadmap and Success Metrics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3108960"/>
            <a:ext cx="886968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560320"/>
            <a:ext cx="8229600" cy="914400"/>
          </a:xfrm>
          <a:prstGeom prst="rect">
            <a:avLst/>
          </a:prstGeom>
          <a:noFill/>
        </p:spPr>
        <p:txBody>
          <a:bodyPr wrap="none">
            <a:spAutoFit/>
          </a:bodyPr>
          <a:lstStyle/>
          <a:p>
            <a:pPr>
              <a:defRPr sz="3600" b="1">
                <a:solidFill>
                  <a:srgbClr val="003366"/>
                </a:solidFill>
              </a:defRPr>
            </a:pPr>
            <a:r>
              <a:t>Section 1: Audience Behavior Analysis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274320"/>
            <a:ext cx="8412480" cy="640080"/>
          </a:xfrm>
          <a:prstGeom prst="rect">
            <a:avLst/>
          </a:prstGeom>
          <a:noFill/>
        </p:spPr>
        <p:txBody>
          <a:bodyPr wrap="none">
            <a:spAutoFit/>
          </a:bodyPr>
          <a:lstStyle/>
          <a:p>
            <a:pPr>
              <a:defRPr sz="2200" b="1">
                <a:solidFill>
                  <a:srgbClr val="FFFFFF"/>
                </a:solidFill>
              </a:defRPr>
            </a:pPr>
            <a:r>
              <a:t>Single ticket buyer growth outpaces subscribers, creating both opportunity and risk</a:t>
            </a:r>
          </a:p>
        </p:txBody>
      </p:sp>
      <p:sp>
        <p:nvSpPr>
          <p:cNvPr id="5" name="Rectangle 4"/>
          <p:cNvSpPr/>
          <p:nvPr/>
        </p:nvSpPr>
        <p:spPr>
          <a:xfrm>
            <a:off x="457200" y="1280160"/>
            <a:ext cx="3931920" cy="4572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Single Ticket Buyers (Growing)</a:t>
            </a:r>
          </a:p>
        </p:txBody>
      </p:sp>
      <p:sp>
        <p:nvSpPr>
          <p:cNvPr id="6" name="TextBox 5"/>
          <p:cNvSpPr txBox="1"/>
          <p:nvPr/>
        </p:nvSpPr>
        <p:spPr>
          <a:xfrm>
            <a:off x="457200" y="1828800"/>
            <a:ext cx="3931920" cy="4114800"/>
          </a:xfrm>
          <a:prstGeom prst="rect">
            <a:avLst/>
          </a:prstGeom>
          <a:noFill/>
        </p:spPr>
        <p:txBody>
          <a:bodyPr wrap="square">
            <a:spAutoFit/>
          </a:bodyPr>
          <a:lstStyle/>
          <a:p>
            <a:pPr>
              <a:spcAft>
                <a:spcPts val="600"/>
              </a:spcAft>
              <a:defRPr sz="1400">
                <a:solidFill>
                  <a:srgbClr val="404040"/>
                </a:solidFill>
              </a:defRPr>
            </a:pPr>
            <a:r>
              <a:t>• FY23 to FY24: +2,796 buyers</a:t>
            </a:r>
          </a:p>
          <a:p>
            <a:pPr>
              <a:spcAft>
                <a:spcPts val="600"/>
              </a:spcAft>
              <a:defRPr sz="1400">
                <a:solidFill>
                  <a:srgbClr val="404040"/>
                </a:solidFill>
              </a:defRPr>
            </a:pPr>
            <a:r>
              <a:t>• Now 30% of total audience</a:t>
            </a:r>
          </a:p>
          <a:p>
            <a:pPr>
              <a:spcAft>
                <a:spcPts val="600"/>
              </a:spcAft>
              <a:defRPr sz="1400">
                <a:solidFill>
                  <a:srgbClr val="404040"/>
                </a:solidFill>
              </a:defRPr>
            </a:pPr>
            <a:r>
              <a:t>• Average ticket price: $59.86</a:t>
            </a:r>
          </a:p>
          <a:p>
            <a:pPr>
              <a:spcAft>
                <a:spcPts val="600"/>
              </a:spcAft>
              <a:defRPr sz="1400">
                <a:solidFill>
                  <a:srgbClr val="404040"/>
                </a:solidFill>
              </a:defRPr>
            </a:pPr>
            <a:r>
              <a:t>• Purchase 17 days before event</a:t>
            </a:r>
          </a:p>
          <a:p>
            <a:pPr>
              <a:spcAft>
                <a:spcPts val="600"/>
              </a:spcAft>
              <a:defRPr sz="1400">
                <a:solidFill>
                  <a:srgbClr val="404040"/>
                </a:solidFill>
              </a:defRPr>
            </a:pPr>
            <a:r>
              <a:t>• 80% attend only once</a:t>
            </a:r>
          </a:p>
          <a:p>
            <a:pPr>
              <a:spcAft>
                <a:spcPts val="600"/>
              </a:spcAft>
              <a:defRPr sz="1400">
                <a:solidFill>
                  <a:srgbClr val="404040"/>
                </a:solidFill>
              </a:defRPr>
            </a:pPr>
            <a:r>
              <a:t>• Huge growth in Holiday, Special, Delta Series</a:t>
            </a:r>
          </a:p>
        </p:txBody>
      </p:sp>
      <p:sp>
        <p:nvSpPr>
          <p:cNvPr id="7" name="Rectangle 6"/>
          <p:cNvSpPr/>
          <p:nvPr/>
        </p:nvSpPr>
        <p:spPr>
          <a:xfrm>
            <a:off x="4754880" y="1280160"/>
            <a:ext cx="3931920" cy="457200"/>
          </a:xfrm>
          <a:prstGeom prst="rect">
            <a:avLst/>
          </a:prstGeom>
          <a:solidFill>
            <a:srgbClr val="0F9D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Subscribers (Declining)</a:t>
            </a:r>
          </a:p>
        </p:txBody>
      </p:sp>
      <p:sp>
        <p:nvSpPr>
          <p:cNvPr id="8" name="TextBox 7"/>
          <p:cNvSpPr txBox="1"/>
          <p:nvPr/>
        </p:nvSpPr>
        <p:spPr>
          <a:xfrm>
            <a:off x="4754880" y="1828800"/>
            <a:ext cx="3931920" cy="4114800"/>
          </a:xfrm>
          <a:prstGeom prst="rect">
            <a:avLst/>
          </a:prstGeom>
          <a:noFill/>
        </p:spPr>
        <p:txBody>
          <a:bodyPr wrap="square">
            <a:spAutoFit/>
          </a:bodyPr>
          <a:lstStyle/>
          <a:p>
            <a:pPr>
              <a:spcAft>
                <a:spcPts val="600"/>
              </a:spcAft>
              <a:defRPr sz="1400">
                <a:solidFill>
                  <a:srgbClr val="404040"/>
                </a:solidFill>
              </a:defRPr>
            </a:pPr>
            <a:r>
              <a:t>• FY23 to FY24: -67 subscribers</a:t>
            </a:r>
          </a:p>
          <a:p>
            <a:pPr>
              <a:spcAft>
                <a:spcPts val="600"/>
              </a:spcAft>
              <a:defRPr sz="1400">
                <a:solidFill>
                  <a:srgbClr val="404040"/>
                </a:solidFill>
              </a:defRPr>
            </a:pPr>
            <a:r>
              <a:t>• Average ticket price: $51.02</a:t>
            </a:r>
          </a:p>
          <a:p>
            <a:pPr>
              <a:spcAft>
                <a:spcPts val="600"/>
              </a:spcAft>
              <a:defRPr sz="1400">
                <a:solidFill>
                  <a:srgbClr val="404040"/>
                </a:solidFill>
              </a:defRPr>
            </a:pPr>
            <a:r>
              <a:t>• Purchase 2+ months in advance</a:t>
            </a:r>
          </a:p>
          <a:p>
            <a:pPr>
              <a:spcAft>
                <a:spcPts val="600"/>
              </a:spcAft>
              <a:defRPr sz="1400">
                <a:solidFill>
                  <a:srgbClr val="404040"/>
                </a:solidFill>
              </a:defRPr>
            </a:pPr>
            <a:r>
              <a:t>• 85% renewal rate (established)</a:t>
            </a:r>
          </a:p>
          <a:p>
            <a:pPr>
              <a:spcAft>
                <a:spcPts val="600"/>
              </a:spcAft>
              <a:defRPr sz="1400">
                <a:solidFill>
                  <a:srgbClr val="404040"/>
                </a:solidFill>
              </a:defRPr>
            </a:pPr>
            <a:r>
              <a:t>• 57% of subscribers buy add-on tickets</a:t>
            </a:r>
          </a:p>
          <a:p>
            <a:pPr>
              <a:spcAft>
                <a:spcPts val="600"/>
              </a:spcAft>
              <a:defRPr sz="1400">
                <a:solidFill>
                  <a:srgbClr val="404040"/>
                </a:solidFill>
              </a:defRPr>
            </a:pPr>
            <a:r>
              <a:t>• Average subscriber age: 63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274320"/>
            <a:ext cx="8412480" cy="640080"/>
          </a:xfrm>
          <a:prstGeom prst="rect">
            <a:avLst/>
          </a:prstGeom>
          <a:noFill/>
        </p:spPr>
        <p:txBody>
          <a:bodyPr wrap="none">
            <a:spAutoFit/>
          </a:bodyPr>
          <a:lstStyle/>
          <a:p>
            <a:pPr>
              <a:defRPr sz="2200" b="1">
                <a:solidFill>
                  <a:srgbClr val="FFFFFF"/>
                </a:solidFill>
              </a:defRPr>
            </a:pPr>
            <a:r>
              <a:t>Single ticket buyers purchase late, attend selectively, and rarely return</a:t>
            </a:r>
          </a:p>
        </p:txBody>
      </p:sp>
      <p:sp>
        <p:nvSpPr>
          <p:cNvPr id="5" name="Rounded Rectangle 4"/>
          <p:cNvSpPr/>
          <p:nvPr/>
        </p:nvSpPr>
        <p:spPr>
          <a:xfrm>
            <a:off x="457200" y="1645920"/>
            <a:ext cx="2560320" cy="2011680"/>
          </a:xfrm>
          <a:prstGeom prst="roundRect">
            <a:avLst/>
          </a:prstGeom>
          <a:solidFill>
            <a:srgbClr val="F5F5FA"/>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828800"/>
            <a:ext cx="2560320" cy="731520"/>
          </a:xfrm>
          <a:prstGeom prst="rect">
            <a:avLst/>
          </a:prstGeom>
          <a:noFill/>
        </p:spPr>
        <p:txBody>
          <a:bodyPr wrap="none">
            <a:spAutoFit/>
          </a:bodyPr>
          <a:lstStyle/>
          <a:p>
            <a:pPr algn="ctr">
              <a:defRPr sz="3200" b="1">
                <a:solidFill>
                  <a:srgbClr val="4285F4"/>
                </a:solidFill>
              </a:defRPr>
            </a:pPr>
            <a:r>
              <a:t>17 days</a:t>
            </a:r>
          </a:p>
        </p:txBody>
      </p:sp>
      <p:sp>
        <p:nvSpPr>
          <p:cNvPr id="7" name="TextBox 6"/>
          <p:cNvSpPr txBox="1"/>
          <p:nvPr/>
        </p:nvSpPr>
        <p:spPr>
          <a:xfrm>
            <a:off x="457200" y="2560320"/>
            <a:ext cx="2560320" cy="914400"/>
          </a:xfrm>
          <a:prstGeom prst="rect">
            <a:avLst/>
          </a:prstGeom>
          <a:noFill/>
        </p:spPr>
        <p:txBody>
          <a:bodyPr wrap="square">
            <a:spAutoFit/>
          </a:bodyPr>
          <a:lstStyle/>
          <a:p>
            <a:pPr algn="ctr">
              <a:defRPr sz="1200">
                <a:solidFill>
                  <a:srgbClr val="404040"/>
                </a:solidFill>
              </a:defRPr>
            </a:pPr>
            <a:r>
              <a:t>Average purchase lead time before event</a:t>
            </a:r>
          </a:p>
        </p:txBody>
      </p:sp>
      <p:sp>
        <p:nvSpPr>
          <p:cNvPr id="8" name="Rounded Rectangle 7"/>
          <p:cNvSpPr/>
          <p:nvPr/>
        </p:nvSpPr>
        <p:spPr>
          <a:xfrm>
            <a:off x="3291840" y="1645920"/>
            <a:ext cx="2560320" cy="2011680"/>
          </a:xfrm>
          <a:prstGeom prst="roundRect">
            <a:avLst/>
          </a:prstGeom>
          <a:solidFill>
            <a:srgbClr val="F5F5FA"/>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91840" y="1828800"/>
            <a:ext cx="2560320" cy="731520"/>
          </a:xfrm>
          <a:prstGeom prst="rect">
            <a:avLst/>
          </a:prstGeom>
          <a:noFill/>
        </p:spPr>
        <p:txBody>
          <a:bodyPr wrap="none">
            <a:spAutoFit/>
          </a:bodyPr>
          <a:lstStyle/>
          <a:p>
            <a:pPr algn="ctr">
              <a:defRPr sz="3200" b="1">
                <a:solidFill>
                  <a:srgbClr val="DB4437"/>
                </a:solidFill>
              </a:defRPr>
            </a:pPr>
            <a:r>
              <a:t>80%</a:t>
            </a:r>
          </a:p>
        </p:txBody>
      </p:sp>
      <p:sp>
        <p:nvSpPr>
          <p:cNvPr id="10" name="TextBox 9"/>
          <p:cNvSpPr txBox="1"/>
          <p:nvPr/>
        </p:nvSpPr>
        <p:spPr>
          <a:xfrm>
            <a:off x="3291840" y="2560320"/>
            <a:ext cx="2560320" cy="914400"/>
          </a:xfrm>
          <a:prstGeom prst="rect">
            <a:avLst/>
          </a:prstGeom>
          <a:noFill/>
        </p:spPr>
        <p:txBody>
          <a:bodyPr wrap="square">
            <a:spAutoFit/>
          </a:bodyPr>
          <a:lstStyle/>
          <a:p>
            <a:pPr algn="ctr">
              <a:defRPr sz="1200">
                <a:solidFill>
                  <a:srgbClr val="404040"/>
                </a:solidFill>
              </a:defRPr>
            </a:pPr>
            <a:r>
              <a:t>Attend only one event per season</a:t>
            </a:r>
          </a:p>
        </p:txBody>
      </p:sp>
      <p:sp>
        <p:nvSpPr>
          <p:cNvPr id="11" name="Rounded Rectangle 10"/>
          <p:cNvSpPr/>
          <p:nvPr/>
        </p:nvSpPr>
        <p:spPr>
          <a:xfrm>
            <a:off x="6126480" y="1645920"/>
            <a:ext cx="2560320" cy="2011680"/>
          </a:xfrm>
          <a:prstGeom prst="roundRect">
            <a:avLst/>
          </a:prstGeom>
          <a:solidFill>
            <a:srgbClr val="F5F5FA"/>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26480" y="1828800"/>
            <a:ext cx="2560320" cy="731520"/>
          </a:xfrm>
          <a:prstGeom prst="rect">
            <a:avLst/>
          </a:prstGeom>
          <a:noFill/>
        </p:spPr>
        <p:txBody>
          <a:bodyPr wrap="none">
            <a:spAutoFit/>
          </a:bodyPr>
          <a:lstStyle/>
          <a:p>
            <a:pPr algn="ctr">
              <a:defRPr sz="3200" b="1">
                <a:solidFill>
                  <a:srgbClr val="0F9D58"/>
                </a:solidFill>
              </a:defRPr>
            </a:pPr>
            <a:r>
              <a:t>$59.86</a:t>
            </a:r>
          </a:p>
        </p:txBody>
      </p:sp>
      <p:sp>
        <p:nvSpPr>
          <p:cNvPr id="13" name="TextBox 12"/>
          <p:cNvSpPr txBox="1"/>
          <p:nvPr/>
        </p:nvSpPr>
        <p:spPr>
          <a:xfrm>
            <a:off x="6126480" y="2560320"/>
            <a:ext cx="2560320" cy="914400"/>
          </a:xfrm>
          <a:prstGeom prst="rect">
            <a:avLst/>
          </a:prstGeom>
          <a:noFill/>
        </p:spPr>
        <p:txBody>
          <a:bodyPr wrap="square">
            <a:spAutoFit/>
          </a:bodyPr>
          <a:lstStyle/>
          <a:p>
            <a:pPr algn="ctr">
              <a:defRPr sz="1200">
                <a:solidFill>
                  <a:srgbClr val="404040"/>
                </a:solidFill>
              </a:defRPr>
            </a:pPr>
            <a:r>
              <a:t>Average ticket price (17% above subscribers)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274320"/>
            <a:ext cx="8412480" cy="640080"/>
          </a:xfrm>
          <a:prstGeom prst="rect">
            <a:avLst/>
          </a:prstGeom>
          <a:noFill/>
        </p:spPr>
        <p:txBody>
          <a:bodyPr wrap="none">
            <a:spAutoFit/>
          </a:bodyPr>
          <a:lstStyle/>
          <a:p>
            <a:pPr>
              <a:defRPr sz="2200" b="1">
                <a:solidFill>
                  <a:srgbClr val="FFFFFF"/>
                </a:solidFill>
              </a:defRPr>
            </a:pPr>
            <a:r>
              <a:t>Subscribers are highly engaged beyond their subscription: 57% purchase add-on tickets</a:t>
            </a:r>
          </a:p>
        </p:txBody>
      </p:sp>
      <p:sp>
        <p:nvSpPr>
          <p:cNvPr id="5" name="Rounded Rectangle 4"/>
          <p:cNvSpPr/>
          <p:nvPr/>
        </p:nvSpPr>
        <p:spPr>
          <a:xfrm>
            <a:off x="457200" y="1645920"/>
            <a:ext cx="2560320" cy="2011680"/>
          </a:xfrm>
          <a:prstGeom prst="roundRect">
            <a:avLst/>
          </a:prstGeom>
          <a:solidFill>
            <a:srgbClr val="F5F5FA"/>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828800"/>
            <a:ext cx="2560320" cy="731520"/>
          </a:xfrm>
          <a:prstGeom prst="rect">
            <a:avLst/>
          </a:prstGeom>
          <a:noFill/>
        </p:spPr>
        <p:txBody>
          <a:bodyPr wrap="none">
            <a:spAutoFit/>
          </a:bodyPr>
          <a:lstStyle/>
          <a:p>
            <a:pPr algn="ctr">
              <a:defRPr sz="3200" b="1">
                <a:solidFill>
                  <a:srgbClr val="003366"/>
                </a:solidFill>
              </a:defRPr>
            </a:pPr>
            <a:r>
              <a:t>57%</a:t>
            </a:r>
          </a:p>
        </p:txBody>
      </p:sp>
      <p:sp>
        <p:nvSpPr>
          <p:cNvPr id="7" name="TextBox 6"/>
          <p:cNvSpPr txBox="1"/>
          <p:nvPr/>
        </p:nvSpPr>
        <p:spPr>
          <a:xfrm>
            <a:off x="457200" y="2560320"/>
            <a:ext cx="2560320" cy="914400"/>
          </a:xfrm>
          <a:prstGeom prst="rect">
            <a:avLst/>
          </a:prstGeom>
          <a:noFill/>
        </p:spPr>
        <p:txBody>
          <a:bodyPr wrap="square">
            <a:spAutoFit/>
          </a:bodyPr>
          <a:lstStyle/>
          <a:p>
            <a:pPr algn="ctr">
              <a:defRPr sz="1200">
                <a:solidFill>
                  <a:srgbClr val="404040"/>
                </a:solidFill>
              </a:defRPr>
            </a:pPr>
            <a:r>
              <a:t>of subscribers buy at least one add-on single ticket</a:t>
            </a:r>
          </a:p>
        </p:txBody>
      </p:sp>
      <p:sp>
        <p:nvSpPr>
          <p:cNvPr id="8" name="Rounded Rectangle 7"/>
          <p:cNvSpPr/>
          <p:nvPr/>
        </p:nvSpPr>
        <p:spPr>
          <a:xfrm>
            <a:off x="3291840" y="1645920"/>
            <a:ext cx="2560320" cy="2011680"/>
          </a:xfrm>
          <a:prstGeom prst="roundRect">
            <a:avLst/>
          </a:prstGeom>
          <a:solidFill>
            <a:srgbClr val="F5F5FA"/>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91840" y="1828800"/>
            <a:ext cx="2560320" cy="731520"/>
          </a:xfrm>
          <a:prstGeom prst="rect">
            <a:avLst/>
          </a:prstGeom>
          <a:noFill/>
        </p:spPr>
        <p:txBody>
          <a:bodyPr wrap="none">
            <a:spAutoFit/>
          </a:bodyPr>
          <a:lstStyle/>
          <a:p>
            <a:pPr algn="ctr">
              <a:defRPr sz="3200" b="1">
                <a:solidFill>
                  <a:srgbClr val="4285F4"/>
                </a:solidFill>
              </a:defRPr>
            </a:pPr>
            <a:r>
              <a:t>4</a:t>
            </a:r>
          </a:p>
        </p:txBody>
      </p:sp>
      <p:sp>
        <p:nvSpPr>
          <p:cNvPr id="10" name="TextBox 9"/>
          <p:cNvSpPr txBox="1"/>
          <p:nvPr/>
        </p:nvSpPr>
        <p:spPr>
          <a:xfrm>
            <a:off x="3291840" y="2560320"/>
            <a:ext cx="2560320" cy="914400"/>
          </a:xfrm>
          <a:prstGeom prst="rect">
            <a:avLst/>
          </a:prstGeom>
          <a:noFill/>
        </p:spPr>
        <p:txBody>
          <a:bodyPr wrap="square">
            <a:spAutoFit/>
          </a:bodyPr>
          <a:lstStyle/>
          <a:p>
            <a:pPr algn="ctr">
              <a:defRPr sz="1200">
                <a:solidFill>
                  <a:srgbClr val="404040"/>
                </a:solidFill>
              </a:defRPr>
            </a:pPr>
            <a:r>
              <a:t>average add-on tickets purchased per buyer</a:t>
            </a:r>
          </a:p>
        </p:txBody>
      </p:sp>
      <p:sp>
        <p:nvSpPr>
          <p:cNvPr id="11" name="Rounded Rectangle 10"/>
          <p:cNvSpPr/>
          <p:nvPr/>
        </p:nvSpPr>
        <p:spPr>
          <a:xfrm>
            <a:off x="6126480" y="1645920"/>
            <a:ext cx="2560320" cy="2011680"/>
          </a:xfrm>
          <a:prstGeom prst="roundRect">
            <a:avLst/>
          </a:prstGeom>
          <a:solidFill>
            <a:srgbClr val="F5F5FA"/>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26480" y="1828800"/>
            <a:ext cx="2560320" cy="731520"/>
          </a:xfrm>
          <a:prstGeom prst="rect">
            <a:avLst/>
          </a:prstGeom>
          <a:noFill/>
        </p:spPr>
        <p:txBody>
          <a:bodyPr wrap="none">
            <a:spAutoFit/>
          </a:bodyPr>
          <a:lstStyle/>
          <a:p>
            <a:pPr algn="ctr">
              <a:defRPr sz="3200" b="1">
                <a:solidFill>
                  <a:srgbClr val="0F9D58"/>
                </a:solidFill>
              </a:defRPr>
            </a:pPr>
            <a:r>
              <a:t>$355</a:t>
            </a:r>
          </a:p>
        </p:txBody>
      </p:sp>
      <p:sp>
        <p:nvSpPr>
          <p:cNvPr id="13" name="TextBox 12"/>
          <p:cNvSpPr txBox="1"/>
          <p:nvPr/>
        </p:nvSpPr>
        <p:spPr>
          <a:xfrm>
            <a:off x="6126480" y="2560320"/>
            <a:ext cx="2560320" cy="914400"/>
          </a:xfrm>
          <a:prstGeom prst="rect">
            <a:avLst/>
          </a:prstGeom>
          <a:noFill/>
        </p:spPr>
        <p:txBody>
          <a:bodyPr wrap="square">
            <a:spAutoFit/>
          </a:bodyPr>
          <a:lstStyle/>
          <a:p>
            <a:pPr algn="ctr">
              <a:defRPr sz="1200">
                <a:solidFill>
                  <a:srgbClr val="404040"/>
                </a:solidFill>
              </a:defRPr>
            </a:pPr>
            <a:r>
              <a:t>average single ticket revenue per subscriber buyer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3108960"/>
            <a:ext cx="886968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560320"/>
            <a:ext cx="8229600" cy="914400"/>
          </a:xfrm>
          <a:prstGeom prst="rect">
            <a:avLst/>
          </a:prstGeom>
          <a:noFill/>
        </p:spPr>
        <p:txBody>
          <a:bodyPr wrap="none">
            <a:spAutoFit/>
          </a:bodyPr>
          <a:lstStyle/>
          <a:p>
            <a:pPr>
              <a:defRPr sz="3600" b="1">
                <a:solidFill>
                  <a:srgbClr val="003366"/>
                </a:solidFill>
              </a:defRPr>
            </a:pPr>
            <a:r>
              <a:t>Section 2: Revenue Generators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274320"/>
            <a:ext cx="8412480" cy="640080"/>
          </a:xfrm>
          <a:prstGeom prst="rect">
            <a:avLst/>
          </a:prstGeom>
          <a:noFill/>
        </p:spPr>
        <p:txBody>
          <a:bodyPr wrap="none">
            <a:spAutoFit/>
          </a:bodyPr>
          <a:lstStyle/>
          <a:p>
            <a:pPr>
              <a:defRPr sz="2200" b="1">
                <a:solidFill>
                  <a:srgbClr val="FFFFFF"/>
                </a:solidFill>
              </a:defRPr>
            </a:pPr>
            <a:r>
              <a:t>Subscription revenue provides stability, but single ticket revenue drives growth potential</a:t>
            </a:r>
          </a:p>
        </p:txBody>
      </p:sp>
      <p:graphicFrame>
        <p:nvGraphicFramePr>
          <p:cNvPr id="5" name="Table 4"/>
          <p:cNvGraphicFramePr>
            <a:graphicFrameLocks noGrp="1"/>
          </p:cNvGraphicFramePr>
          <p:nvPr/>
        </p:nvGraphicFramePr>
        <p:xfrm>
          <a:off x="685800" y="1371600"/>
          <a:ext cx="7772400" cy="1828800"/>
        </p:xfrm>
        <a:graphic>
          <a:graphicData uri="http://schemas.openxmlformats.org/drawingml/2006/table">
            <a:tbl>
              <a:tblPr firstRow="1" bandRow="1">
                <a:tableStyleId>{5C22544A-7EE6-4342-B048-85BDC9FD1C3A}</a:tableStyleId>
              </a:tblPr>
              <a:tblGrid>
                <a:gridCol w="1943100">
                  <a:extLst>
                    <a:ext uri="{9D8B030D-6E8A-4147-A177-3AD203B41FA5}">
                      <a16:colId xmlns:a16="http://schemas.microsoft.com/office/drawing/2014/main" val="20000"/>
                    </a:ext>
                  </a:extLst>
                </a:gridCol>
                <a:gridCol w="1943100">
                  <a:extLst>
                    <a:ext uri="{9D8B030D-6E8A-4147-A177-3AD203B41FA5}">
                      <a16:colId xmlns:a16="http://schemas.microsoft.com/office/drawing/2014/main" val="20001"/>
                    </a:ext>
                  </a:extLst>
                </a:gridCol>
                <a:gridCol w="1943100">
                  <a:extLst>
                    <a:ext uri="{9D8B030D-6E8A-4147-A177-3AD203B41FA5}">
                      <a16:colId xmlns:a16="http://schemas.microsoft.com/office/drawing/2014/main" val="20002"/>
                    </a:ext>
                  </a:extLst>
                </a:gridCol>
                <a:gridCol w="1943100">
                  <a:extLst>
                    <a:ext uri="{9D8B030D-6E8A-4147-A177-3AD203B41FA5}">
                      <a16:colId xmlns:a16="http://schemas.microsoft.com/office/drawing/2014/main" val="20003"/>
                    </a:ext>
                  </a:extLst>
                </a:gridCol>
              </a:tblGrid>
              <a:tr h="365760">
                <a:tc>
                  <a:txBody>
                    <a:bodyPr/>
                    <a:lstStyle/>
                    <a:p>
                      <a:pPr>
                        <a:defRPr sz="1200" b="1">
                          <a:solidFill>
                            <a:srgbClr val="FFFFFF"/>
                          </a:solidFill>
                        </a:defRPr>
                      </a:pPr>
                      <a:r>
                        <a:t>Revenue Source</a:t>
                      </a:r>
                    </a:p>
                  </a:txBody>
                  <a:tcPr>
                    <a:solidFill>
                      <a:srgbClr val="003366"/>
                    </a:solidFill>
                  </a:tcPr>
                </a:tc>
                <a:tc>
                  <a:txBody>
                    <a:bodyPr/>
                    <a:lstStyle/>
                    <a:p>
                      <a:pPr>
                        <a:defRPr sz="1200" b="1">
                          <a:solidFill>
                            <a:srgbClr val="FFFFFF"/>
                          </a:solidFill>
                        </a:defRPr>
                      </a:pPr>
                      <a:r>
                        <a:t>FY23</a:t>
                      </a:r>
                    </a:p>
                  </a:txBody>
                  <a:tcPr>
                    <a:solidFill>
                      <a:srgbClr val="003366"/>
                    </a:solidFill>
                  </a:tcPr>
                </a:tc>
                <a:tc>
                  <a:txBody>
                    <a:bodyPr/>
                    <a:lstStyle/>
                    <a:p>
                      <a:pPr>
                        <a:defRPr sz="1200" b="1">
                          <a:solidFill>
                            <a:srgbClr val="FFFFFF"/>
                          </a:solidFill>
                        </a:defRPr>
                      </a:pPr>
                      <a:r>
                        <a:t>FY24</a:t>
                      </a:r>
                    </a:p>
                  </a:txBody>
                  <a:tcPr>
                    <a:solidFill>
                      <a:srgbClr val="003366"/>
                    </a:solidFill>
                  </a:tcPr>
                </a:tc>
                <a:tc>
                  <a:txBody>
                    <a:bodyPr/>
                    <a:lstStyle/>
                    <a:p>
                      <a:pPr>
                        <a:defRPr sz="1200" b="1">
                          <a:solidFill>
                            <a:srgbClr val="FFFFFF"/>
                          </a:solidFill>
                        </a:defRPr>
                      </a:pPr>
                      <a:r>
                        <a:t>Change</a:t>
                      </a:r>
                    </a:p>
                  </a:txBody>
                  <a:tcPr>
                    <a:solidFill>
                      <a:srgbClr val="003366"/>
                    </a:solidFill>
                  </a:tcPr>
                </a:tc>
                <a:extLst>
                  <a:ext uri="{0D108BD9-81ED-4DB2-BD59-A6C34878D82A}">
                    <a16:rowId xmlns:a16="http://schemas.microsoft.com/office/drawing/2014/main" val="10000"/>
                  </a:ext>
                </a:extLst>
              </a:tr>
              <a:tr h="365760">
                <a:tc>
                  <a:txBody>
                    <a:bodyPr/>
                    <a:lstStyle/>
                    <a:p>
                      <a:pPr>
                        <a:defRPr sz="1100">
                          <a:solidFill>
                            <a:srgbClr val="404040"/>
                          </a:solidFill>
                        </a:defRPr>
                      </a:pPr>
                      <a:r>
                        <a:t>Subscription Revenue</a:t>
                      </a:r>
                    </a:p>
                  </a:txBody>
                  <a:tcPr/>
                </a:tc>
                <a:tc>
                  <a:txBody>
                    <a:bodyPr/>
                    <a:lstStyle/>
                    <a:p>
                      <a:pPr>
                        <a:defRPr sz="1100">
                          <a:solidFill>
                            <a:srgbClr val="404040"/>
                          </a:solidFill>
                        </a:defRPr>
                      </a:pPr>
                      <a:r>
                        <a:t>$3.8M</a:t>
                      </a:r>
                    </a:p>
                  </a:txBody>
                  <a:tcPr/>
                </a:tc>
                <a:tc>
                  <a:txBody>
                    <a:bodyPr/>
                    <a:lstStyle/>
                    <a:p>
                      <a:pPr>
                        <a:defRPr sz="1100">
                          <a:solidFill>
                            <a:srgbClr val="404040"/>
                          </a:solidFill>
                        </a:defRPr>
                      </a:pPr>
                      <a:r>
                        <a:t>$3.7M</a:t>
                      </a:r>
                    </a:p>
                  </a:txBody>
                  <a:tcPr/>
                </a:tc>
                <a:tc>
                  <a:txBody>
                    <a:bodyPr/>
                    <a:lstStyle/>
                    <a:p>
                      <a:pPr>
                        <a:defRPr sz="1100">
                          <a:solidFill>
                            <a:srgbClr val="404040"/>
                          </a:solidFill>
                        </a:defRPr>
                      </a:pPr>
                      <a:r>
                        <a:t>-2.6%</a:t>
                      </a:r>
                    </a:p>
                  </a:txBody>
                  <a:tcPr/>
                </a:tc>
                <a:extLst>
                  <a:ext uri="{0D108BD9-81ED-4DB2-BD59-A6C34878D82A}">
                    <a16:rowId xmlns:a16="http://schemas.microsoft.com/office/drawing/2014/main" val="10001"/>
                  </a:ext>
                </a:extLst>
              </a:tr>
              <a:tr h="365760">
                <a:tc>
                  <a:txBody>
                    <a:bodyPr/>
                    <a:lstStyle/>
                    <a:p>
                      <a:pPr>
                        <a:defRPr sz="1100">
                          <a:solidFill>
                            <a:srgbClr val="404040"/>
                          </a:solidFill>
                        </a:defRPr>
                      </a:pPr>
                      <a:r>
                        <a:t>Single Ticket Revenue</a:t>
                      </a:r>
                    </a:p>
                  </a:txBody>
                  <a:tcPr/>
                </a:tc>
                <a:tc>
                  <a:txBody>
                    <a:bodyPr/>
                    <a:lstStyle/>
                    <a:p>
                      <a:pPr>
                        <a:defRPr sz="1100">
                          <a:solidFill>
                            <a:srgbClr val="404040"/>
                          </a:solidFill>
                        </a:defRPr>
                      </a:pPr>
                      <a:r>
                        <a:t>$2.1M</a:t>
                      </a:r>
                    </a:p>
                  </a:txBody>
                  <a:tcPr/>
                </a:tc>
                <a:tc>
                  <a:txBody>
                    <a:bodyPr/>
                    <a:lstStyle/>
                    <a:p>
                      <a:pPr>
                        <a:defRPr sz="1100">
                          <a:solidFill>
                            <a:srgbClr val="404040"/>
                          </a:solidFill>
                        </a:defRPr>
                      </a:pPr>
                      <a:r>
                        <a:t>$2.4M</a:t>
                      </a:r>
                    </a:p>
                  </a:txBody>
                  <a:tcPr/>
                </a:tc>
                <a:tc>
                  <a:txBody>
                    <a:bodyPr/>
                    <a:lstStyle/>
                    <a:p>
                      <a:pPr>
                        <a:defRPr sz="1100">
                          <a:solidFill>
                            <a:srgbClr val="404040"/>
                          </a:solidFill>
                        </a:defRPr>
                      </a:pPr>
                      <a:r>
                        <a:t>+14.3%</a:t>
                      </a:r>
                    </a:p>
                  </a:txBody>
                  <a:tcPr/>
                </a:tc>
                <a:extLst>
                  <a:ext uri="{0D108BD9-81ED-4DB2-BD59-A6C34878D82A}">
                    <a16:rowId xmlns:a16="http://schemas.microsoft.com/office/drawing/2014/main" val="10002"/>
                  </a:ext>
                </a:extLst>
              </a:tr>
              <a:tr h="365760">
                <a:tc>
                  <a:txBody>
                    <a:bodyPr/>
                    <a:lstStyle/>
                    <a:p>
                      <a:pPr>
                        <a:defRPr sz="1100">
                          <a:solidFill>
                            <a:srgbClr val="404040"/>
                          </a:solidFill>
                        </a:defRPr>
                      </a:pPr>
                      <a:r>
                        <a:t>Total Ticket Revenue</a:t>
                      </a:r>
                    </a:p>
                  </a:txBody>
                  <a:tcPr/>
                </a:tc>
                <a:tc>
                  <a:txBody>
                    <a:bodyPr/>
                    <a:lstStyle/>
                    <a:p>
                      <a:pPr>
                        <a:defRPr sz="1100">
                          <a:solidFill>
                            <a:srgbClr val="404040"/>
                          </a:solidFill>
                        </a:defRPr>
                      </a:pPr>
                      <a:r>
                        <a:t>$5.9M</a:t>
                      </a:r>
                    </a:p>
                  </a:txBody>
                  <a:tcPr/>
                </a:tc>
                <a:tc>
                  <a:txBody>
                    <a:bodyPr/>
                    <a:lstStyle/>
                    <a:p>
                      <a:pPr>
                        <a:defRPr sz="1100">
                          <a:solidFill>
                            <a:srgbClr val="404040"/>
                          </a:solidFill>
                        </a:defRPr>
                      </a:pPr>
                      <a:r>
                        <a:t>$6.1M</a:t>
                      </a:r>
                    </a:p>
                  </a:txBody>
                  <a:tcPr/>
                </a:tc>
                <a:tc>
                  <a:txBody>
                    <a:bodyPr/>
                    <a:lstStyle/>
                    <a:p>
                      <a:pPr>
                        <a:defRPr sz="1100">
                          <a:solidFill>
                            <a:srgbClr val="404040"/>
                          </a:solidFill>
                        </a:defRPr>
                      </a:pPr>
                      <a:r>
                        <a:t>+3.4%</a:t>
                      </a:r>
                    </a:p>
                  </a:txBody>
                  <a:tcPr/>
                </a:tc>
                <a:extLst>
                  <a:ext uri="{0D108BD9-81ED-4DB2-BD59-A6C34878D82A}">
                    <a16:rowId xmlns:a16="http://schemas.microsoft.com/office/drawing/2014/main" val="10003"/>
                  </a:ext>
                </a:extLst>
              </a:tr>
              <a:tr h="365760">
                <a:tc>
                  <a:txBody>
                    <a:bodyPr/>
                    <a:lstStyle/>
                    <a:p>
                      <a:pPr>
                        <a:defRPr sz="1100">
                          <a:solidFill>
                            <a:srgbClr val="404040"/>
                          </a:solidFill>
                        </a:defRPr>
                      </a:pPr>
                      <a:r>
                        <a:t>Subscription Share</a:t>
                      </a:r>
                    </a:p>
                  </a:txBody>
                  <a:tcPr/>
                </a:tc>
                <a:tc>
                  <a:txBody>
                    <a:bodyPr/>
                    <a:lstStyle/>
                    <a:p>
                      <a:pPr>
                        <a:defRPr sz="1100">
                          <a:solidFill>
                            <a:srgbClr val="404040"/>
                          </a:solidFill>
                        </a:defRPr>
                      </a:pPr>
                      <a:r>
                        <a:t>64%</a:t>
                      </a:r>
                    </a:p>
                  </a:txBody>
                  <a:tcPr/>
                </a:tc>
                <a:tc>
                  <a:txBody>
                    <a:bodyPr/>
                    <a:lstStyle/>
                    <a:p>
                      <a:pPr>
                        <a:defRPr sz="1100">
                          <a:solidFill>
                            <a:srgbClr val="404040"/>
                          </a:solidFill>
                        </a:defRPr>
                      </a:pPr>
                      <a:r>
                        <a:t>61%</a:t>
                      </a:r>
                    </a:p>
                  </a:txBody>
                  <a:tcPr/>
                </a:tc>
                <a:tc>
                  <a:txBody>
                    <a:bodyPr/>
                    <a:lstStyle/>
                    <a:p>
                      <a:pPr>
                        <a:defRPr sz="1100">
                          <a:solidFill>
                            <a:srgbClr val="404040"/>
                          </a:solidFill>
                        </a:defRPr>
                      </a:pPr>
                      <a:r>
                        <a:t>-3 pts</a:t>
                      </a:r>
                    </a:p>
                  </a:txBody>
                  <a:tcPr/>
                </a:tc>
                <a:extLst>
                  <a:ext uri="{0D108BD9-81ED-4DB2-BD59-A6C34878D82A}">
                    <a16:rowId xmlns:a16="http://schemas.microsoft.com/office/drawing/2014/main" val="10004"/>
                  </a:ext>
                </a:extLst>
              </a:tr>
            </a:tbl>
          </a:graphicData>
        </a:graphic>
      </p:graphicFrame>
      <p:sp>
        <p:nvSpPr>
          <p:cNvPr id="6" name="Rounded Rectangle 5"/>
          <p:cNvSpPr/>
          <p:nvPr/>
        </p:nvSpPr>
        <p:spPr>
          <a:xfrm>
            <a:off x="685800" y="5303520"/>
            <a:ext cx="7772400" cy="731520"/>
          </a:xfrm>
          <a:prstGeom prst="roundRect">
            <a:avLst/>
          </a:prstGeom>
          <a:solidFill>
            <a:srgbClr val="FFF8DC"/>
          </a:solidFill>
          <a:ln>
            <a:solidFill>
              <a:srgbClr val="C5A46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03366"/>
                </a:solidFill>
              </a:defRPr>
            </a:pPr>
            <a:r>
              <a:t>KEY INSIGHT: Single ticket revenue grew 14.3% YoY - the growth engine is outside subscriptions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274320"/>
            <a:ext cx="8412480" cy="640080"/>
          </a:xfrm>
          <a:prstGeom prst="rect">
            <a:avLst/>
          </a:prstGeom>
          <a:noFill/>
        </p:spPr>
        <p:txBody>
          <a:bodyPr wrap="none">
            <a:spAutoFit/>
          </a:bodyPr>
          <a:lstStyle/>
          <a:p>
            <a:pPr>
              <a:defRPr sz="2200" b="1">
                <a:solidFill>
                  <a:srgbClr val="FFFFFF"/>
                </a:solidFill>
              </a:defRPr>
            </a:pPr>
            <a:r>
              <a:t>CYO subscribers represent 13.73% of members but contribute 22-24% of subscription revenue</a:t>
            </a:r>
          </a:p>
        </p:txBody>
      </p:sp>
      <p:sp>
        <p:nvSpPr>
          <p:cNvPr id="5" name="Rounded Rectangle 4"/>
          <p:cNvSpPr/>
          <p:nvPr/>
        </p:nvSpPr>
        <p:spPr>
          <a:xfrm>
            <a:off x="457200" y="1645920"/>
            <a:ext cx="2560320" cy="2011680"/>
          </a:xfrm>
          <a:prstGeom prst="roundRect">
            <a:avLst/>
          </a:prstGeom>
          <a:solidFill>
            <a:srgbClr val="F5F5FA"/>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828800"/>
            <a:ext cx="2560320" cy="731520"/>
          </a:xfrm>
          <a:prstGeom prst="rect">
            <a:avLst/>
          </a:prstGeom>
          <a:noFill/>
        </p:spPr>
        <p:txBody>
          <a:bodyPr wrap="none">
            <a:spAutoFit/>
          </a:bodyPr>
          <a:lstStyle/>
          <a:p>
            <a:pPr algn="ctr">
              <a:defRPr sz="3200" b="1">
                <a:solidFill>
                  <a:srgbClr val="003366"/>
                </a:solidFill>
              </a:defRPr>
            </a:pPr>
            <a:r>
              <a:t>13.73%</a:t>
            </a:r>
          </a:p>
        </p:txBody>
      </p:sp>
      <p:sp>
        <p:nvSpPr>
          <p:cNvPr id="7" name="TextBox 6"/>
          <p:cNvSpPr txBox="1"/>
          <p:nvPr/>
        </p:nvSpPr>
        <p:spPr>
          <a:xfrm>
            <a:off x="457200" y="2560320"/>
            <a:ext cx="2560320" cy="914400"/>
          </a:xfrm>
          <a:prstGeom prst="rect">
            <a:avLst/>
          </a:prstGeom>
          <a:noFill/>
        </p:spPr>
        <p:txBody>
          <a:bodyPr wrap="square">
            <a:spAutoFit/>
          </a:bodyPr>
          <a:lstStyle/>
          <a:p>
            <a:pPr algn="ctr">
              <a:defRPr sz="1200">
                <a:solidFill>
                  <a:srgbClr val="404040"/>
                </a:solidFill>
              </a:defRPr>
            </a:pPr>
            <a:r>
              <a:t>Share of subscription accounts (CYO)</a:t>
            </a:r>
          </a:p>
        </p:txBody>
      </p:sp>
      <p:sp>
        <p:nvSpPr>
          <p:cNvPr id="8" name="Rounded Rectangle 7"/>
          <p:cNvSpPr/>
          <p:nvPr/>
        </p:nvSpPr>
        <p:spPr>
          <a:xfrm>
            <a:off x="3291840" y="1645920"/>
            <a:ext cx="2560320" cy="2011680"/>
          </a:xfrm>
          <a:prstGeom prst="roundRect">
            <a:avLst/>
          </a:prstGeom>
          <a:solidFill>
            <a:srgbClr val="F5F5FA"/>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91840" y="1828800"/>
            <a:ext cx="2560320" cy="731520"/>
          </a:xfrm>
          <a:prstGeom prst="rect">
            <a:avLst/>
          </a:prstGeom>
          <a:noFill/>
        </p:spPr>
        <p:txBody>
          <a:bodyPr wrap="none">
            <a:spAutoFit/>
          </a:bodyPr>
          <a:lstStyle/>
          <a:p>
            <a:pPr algn="ctr">
              <a:defRPr sz="3200" b="1">
                <a:solidFill>
                  <a:srgbClr val="0F9D58"/>
                </a:solidFill>
              </a:defRPr>
            </a:pPr>
            <a:r>
              <a:t>22-24%</a:t>
            </a:r>
          </a:p>
        </p:txBody>
      </p:sp>
      <p:sp>
        <p:nvSpPr>
          <p:cNvPr id="10" name="TextBox 9"/>
          <p:cNvSpPr txBox="1"/>
          <p:nvPr/>
        </p:nvSpPr>
        <p:spPr>
          <a:xfrm>
            <a:off x="3291840" y="2560320"/>
            <a:ext cx="2560320" cy="914400"/>
          </a:xfrm>
          <a:prstGeom prst="rect">
            <a:avLst/>
          </a:prstGeom>
          <a:noFill/>
        </p:spPr>
        <p:txBody>
          <a:bodyPr wrap="square">
            <a:spAutoFit/>
          </a:bodyPr>
          <a:lstStyle/>
          <a:p>
            <a:pPr algn="ctr">
              <a:defRPr sz="1200">
                <a:solidFill>
                  <a:srgbClr val="404040"/>
                </a:solidFill>
              </a:defRPr>
            </a:pPr>
            <a:r>
              <a:t>Share of subscription revenue (CYO)</a:t>
            </a:r>
          </a:p>
        </p:txBody>
      </p:sp>
      <p:sp>
        <p:nvSpPr>
          <p:cNvPr id="11" name="Rounded Rectangle 10"/>
          <p:cNvSpPr/>
          <p:nvPr/>
        </p:nvSpPr>
        <p:spPr>
          <a:xfrm>
            <a:off x="6126480" y="1645920"/>
            <a:ext cx="2560320" cy="2011680"/>
          </a:xfrm>
          <a:prstGeom prst="roundRect">
            <a:avLst/>
          </a:prstGeom>
          <a:solidFill>
            <a:srgbClr val="F5F5FA"/>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26480" y="1828800"/>
            <a:ext cx="2560320" cy="731520"/>
          </a:xfrm>
          <a:prstGeom prst="rect">
            <a:avLst/>
          </a:prstGeom>
          <a:noFill/>
        </p:spPr>
        <p:txBody>
          <a:bodyPr wrap="none">
            <a:spAutoFit/>
          </a:bodyPr>
          <a:lstStyle/>
          <a:p>
            <a:pPr algn="ctr">
              <a:defRPr sz="3200" b="1">
                <a:solidFill>
                  <a:srgbClr val="4285F4"/>
                </a:solidFill>
              </a:defRPr>
            </a:pPr>
            <a:r>
              <a:t>$67.96</a:t>
            </a:r>
          </a:p>
        </p:txBody>
      </p:sp>
      <p:sp>
        <p:nvSpPr>
          <p:cNvPr id="13" name="TextBox 12"/>
          <p:cNvSpPr txBox="1"/>
          <p:nvPr/>
        </p:nvSpPr>
        <p:spPr>
          <a:xfrm>
            <a:off x="6126480" y="2560320"/>
            <a:ext cx="2560320" cy="914400"/>
          </a:xfrm>
          <a:prstGeom prst="rect">
            <a:avLst/>
          </a:prstGeom>
          <a:noFill/>
        </p:spPr>
        <p:txBody>
          <a:bodyPr wrap="square">
            <a:spAutoFit/>
          </a:bodyPr>
          <a:lstStyle/>
          <a:p>
            <a:pPr algn="ctr">
              <a:defRPr sz="1200">
                <a:solidFill>
                  <a:srgbClr val="404040"/>
                </a:solidFill>
              </a:defRPr>
            </a:pPr>
            <a:r>
              <a:t>CYO average ticket price (vs $39.48 other subs)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274320"/>
            <a:ext cx="8412480" cy="640080"/>
          </a:xfrm>
          <a:prstGeom prst="rect">
            <a:avLst/>
          </a:prstGeom>
          <a:noFill/>
        </p:spPr>
        <p:txBody>
          <a:bodyPr wrap="none">
            <a:spAutoFit/>
          </a:bodyPr>
          <a:lstStyle/>
          <a:p>
            <a:pPr>
              <a:defRPr sz="2200" b="1">
                <a:solidFill>
                  <a:srgbClr val="FFFFFF"/>
                </a:solidFill>
              </a:defRPr>
            </a:pPr>
            <a:r>
              <a:t>Subscriber retention is critically low in the first two years: only 56% of first-year subscribers return</a:t>
            </a:r>
          </a:p>
        </p:txBody>
      </p:sp>
      <p:sp>
        <p:nvSpPr>
          <p:cNvPr id="5" name="TextBox 4"/>
          <p:cNvSpPr txBox="1"/>
          <p:nvPr/>
        </p:nvSpPr>
        <p:spPr>
          <a:xfrm>
            <a:off x="457200" y="1280160"/>
            <a:ext cx="8229600" cy="5029200"/>
          </a:xfrm>
          <a:prstGeom prst="rect">
            <a:avLst/>
          </a:prstGeom>
          <a:noFill/>
        </p:spPr>
        <p:txBody>
          <a:bodyPr wrap="square">
            <a:spAutoFit/>
          </a:bodyPr>
          <a:lstStyle/>
          <a:p>
            <a:pPr>
              <a:spcAft>
                <a:spcPts val="800"/>
              </a:spcAft>
              <a:defRPr sz="1600">
                <a:solidFill>
                  <a:srgbClr val="404040"/>
                </a:solidFill>
              </a:defRPr>
            </a:pPr>
            <a:r>
              <a:t>SUBSCRIBER RETENTION BY TENURE:</a:t>
            </a:r>
          </a:p>
          <a:p>
            <a:pPr>
              <a:spcAft>
                <a:spcPts val="800"/>
              </a:spcAft>
              <a:defRPr sz="1600">
                <a:solidFill>
                  <a:srgbClr val="404040"/>
                </a:solidFill>
              </a:defRPr>
            </a:pPr>
            <a:endParaRPr/>
          </a:p>
          <a:p>
            <a:pPr>
              <a:spcAft>
                <a:spcPts val="800"/>
              </a:spcAft>
              <a:defRPr sz="1600">
                <a:solidFill>
                  <a:srgbClr val="404040"/>
                </a:solidFill>
              </a:defRPr>
            </a:pPr>
            <a:r>
              <a:t>   Freshman to Sophomore:     56.1% retention</a:t>
            </a:r>
          </a:p>
          <a:p>
            <a:pPr>
              <a:spcAft>
                <a:spcPts val="800"/>
              </a:spcAft>
              <a:defRPr sz="1600">
                <a:solidFill>
                  <a:srgbClr val="404040"/>
                </a:solidFill>
              </a:defRPr>
            </a:pPr>
            <a:r>
              <a:t>   Sophomore to Established:  &lt;80% retention</a:t>
            </a:r>
          </a:p>
          <a:p>
            <a:pPr>
              <a:spcAft>
                <a:spcPts val="800"/>
              </a:spcAft>
              <a:defRPr sz="1600">
                <a:solidFill>
                  <a:srgbClr val="404040"/>
                </a:solidFill>
              </a:defRPr>
            </a:pPr>
            <a:r>
              <a:t>   Established renewals:      85%+ retention</a:t>
            </a:r>
          </a:p>
          <a:p>
            <a:pPr>
              <a:spcAft>
                <a:spcPts val="800"/>
              </a:spcAft>
              <a:defRPr sz="1600">
                <a:solidFill>
                  <a:srgbClr val="404040"/>
                </a:solidFill>
              </a:defRPr>
            </a:pPr>
            <a:endParaRPr/>
          </a:p>
          <a:p>
            <a:pPr>
              <a:spcAft>
                <a:spcPts val="800"/>
              </a:spcAft>
              <a:defRPr sz="1600">
                <a:solidFill>
                  <a:srgbClr val="404040"/>
                </a:solidFill>
              </a:defRPr>
            </a:pPr>
            <a:endParaRPr/>
          </a:p>
          <a:p>
            <a:pPr>
              <a:spcAft>
                <a:spcPts val="800"/>
              </a:spcAft>
              <a:defRPr sz="1600">
                <a:solidFill>
                  <a:srgbClr val="404040"/>
                </a:solidFill>
              </a:defRPr>
            </a:pPr>
            <a:r>
              <a:t>KEY FINDING: Once subscribers reach Year 3, they become highly loyal.</a:t>
            </a:r>
          </a:p>
          <a:p>
            <a:pPr>
              <a:spcAft>
                <a:spcPts val="800"/>
              </a:spcAft>
              <a:defRPr sz="1600">
                <a:solidFill>
                  <a:srgbClr val="404040"/>
                </a:solidFill>
              </a:defRPr>
            </a:pPr>
            <a:r>
              <a:t>The challenge is getting them through Years 1 and 2.</a:t>
            </a:r>
          </a:p>
          <a:p>
            <a:pPr>
              <a:spcAft>
                <a:spcPts val="800"/>
              </a:spcAft>
              <a:defRPr sz="1600">
                <a:solidFill>
                  <a:srgbClr val="404040"/>
                </a:solidFill>
              </a:defRPr>
            </a:pPr>
            <a:endParaRPr/>
          </a:p>
          <a:p>
            <a:pPr>
              <a:spcAft>
                <a:spcPts val="800"/>
              </a:spcAft>
              <a:defRPr sz="1600">
                <a:solidFill>
                  <a:srgbClr val="404040"/>
                </a:solidFill>
              </a:defRPr>
            </a:pPr>
            <a:endParaRPr/>
          </a:p>
          <a:p>
            <a:pPr>
              <a:spcAft>
                <a:spcPts val="800"/>
              </a:spcAft>
              <a:defRPr sz="1600">
                <a:solidFill>
                  <a:srgbClr val="404040"/>
                </a:solidFill>
              </a:defRPr>
            </a:pPr>
            <a:r>
              <a:t>CYO SUBSCRIBER CHURN:</a:t>
            </a:r>
          </a:p>
          <a:p>
            <a:pPr>
              <a:spcAft>
                <a:spcPts val="800"/>
              </a:spcAft>
              <a:defRPr sz="1600">
                <a:solidFill>
                  <a:srgbClr val="404040"/>
                </a:solidFill>
              </a:defRPr>
            </a:pPr>
            <a:endParaRPr/>
          </a:p>
          <a:p>
            <a:pPr>
              <a:spcAft>
                <a:spcPts val="800"/>
              </a:spcAft>
              <a:defRPr sz="1600">
                <a:solidFill>
                  <a:srgbClr val="404040"/>
                </a:solidFill>
              </a:defRPr>
            </a:pPr>
            <a:r>
              <a:t>   161 CYO subscribers in 2023 did not return in 2024</a:t>
            </a:r>
          </a:p>
          <a:p>
            <a:pPr>
              <a:spcAft>
                <a:spcPts val="800"/>
              </a:spcAft>
              <a:defRPr sz="1600">
                <a:solidFill>
                  <a:srgbClr val="404040"/>
                </a:solidFill>
              </a:defRPr>
            </a:pPr>
            <a:r>
              <a:t>   Peak consumption: 3-4 tickets per CYO package</a:t>
            </a:r>
          </a:p>
          <a:p>
            <a:pPr>
              <a:spcAft>
                <a:spcPts val="800"/>
              </a:spcAft>
              <a:defRPr sz="1600">
                <a:solidFill>
                  <a:srgbClr val="404040"/>
                </a:solidFill>
              </a:defRPr>
            </a:pPr>
            <a:r>
              <a:t>   Under-utilization may signal dissatisfaction risk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3108960"/>
            <a:ext cx="886968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560320"/>
            <a:ext cx="8229600" cy="914400"/>
          </a:xfrm>
          <a:prstGeom prst="rect">
            <a:avLst/>
          </a:prstGeom>
          <a:noFill/>
        </p:spPr>
        <p:txBody>
          <a:bodyPr wrap="none">
            <a:spAutoFit/>
          </a:bodyPr>
          <a:lstStyle/>
          <a:p>
            <a:pPr>
              <a:defRPr sz="3600" b="1">
                <a:solidFill>
                  <a:srgbClr val="003366"/>
                </a:solidFill>
              </a:defRPr>
            </a:pPr>
            <a:r>
              <a:t>Section 3: Demand Curve Analysis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274320"/>
            <a:ext cx="8412480" cy="640080"/>
          </a:xfrm>
          <a:prstGeom prst="rect">
            <a:avLst/>
          </a:prstGeom>
          <a:noFill/>
        </p:spPr>
        <p:txBody>
          <a:bodyPr wrap="none">
            <a:spAutoFit/>
          </a:bodyPr>
          <a:lstStyle/>
          <a:p>
            <a:pPr>
              <a:defRPr sz="2200" b="1">
                <a:solidFill>
                  <a:srgbClr val="FFFFFF"/>
                </a:solidFill>
              </a:defRPr>
            </a:pPr>
            <a:r>
              <a:t>Single ticket demand varies by event type - Special Events are most price elastic</a:t>
            </a:r>
          </a:p>
        </p:txBody>
      </p:sp>
      <p:graphicFrame>
        <p:nvGraphicFramePr>
          <p:cNvPr id="5" name="Table 4"/>
          <p:cNvGraphicFramePr>
            <a:graphicFrameLocks noGrp="1"/>
          </p:cNvGraphicFramePr>
          <p:nvPr/>
        </p:nvGraphicFramePr>
        <p:xfrm>
          <a:off x="685800" y="1371600"/>
          <a:ext cx="7772400" cy="2438400"/>
        </p:xfrm>
        <a:graphic>
          <a:graphicData uri="http://schemas.openxmlformats.org/drawingml/2006/table">
            <a:tbl>
              <a:tblPr firstRow="1" bandRow="1">
                <a:tableStyleId>{5C22544A-7EE6-4342-B048-85BDC9FD1C3A}</a:tableStyleId>
              </a:tblPr>
              <a:tblGrid>
                <a:gridCol w="1943100">
                  <a:extLst>
                    <a:ext uri="{9D8B030D-6E8A-4147-A177-3AD203B41FA5}">
                      <a16:colId xmlns:a16="http://schemas.microsoft.com/office/drawing/2014/main" val="20000"/>
                    </a:ext>
                  </a:extLst>
                </a:gridCol>
                <a:gridCol w="1943100">
                  <a:extLst>
                    <a:ext uri="{9D8B030D-6E8A-4147-A177-3AD203B41FA5}">
                      <a16:colId xmlns:a16="http://schemas.microsoft.com/office/drawing/2014/main" val="20001"/>
                    </a:ext>
                  </a:extLst>
                </a:gridCol>
                <a:gridCol w="1943100">
                  <a:extLst>
                    <a:ext uri="{9D8B030D-6E8A-4147-A177-3AD203B41FA5}">
                      <a16:colId xmlns:a16="http://schemas.microsoft.com/office/drawing/2014/main" val="20002"/>
                    </a:ext>
                  </a:extLst>
                </a:gridCol>
                <a:gridCol w="1943100">
                  <a:extLst>
                    <a:ext uri="{9D8B030D-6E8A-4147-A177-3AD203B41FA5}">
                      <a16:colId xmlns:a16="http://schemas.microsoft.com/office/drawing/2014/main" val="20003"/>
                    </a:ext>
                  </a:extLst>
                </a:gridCol>
              </a:tblGrid>
              <a:tr h="365760">
                <a:tc>
                  <a:txBody>
                    <a:bodyPr/>
                    <a:lstStyle/>
                    <a:p>
                      <a:pPr>
                        <a:defRPr sz="1200" b="1">
                          <a:solidFill>
                            <a:srgbClr val="FFFFFF"/>
                          </a:solidFill>
                        </a:defRPr>
                      </a:pPr>
                      <a:r>
                        <a:t>Segment</a:t>
                      </a:r>
                    </a:p>
                  </a:txBody>
                  <a:tcPr>
                    <a:solidFill>
                      <a:srgbClr val="003366"/>
                    </a:solidFill>
                  </a:tcPr>
                </a:tc>
                <a:tc>
                  <a:txBody>
                    <a:bodyPr/>
                    <a:lstStyle/>
                    <a:p>
                      <a:pPr>
                        <a:defRPr sz="1200" b="1">
                          <a:solidFill>
                            <a:srgbClr val="FFFFFF"/>
                          </a:solidFill>
                        </a:defRPr>
                      </a:pPr>
                      <a:r>
                        <a:rPr dirty="0"/>
                        <a:t>Avg Price</a:t>
                      </a:r>
                    </a:p>
                  </a:txBody>
                  <a:tcPr>
                    <a:solidFill>
                      <a:srgbClr val="003366"/>
                    </a:solidFill>
                  </a:tcPr>
                </a:tc>
                <a:tc>
                  <a:txBody>
                    <a:bodyPr/>
                    <a:lstStyle/>
                    <a:p>
                      <a:pPr>
                        <a:defRPr sz="1200" b="1">
                          <a:solidFill>
                            <a:srgbClr val="FFFFFF"/>
                          </a:solidFill>
                        </a:defRPr>
                      </a:pPr>
                      <a:r>
                        <a:t>Elasticity</a:t>
                      </a:r>
                    </a:p>
                  </a:txBody>
                  <a:tcPr>
                    <a:solidFill>
                      <a:srgbClr val="003366"/>
                    </a:solidFill>
                  </a:tcPr>
                </a:tc>
                <a:tc>
                  <a:txBody>
                    <a:bodyPr/>
                    <a:lstStyle/>
                    <a:p>
                      <a:pPr>
                        <a:defRPr sz="1200" b="1">
                          <a:solidFill>
                            <a:srgbClr val="FFFFFF"/>
                          </a:solidFill>
                        </a:defRPr>
                      </a:pPr>
                      <a:r>
                        <a:t>Interpretation</a:t>
                      </a:r>
                    </a:p>
                  </a:txBody>
                  <a:tcPr>
                    <a:solidFill>
                      <a:srgbClr val="003366"/>
                    </a:solidFill>
                  </a:tcPr>
                </a:tc>
                <a:extLst>
                  <a:ext uri="{0D108BD9-81ED-4DB2-BD59-A6C34878D82A}">
                    <a16:rowId xmlns:a16="http://schemas.microsoft.com/office/drawing/2014/main" val="10000"/>
                  </a:ext>
                </a:extLst>
              </a:tr>
              <a:tr h="365760">
                <a:tc>
                  <a:txBody>
                    <a:bodyPr/>
                    <a:lstStyle/>
                    <a:p>
                      <a:pPr>
                        <a:defRPr sz="1100">
                          <a:solidFill>
                            <a:srgbClr val="404040"/>
                          </a:solidFill>
                        </a:defRPr>
                      </a:pPr>
                      <a:r>
                        <a:t>Single Ticket - Special</a:t>
                      </a:r>
                    </a:p>
                  </a:txBody>
                  <a:tcPr/>
                </a:tc>
                <a:tc>
                  <a:txBody>
                    <a:bodyPr/>
                    <a:lstStyle/>
                    <a:p>
                      <a:pPr>
                        <a:defRPr sz="1100">
                          <a:solidFill>
                            <a:srgbClr val="404040"/>
                          </a:solidFill>
                        </a:defRPr>
                      </a:pPr>
                      <a:r>
                        <a:t>$77.25</a:t>
                      </a:r>
                    </a:p>
                  </a:txBody>
                  <a:tcPr/>
                </a:tc>
                <a:tc>
                  <a:txBody>
                    <a:bodyPr/>
                    <a:lstStyle/>
                    <a:p>
                      <a:pPr>
                        <a:defRPr sz="1100">
                          <a:solidFill>
                            <a:srgbClr val="404040"/>
                          </a:solidFill>
                        </a:defRPr>
                      </a:pPr>
                      <a:r>
                        <a:t>-1.35</a:t>
                      </a:r>
                    </a:p>
                  </a:txBody>
                  <a:tcPr/>
                </a:tc>
                <a:tc>
                  <a:txBody>
                    <a:bodyPr/>
                    <a:lstStyle/>
                    <a:p>
                      <a:pPr>
                        <a:defRPr sz="1100">
                          <a:solidFill>
                            <a:srgbClr val="404040"/>
                          </a:solidFill>
                        </a:defRPr>
                      </a:pPr>
                      <a:r>
                        <a:t>Elastic - discounts drive volume AND revenue</a:t>
                      </a:r>
                    </a:p>
                  </a:txBody>
                  <a:tcPr/>
                </a:tc>
                <a:extLst>
                  <a:ext uri="{0D108BD9-81ED-4DB2-BD59-A6C34878D82A}">
                    <a16:rowId xmlns:a16="http://schemas.microsoft.com/office/drawing/2014/main" val="10001"/>
                  </a:ext>
                </a:extLst>
              </a:tr>
              <a:tr h="365760">
                <a:tc>
                  <a:txBody>
                    <a:bodyPr/>
                    <a:lstStyle/>
                    <a:p>
                      <a:pPr>
                        <a:defRPr sz="1100">
                          <a:solidFill>
                            <a:srgbClr val="404040"/>
                          </a:solidFill>
                        </a:defRPr>
                      </a:pPr>
                      <a:r>
                        <a:t>Single Ticket - Holiday</a:t>
                      </a:r>
                    </a:p>
                  </a:txBody>
                  <a:tcPr/>
                </a:tc>
                <a:tc>
                  <a:txBody>
                    <a:bodyPr/>
                    <a:lstStyle/>
                    <a:p>
                      <a:pPr>
                        <a:defRPr sz="1100">
                          <a:solidFill>
                            <a:srgbClr val="404040"/>
                          </a:solidFill>
                        </a:defRPr>
                      </a:pPr>
                      <a:r>
                        <a:t>$56.21</a:t>
                      </a:r>
                    </a:p>
                  </a:txBody>
                  <a:tcPr/>
                </a:tc>
                <a:tc>
                  <a:txBody>
                    <a:bodyPr/>
                    <a:lstStyle/>
                    <a:p>
                      <a:pPr>
                        <a:defRPr sz="1100">
                          <a:solidFill>
                            <a:srgbClr val="404040"/>
                          </a:solidFill>
                        </a:defRPr>
                      </a:pPr>
                      <a:r>
                        <a:t>-0.86</a:t>
                      </a:r>
                    </a:p>
                  </a:txBody>
                  <a:tcPr/>
                </a:tc>
                <a:tc>
                  <a:txBody>
                    <a:bodyPr/>
                    <a:lstStyle/>
                    <a:p>
                      <a:pPr>
                        <a:defRPr sz="1100">
                          <a:solidFill>
                            <a:srgbClr val="404040"/>
                          </a:solidFill>
                        </a:defRPr>
                      </a:pPr>
                      <a:r>
                        <a:t>Slightly inelastic - loyal audience</a:t>
                      </a:r>
                    </a:p>
                  </a:txBody>
                  <a:tcPr/>
                </a:tc>
                <a:extLst>
                  <a:ext uri="{0D108BD9-81ED-4DB2-BD59-A6C34878D82A}">
                    <a16:rowId xmlns:a16="http://schemas.microsoft.com/office/drawing/2014/main" val="10002"/>
                  </a:ext>
                </a:extLst>
              </a:tr>
              <a:tr h="365760">
                <a:tc>
                  <a:txBody>
                    <a:bodyPr/>
                    <a:lstStyle/>
                    <a:p>
                      <a:pPr>
                        <a:defRPr sz="1100">
                          <a:solidFill>
                            <a:srgbClr val="404040"/>
                          </a:solidFill>
                        </a:defRPr>
                      </a:pPr>
                      <a:r>
                        <a:rPr dirty="0"/>
                        <a:t>Single Ticket - Classical</a:t>
                      </a:r>
                    </a:p>
                  </a:txBody>
                  <a:tcPr/>
                </a:tc>
                <a:tc>
                  <a:txBody>
                    <a:bodyPr/>
                    <a:lstStyle/>
                    <a:p>
                      <a:pPr>
                        <a:defRPr sz="1100">
                          <a:solidFill>
                            <a:srgbClr val="404040"/>
                          </a:solidFill>
                        </a:defRPr>
                      </a:pPr>
                      <a:r>
                        <a:t>$58.01</a:t>
                      </a:r>
                    </a:p>
                  </a:txBody>
                  <a:tcPr/>
                </a:tc>
                <a:tc>
                  <a:txBody>
                    <a:bodyPr/>
                    <a:lstStyle/>
                    <a:p>
                      <a:pPr>
                        <a:defRPr sz="1100">
                          <a:solidFill>
                            <a:srgbClr val="404040"/>
                          </a:solidFill>
                        </a:defRPr>
                      </a:pPr>
                      <a:r>
                        <a:rPr dirty="0"/>
                        <a:t>-0.18</a:t>
                      </a:r>
                    </a:p>
                  </a:txBody>
                  <a:tcPr/>
                </a:tc>
                <a:tc>
                  <a:txBody>
                    <a:bodyPr/>
                    <a:lstStyle/>
                    <a:p>
                      <a:pPr>
                        <a:defRPr sz="1100">
                          <a:solidFill>
                            <a:srgbClr val="404040"/>
                          </a:solidFill>
                        </a:defRPr>
                      </a:pPr>
                      <a:r>
                        <a:t>Very inelastic - price won't drive new buyers</a:t>
                      </a:r>
                    </a:p>
                  </a:txBody>
                  <a:tcPr/>
                </a:tc>
                <a:extLst>
                  <a:ext uri="{0D108BD9-81ED-4DB2-BD59-A6C34878D82A}">
                    <a16:rowId xmlns:a16="http://schemas.microsoft.com/office/drawing/2014/main" val="10003"/>
                  </a:ext>
                </a:extLst>
              </a:tr>
              <a:tr h="365760">
                <a:tc>
                  <a:txBody>
                    <a:bodyPr/>
                    <a:lstStyle/>
                    <a:p>
                      <a:pPr>
                        <a:defRPr sz="1100">
                          <a:solidFill>
                            <a:srgbClr val="404040"/>
                          </a:solidFill>
                        </a:defRPr>
                      </a:pPr>
                      <a:r>
                        <a:t>Single Ticket (All)</a:t>
                      </a:r>
                    </a:p>
                  </a:txBody>
                  <a:tcPr/>
                </a:tc>
                <a:tc>
                  <a:txBody>
                    <a:bodyPr/>
                    <a:lstStyle/>
                    <a:p>
                      <a:pPr>
                        <a:defRPr sz="1100">
                          <a:solidFill>
                            <a:srgbClr val="404040"/>
                          </a:solidFill>
                        </a:defRPr>
                      </a:pPr>
                      <a:r>
                        <a:t>$58.93</a:t>
                      </a:r>
                    </a:p>
                  </a:txBody>
                  <a:tcPr/>
                </a:tc>
                <a:tc>
                  <a:txBody>
                    <a:bodyPr/>
                    <a:lstStyle/>
                    <a:p>
                      <a:pPr>
                        <a:defRPr sz="1100">
                          <a:solidFill>
                            <a:srgbClr val="404040"/>
                          </a:solidFill>
                        </a:defRPr>
                      </a:pPr>
                      <a:r>
                        <a:t>-0.36</a:t>
                      </a:r>
                    </a:p>
                  </a:txBody>
                  <a:tcPr/>
                </a:tc>
                <a:tc>
                  <a:txBody>
                    <a:bodyPr/>
                    <a:lstStyle/>
                    <a:p>
                      <a:pPr>
                        <a:defRPr sz="1100">
                          <a:solidFill>
                            <a:srgbClr val="404040"/>
                          </a:solidFill>
                        </a:defRPr>
                      </a:pPr>
                      <a:r>
                        <a:t>Moderately inelastic overall</a:t>
                      </a:r>
                    </a:p>
                  </a:txBody>
                  <a:tcPr/>
                </a:tc>
                <a:extLst>
                  <a:ext uri="{0D108BD9-81ED-4DB2-BD59-A6C34878D82A}">
                    <a16:rowId xmlns:a16="http://schemas.microsoft.com/office/drawing/2014/main" val="10004"/>
                  </a:ext>
                </a:extLst>
              </a:tr>
              <a:tr h="365760">
                <a:tc>
                  <a:txBody>
                    <a:bodyPr/>
                    <a:lstStyle/>
                    <a:p>
                      <a:pPr>
                        <a:defRPr sz="1100">
                          <a:solidFill>
                            <a:srgbClr val="404040"/>
                          </a:solidFill>
                        </a:defRPr>
                      </a:pPr>
                      <a:r>
                        <a:t>Single Ticket - Premium Orch</a:t>
                      </a:r>
                    </a:p>
                  </a:txBody>
                  <a:tcPr/>
                </a:tc>
                <a:tc>
                  <a:txBody>
                    <a:bodyPr/>
                    <a:lstStyle/>
                    <a:p>
                      <a:pPr>
                        <a:defRPr sz="1100">
                          <a:solidFill>
                            <a:srgbClr val="404040"/>
                          </a:solidFill>
                        </a:defRPr>
                      </a:pPr>
                      <a:r>
                        <a:rPr dirty="0"/>
                        <a:t>$63.07</a:t>
                      </a:r>
                    </a:p>
                  </a:txBody>
                  <a:tcPr/>
                </a:tc>
                <a:tc>
                  <a:txBody>
                    <a:bodyPr/>
                    <a:lstStyle/>
                    <a:p>
                      <a:pPr>
                        <a:defRPr sz="1100">
                          <a:solidFill>
                            <a:srgbClr val="404040"/>
                          </a:solidFill>
                        </a:defRPr>
                      </a:pPr>
                      <a:r>
                        <a:t>-0.41</a:t>
                      </a:r>
                    </a:p>
                  </a:txBody>
                  <a:tcPr/>
                </a:tc>
                <a:tc>
                  <a:txBody>
                    <a:bodyPr/>
                    <a:lstStyle/>
                    <a:p>
                      <a:pPr>
                        <a:defRPr sz="1100">
                          <a:solidFill>
                            <a:srgbClr val="404040"/>
                          </a:solidFill>
                        </a:defRPr>
                      </a:pPr>
                      <a:r>
                        <a:rPr dirty="0"/>
                        <a:t>Inelastic - premium buyers less sensitive</a:t>
                      </a:r>
                    </a:p>
                  </a:txBody>
                  <a:tcPr/>
                </a:tc>
                <a:extLst>
                  <a:ext uri="{0D108BD9-81ED-4DB2-BD59-A6C34878D82A}">
                    <a16:rowId xmlns:a16="http://schemas.microsoft.com/office/drawing/2014/main" val="10005"/>
                  </a:ext>
                </a:extLst>
              </a:tr>
            </a:tbl>
          </a:graphicData>
        </a:graphic>
      </p:graphicFrame>
      <p:sp>
        <p:nvSpPr>
          <p:cNvPr id="6" name="Rounded Rectangle 5"/>
          <p:cNvSpPr/>
          <p:nvPr/>
        </p:nvSpPr>
        <p:spPr>
          <a:xfrm>
            <a:off x="685800" y="5303520"/>
            <a:ext cx="7772400" cy="731520"/>
          </a:xfrm>
          <a:prstGeom prst="roundRect">
            <a:avLst/>
          </a:prstGeom>
          <a:solidFill>
            <a:srgbClr val="FFF8DC"/>
          </a:solidFill>
          <a:ln>
            <a:solidFill>
              <a:srgbClr val="C5A46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03366"/>
                </a:solidFill>
              </a:defRPr>
            </a:pPr>
            <a:r>
              <a:t>KEY INSIGHT: Special Events are elastic (-1.35) - strategic discounts increase revenue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274320"/>
            <a:ext cx="8412480" cy="640080"/>
          </a:xfrm>
          <a:prstGeom prst="rect">
            <a:avLst/>
          </a:prstGeom>
          <a:noFill/>
        </p:spPr>
        <p:txBody>
          <a:bodyPr wrap="none">
            <a:spAutoFit/>
          </a:bodyPr>
          <a:lstStyle/>
          <a:p>
            <a:pPr>
              <a:defRPr sz="2200" b="1">
                <a:solidFill>
                  <a:srgbClr val="FFFFFF"/>
                </a:solidFill>
              </a:defRPr>
            </a:pPr>
            <a:r>
              <a:t>Subscription demand by section shows CYO subscribers are more price sensitive than Fixed</a:t>
            </a:r>
          </a:p>
        </p:txBody>
      </p:sp>
      <p:graphicFrame>
        <p:nvGraphicFramePr>
          <p:cNvPr id="5" name="Table 4"/>
          <p:cNvGraphicFramePr>
            <a:graphicFrameLocks noGrp="1"/>
          </p:cNvGraphicFramePr>
          <p:nvPr/>
        </p:nvGraphicFramePr>
        <p:xfrm>
          <a:off x="685800" y="1371600"/>
          <a:ext cx="7772400" cy="2255520"/>
        </p:xfrm>
        <a:graphic>
          <a:graphicData uri="http://schemas.openxmlformats.org/drawingml/2006/table">
            <a:tbl>
              <a:tblPr firstRow="1" bandRow="1">
                <a:tableStyleId>{5C22544A-7EE6-4342-B048-85BDC9FD1C3A}</a:tableStyleId>
              </a:tblPr>
              <a:tblGrid>
                <a:gridCol w="1943100">
                  <a:extLst>
                    <a:ext uri="{9D8B030D-6E8A-4147-A177-3AD203B41FA5}">
                      <a16:colId xmlns:a16="http://schemas.microsoft.com/office/drawing/2014/main" val="20000"/>
                    </a:ext>
                  </a:extLst>
                </a:gridCol>
                <a:gridCol w="1943100">
                  <a:extLst>
                    <a:ext uri="{9D8B030D-6E8A-4147-A177-3AD203B41FA5}">
                      <a16:colId xmlns:a16="http://schemas.microsoft.com/office/drawing/2014/main" val="20001"/>
                    </a:ext>
                  </a:extLst>
                </a:gridCol>
                <a:gridCol w="1943100">
                  <a:extLst>
                    <a:ext uri="{9D8B030D-6E8A-4147-A177-3AD203B41FA5}">
                      <a16:colId xmlns:a16="http://schemas.microsoft.com/office/drawing/2014/main" val="20002"/>
                    </a:ext>
                  </a:extLst>
                </a:gridCol>
                <a:gridCol w="1943100">
                  <a:extLst>
                    <a:ext uri="{9D8B030D-6E8A-4147-A177-3AD203B41FA5}">
                      <a16:colId xmlns:a16="http://schemas.microsoft.com/office/drawing/2014/main" val="20003"/>
                    </a:ext>
                  </a:extLst>
                </a:gridCol>
              </a:tblGrid>
              <a:tr h="365760">
                <a:tc>
                  <a:txBody>
                    <a:bodyPr/>
                    <a:lstStyle/>
                    <a:p>
                      <a:pPr>
                        <a:defRPr sz="1200" b="1">
                          <a:solidFill>
                            <a:srgbClr val="FFFFFF"/>
                          </a:solidFill>
                        </a:defRPr>
                      </a:pPr>
                      <a:r>
                        <a:t>Segment</a:t>
                      </a:r>
                    </a:p>
                  </a:txBody>
                  <a:tcPr>
                    <a:solidFill>
                      <a:srgbClr val="003366"/>
                    </a:solidFill>
                  </a:tcPr>
                </a:tc>
                <a:tc>
                  <a:txBody>
                    <a:bodyPr/>
                    <a:lstStyle/>
                    <a:p>
                      <a:pPr>
                        <a:defRPr sz="1200" b="1">
                          <a:solidFill>
                            <a:srgbClr val="FFFFFF"/>
                          </a:solidFill>
                        </a:defRPr>
                      </a:pPr>
                      <a:r>
                        <a:t>Avg Price</a:t>
                      </a:r>
                    </a:p>
                  </a:txBody>
                  <a:tcPr>
                    <a:solidFill>
                      <a:srgbClr val="003366"/>
                    </a:solidFill>
                  </a:tcPr>
                </a:tc>
                <a:tc>
                  <a:txBody>
                    <a:bodyPr/>
                    <a:lstStyle/>
                    <a:p>
                      <a:pPr>
                        <a:defRPr sz="1200" b="1">
                          <a:solidFill>
                            <a:srgbClr val="FFFFFF"/>
                          </a:solidFill>
                        </a:defRPr>
                      </a:pPr>
                      <a:r>
                        <a:t>Elasticity</a:t>
                      </a:r>
                    </a:p>
                  </a:txBody>
                  <a:tcPr>
                    <a:solidFill>
                      <a:srgbClr val="003366"/>
                    </a:solidFill>
                  </a:tcPr>
                </a:tc>
                <a:tc>
                  <a:txBody>
                    <a:bodyPr/>
                    <a:lstStyle/>
                    <a:p>
                      <a:pPr>
                        <a:defRPr sz="1200" b="1">
                          <a:solidFill>
                            <a:srgbClr val="FFFFFF"/>
                          </a:solidFill>
                        </a:defRPr>
                      </a:pPr>
                      <a:r>
                        <a:t>Notes</a:t>
                      </a:r>
                    </a:p>
                  </a:txBody>
                  <a:tcPr>
                    <a:solidFill>
                      <a:srgbClr val="003366"/>
                    </a:solidFill>
                  </a:tcPr>
                </a:tc>
                <a:extLst>
                  <a:ext uri="{0D108BD9-81ED-4DB2-BD59-A6C34878D82A}">
                    <a16:rowId xmlns:a16="http://schemas.microsoft.com/office/drawing/2014/main" val="10000"/>
                  </a:ext>
                </a:extLst>
              </a:tr>
              <a:tr h="365760">
                <a:tc>
                  <a:txBody>
                    <a:bodyPr/>
                    <a:lstStyle/>
                    <a:p>
                      <a:pPr>
                        <a:defRPr sz="1100">
                          <a:solidFill>
                            <a:srgbClr val="404040"/>
                          </a:solidFill>
                        </a:defRPr>
                      </a:pPr>
                      <a:r>
                        <a:t>Subscription - Premium Orchestra</a:t>
                      </a:r>
                    </a:p>
                  </a:txBody>
                  <a:tcPr/>
                </a:tc>
                <a:tc>
                  <a:txBody>
                    <a:bodyPr/>
                    <a:lstStyle/>
                    <a:p>
                      <a:pPr>
                        <a:defRPr sz="1100">
                          <a:solidFill>
                            <a:srgbClr val="404040"/>
                          </a:solidFill>
                        </a:defRPr>
                      </a:pPr>
                      <a:r>
                        <a:t>$45.02</a:t>
                      </a:r>
                    </a:p>
                  </a:txBody>
                  <a:tcPr/>
                </a:tc>
                <a:tc>
                  <a:txBody>
                    <a:bodyPr/>
                    <a:lstStyle/>
                    <a:p>
                      <a:pPr>
                        <a:defRPr sz="1100">
                          <a:solidFill>
                            <a:srgbClr val="404040"/>
                          </a:solidFill>
                        </a:defRPr>
                      </a:pPr>
                      <a:r>
                        <a:t>-0.89</a:t>
                      </a:r>
                    </a:p>
                  </a:txBody>
                  <a:tcPr/>
                </a:tc>
                <a:tc>
                  <a:txBody>
                    <a:bodyPr/>
                    <a:lstStyle/>
                    <a:p>
                      <a:pPr>
                        <a:defRPr sz="1100">
                          <a:solidFill>
                            <a:srgbClr val="404040"/>
                          </a:solidFill>
                        </a:defRPr>
                      </a:pPr>
                      <a:r>
                        <a:t>Inelastic - loyal subscribers</a:t>
                      </a:r>
                    </a:p>
                  </a:txBody>
                  <a:tcPr/>
                </a:tc>
                <a:extLst>
                  <a:ext uri="{0D108BD9-81ED-4DB2-BD59-A6C34878D82A}">
                    <a16:rowId xmlns:a16="http://schemas.microsoft.com/office/drawing/2014/main" val="10001"/>
                  </a:ext>
                </a:extLst>
              </a:tr>
              <a:tr h="365760">
                <a:tc>
                  <a:txBody>
                    <a:bodyPr/>
                    <a:lstStyle/>
                    <a:p>
                      <a:pPr>
                        <a:defRPr sz="1100">
                          <a:solidFill>
                            <a:srgbClr val="404040"/>
                          </a:solidFill>
                        </a:defRPr>
                      </a:pPr>
                      <a:r>
                        <a:t>Subscription - Front Loge</a:t>
                      </a:r>
                    </a:p>
                  </a:txBody>
                  <a:tcPr/>
                </a:tc>
                <a:tc>
                  <a:txBody>
                    <a:bodyPr/>
                    <a:lstStyle/>
                    <a:p>
                      <a:pPr>
                        <a:defRPr sz="1100">
                          <a:solidFill>
                            <a:srgbClr val="404040"/>
                          </a:solidFill>
                        </a:defRPr>
                      </a:pPr>
                      <a:r>
                        <a:t>$75.77</a:t>
                      </a:r>
                    </a:p>
                  </a:txBody>
                  <a:tcPr/>
                </a:tc>
                <a:tc>
                  <a:txBody>
                    <a:bodyPr/>
                    <a:lstStyle/>
                    <a:p>
                      <a:pPr>
                        <a:defRPr sz="1100">
                          <a:solidFill>
                            <a:srgbClr val="404040"/>
                          </a:solidFill>
                        </a:defRPr>
                      </a:pPr>
                      <a:r>
                        <a:t>+0.62</a:t>
                      </a:r>
                    </a:p>
                  </a:txBody>
                  <a:tcPr/>
                </a:tc>
                <a:tc>
                  <a:txBody>
                    <a:bodyPr/>
                    <a:lstStyle/>
                    <a:p>
                      <a:pPr>
                        <a:defRPr sz="1100">
                          <a:solidFill>
                            <a:srgbClr val="404040"/>
                          </a:solidFill>
                        </a:defRPr>
                      </a:pPr>
                      <a:r>
                        <a:t>Some price sensitivity</a:t>
                      </a:r>
                    </a:p>
                  </a:txBody>
                  <a:tcPr/>
                </a:tc>
                <a:extLst>
                  <a:ext uri="{0D108BD9-81ED-4DB2-BD59-A6C34878D82A}">
                    <a16:rowId xmlns:a16="http://schemas.microsoft.com/office/drawing/2014/main" val="10002"/>
                  </a:ext>
                </a:extLst>
              </a:tr>
              <a:tr h="365760">
                <a:tc>
                  <a:txBody>
                    <a:bodyPr/>
                    <a:lstStyle/>
                    <a:p>
                      <a:pPr>
                        <a:defRPr sz="1100">
                          <a:solidFill>
                            <a:srgbClr val="404040"/>
                          </a:solidFill>
                        </a:defRPr>
                      </a:pPr>
                      <a:r>
                        <a:t>Subscription - Balcony</a:t>
                      </a:r>
                    </a:p>
                  </a:txBody>
                  <a:tcPr/>
                </a:tc>
                <a:tc>
                  <a:txBody>
                    <a:bodyPr/>
                    <a:lstStyle/>
                    <a:p>
                      <a:pPr>
                        <a:defRPr sz="1100">
                          <a:solidFill>
                            <a:srgbClr val="404040"/>
                          </a:solidFill>
                        </a:defRPr>
                      </a:pPr>
                      <a:r>
                        <a:t>$24.17</a:t>
                      </a:r>
                    </a:p>
                  </a:txBody>
                  <a:tcPr/>
                </a:tc>
                <a:tc>
                  <a:txBody>
                    <a:bodyPr/>
                    <a:lstStyle/>
                    <a:p>
                      <a:pPr>
                        <a:defRPr sz="1100">
                          <a:solidFill>
                            <a:srgbClr val="404040"/>
                          </a:solidFill>
                        </a:defRPr>
                      </a:pPr>
                      <a:r>
                        <a:t>-0.20</a:t>
                      </a:r>
                    </a:p>
                  </a:txBody>
                  <a:tcPr/>
                </a:tc>
                <a:tc>
                  <a:txBody>
                    <a:bodyPr/>
                    <a:lstStyle/>
                    <a:p>
                      <a:pPr>
                        <a:defRPr sz="1100">
                          <a:solidFill>
                            <a:srgbClr val="404040"/>
                          </a:solidFill>
                        </a:defRPr>
                      </a:pPr>
                      <a:r>
                        <a:t>Inelastic - budget-driven</a:t>
                      </a:r>
                    </a:p>
                  </a:txBody>
                  <a:tcPr/>
                </a:tc>
                <a:extLst>
                  <a:ext uri="{0D108BD9-81ED-4DB2-BD59-A6C34878D82A}">
                    <a16:rowId xmlns:a16="http://schemas.microsoft.com/office/drawing/2014/main" val="10003"/>
                  </a:ext>
                </a:extLst>
              </a:tr>
              <a:tr h="365760">
                <a:tc>
                  <a:txBody>
                    <a:bodyPr/>
                    <a:lstStyle/>
                    <a:p>
                      <a:pPr>
                        <a:defRPr sz="1100">
                          <a:solidFill>
                            <a:srgbClr val="404040"/>
                          </a:solidFill>
                        </a:defRPr>
                      </a:pPr>
                      <a:r>
                        <a:t>CYO - Premium Orchestra</a:t>
                      </a:r>
                    </a:p>
                  </a:txBody>
                  <a:tcPr/>
                </a:tc>
                <a:tc>
                  <a:txBody>
                    <a:bodyPr/>
                    <a:lstStyle/>
                    <a:p>
                      <a:pPr>
                        <a:defRPr sz="1100">
                          <a:solidFill>
                            <a:srgbClr val="404040"/>
                          </a:solidFill>
                        </a:defRPr>
                      </a:pPr>
                      <a:r>
                        <a:t>$51.99</a:t>
                      </a:r>
                    </a:p>
                  </a:txBody>
                  <a:tcPr/>
                </a:tc>
                <a:tc>
                  <a:txBody>
                    <a:bodyPr/>
                    <a:lstStyle/>
                    <a:p>
                      <a:pPr>
                        <a:defRPr sz="1100">
                          <a:solidFill>
                            <a:srgbClr val="404040"/>
                          </a:solidFill>
                        </a:defRPr>
                      </a:pPr>
                      <a:r>
                        <a:t>-2.19</a:t>
                      </a:r>
                    </a:p>
                  </a:txBody>
                  <a:tcPr/>
                </a:tc>
                <a:tc>
                  <a:txBody>
                    <a:bodyPr/>
                    <a:lstStyle/>
                    <a:p>
                      <a:pPr>
                        <a:defRPr sz="1100">
                          <a:solidFill>
                            <a:srgbClr val="404040"/>
                          </a:solidFill>
                        </a:defRPr>
                      </a:pPr>
                      <a:r>
                        <a:t>Very elastic - price conscious</a:t>
                      </a:r>
                    </a:p>
                  </a:txBody>
                  <a:tcPr/>
                </a:tc>
                <a:extLst>
                  <a:ext uri="{0D108BD9-81ED-4DB2-BD59-A6C34878D82A}">
                    <a16:rowId xmlns:a16="http://schemas.microsoft.com/office/drawing/2014/main" val="10004"/>
                  </a:ext>
                </a:extLst>
              </a:tr>
              <a:tr h="365760">
                <a:tc>
                  <a:txBody>
                    <a:bodyPr/>
                    <a:lstStyle/>
                    <a:p>
                      <a:pPr>
                        <a:defRPr sz="1100">
                          <a:solidFill>
                            <a:srgbClr val="404040"/>
                          </a:solidFill>
                        </a:defRPr>
                      </a:pPr>
                      <a:r>
                        <a:t>CYO - Dress Circle</a:t>
                      </a:r>
                    </a:p>
                  </a:txBody>
                  <a:tcPr/>
                </a:tc>
                <a:tc>
                  <a:txBody>
                    <a:bodyPr/>
                    <a:lstStyle/>
                    <a:p>
                      <a:pPr>
                        <a:defRPr sz="1100">
                          <a:solidFill>
                            <a:srgbClr val="404040"/>
                          </a:solidFill>
                        </a:defRPr>
                      </a:pPr>
                      <a:r>
                        <a:t>$48.67</a:t>
                      </a:r>
                    </a:p>
                  </a:txBody>
                  <a:tcPr/>
                </a:tc>
                <a:tc>
                  <a:txBody>
                    <a:bodyPr/>
                    <a:lstStyle/>
                    <a:p>
                      <a:pPr>
                        <a:defRPr sz="1100">
                          <a:solidFill>
                            <a:srgbClr val="404040"/>
                          </a:solidFill>
                        </a:defRPr>
                      </a:pPr>
                      <a:r>
                        <a:t>-2.05</a:t>
                      </a:r>
                    </a:p>
                  </a:txBody>
                  <a:tcPr/>
                </a:tc>
                <a:tc>
                  <a:txBody>
                    <a:bodyPr/>
                    <a:lstStyle/>
                    <a:p>
                      <a:pPr>
                        <a:defRPr sz="1100">
                          <a:solidFill>
                            <a:srgbClr val="404040"/>
                          </a:solidFill>
                        </a:defRPr>
                      </a:pPr>
                      <a:r>
                        <a:rPr dirty="0"/>
                        <a:t>Very elastic - value seekers</a:t>
                      </a:r>
                    </a:p>
                  </a:txBody>
                  <a:tcPr/>
                </a:tc>
                <a:extLst>
                  <a:ext uri="{0D108BD9-81ED-4DB2-BD59-A6C34878D82A}">
                    <a16:rowId xmlns:a16="http://schemas.microsoft.com/office/drawing/2014/main" val="10005"/>
                  </a:ext>
                </a:extLst>
              </a:tr>
            </a:tbl>
          </a:graphicData>
        </a:graphic>
      </p:graphicFrame>
      <p:sp>
        <p:nvSpPr>
          <p:cNvPr id="6" name="Rounded Rectangle 5"/>
          <p:cNvSpPr/>
          <p:nvPr/>
        </p:nvSpPr>
        <p:spPr>
          <a:xfrm>
            <a:off x="685800" y="5303520"/>
            <a:ext cx="7772400" cy="731520"/>
          </a:xfrm>
          <a:prstGeom prst="roundRect">
            <a:avLst/>
          </a:prstGeom>
          <a:solidFill>
            <a:srgbClr val="FFF8DC"/>
          </a:solidFill>
          <a:ln>
            <a:solidFill>
              <a:srgbClr val="C5A46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03366"/>
                </a:solidFill>
              </a:defRPr>
            </a:pPr>
            <a:r>
              <a:t>KEY INSIGHT: Fixed subscribers are inelastic (-0.89) - supports 10% Fixed Plus premium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274320"/>
            <a:ext cx="8412480" cy="640080"/>
          </a:xfrm>
          <a:prstGeom prst="rect">
            <a:avLst/>
          </a:prstGeom>
          <a:noFill/>
        </p:spPr>
        <p:txBody>
          <a:bodyPr wrap="none">
            <a:spAutoFit/>
          </a:bodyPr>
          <a:lstStyle/>
          <a:p>
            <a:pPr>
              <a:defRPr sz="2200" b="1">
                <a:solidFill>
                  <a:srgbClr val="FFFFFF"/>
                </a:solidFill>
              </a:defRPr>
            </a:pPr>
            <a:r>
              <a:t>Special Events show high elasticity for single ticket buyers - discounts drive volume</a:t>
            </a:r>
          </a:p>
        </p:txBody>
      </p:sp>
      <p:graphicFrame>
        <p:nvGraphicFramePr>
          <p:cNvPr id="5" name="Table 4"/>
          <p:cNvGraphicFramePr>
            <a:graphicFrameLocks noGrp="1"/>
          </p:cNvGraphicFramePr>
          <p:nvPr/>
        </p:nvGraphicFramePr>
        <p:xfrm>
          <a:off x="685800" y="1371600"/>
          <a:ext cx="7772400" cy="1981200"/>
        </p:xfrm>
        <a:graphic>
          <a:graphicData uri="http://schemas.openxmlformats.org/drawingml/2006/table">
            <a:tbl>
              <a:tblPr firstRow="1" bandRow="1">
                <a:tableStyleId>{5C22544A-7EE6-4342-B048-85BDC9FD1C3A}</a:tableStyleId>
              </a:tblPr>
              <a:tblGrid>
                <a:gridCol w="1943100">
                  <a:extLst>
                    <a:ext uri="{9D8B030D-6E8A-4147-A177-3AD203B41FA5}">
                      <a16:colId xmlns:a16="http://schemas.microsoft.com/office/drawing/2014/main" val="20000"/>
                    </a:ext>
                  </a:extLst>
                </a:gridCol>
                <a:gridCol w="1943100">
                  <a:extLst>
                    <a:ext uri="{9D8B030D-6E8A-4147-A177-3AD203B41FA5}">
                      <a16:colId xmlns:a16="http://schemas.microsoft.com/office/drawing/2014/main" val="20001"/>
                    </a:ext>
                  </a:extLst>
                </a:gridCol>
                <a:gridCol w="1943100">
                  <a:extLst>
                    <a:ext uri="{9D8B030D-6E8A-4147-A177-3AD203B41FA5}">
                      <a16:colId xmlns:a16="http://schemas.microsoft.com/office/drawing/2014/main" val="20002"/>
                    </a:ext>
                  </a:extLst>
                </a:gridCol>
                <a:gridCol w="1943100">
                  <a:extLst>
                    <a:ext uri="{9D8B030D-6E8A-4147-A177-3AD203B41FA5}">
                      <a16:colId xmlns:a16="http://schemas.microsoft.com/office/drawing/2014/main" val="20003"/>
                    </a:ext>
                  </a:extLst>
                </a:gridCol>
              </a:tblGrid>
              <a:tr h="365760">
                <a:tc>
                  <a:txBody>
                    <a:bodyPr/>
                    <a:lstStyle/>
                    <a:p>
                      <a:pPr>
                        <a:defRPr sz="1200" b="1">
                          <a:solidFill>
                            <a:srgbClr val="FFFFFF"/>
                          </a:solidFill>
                        </a:defRPr>
                      </a:pPr>
                      <a:r>
                        <a:t>Segment</a:t>
                      </a:r>
                    </a:p>
                  </a:txBody>
                  <a:tcPr>
                    <a:solidFill>
                      <a:srgbClr val="003366"/>
                    </a:solidFill>
                  </a:tcPr>
                </a:tc>
                <a:tc>
                  <a:txBody>
                    <a:bodyPr/>
                    <a:lstStyle/>
                    <a:p>
                      <a:pPr>
                        <a:defRPr sz="1200" b="1">
                          <a:solidFill>
                            <a:srgbClr val="FFFFFF"/>
                          </a:solidFill>
                        </a:defRPr>
                      </a:pPr>
                      <a:r>
                        <a:t>Avg Price</a:t>
                      </a:r>
                    </a:p>
                  </a:txBody>
                  <a:tcPr>
                    <a:solidFill>
                      <a:srgbClr val="003366"/>
                    </a:solidFill>
                  </a:tcPr>
                </a:tc>
                <a:tc>
                  <a:txBody>
                    <a:bodyPr/>
                    <a:lstStyle/>
                    <a:p>
                      <a:pPr>
                        <a:defRPr sz="1200" b="1">
                          <a:solidFill>
                            <a:srgbClr val="FFFFFF"/>
                          </a:solidFill>
                        </a:defRPr>
                      </a:pPr>
                      <a:r>
                        <a:t>Elasticity</a:t>
                      </a:r>
                    </a:p>
                  </a:txBody>
                  <a:tcPr>
                    <a:solidFill>
                      <a:srgbClr val="003366"/>
                    </a:solidFill>
                  </a:tcPr>
                </a:tc>
                <a:tc>
                  <a:txBody>
                    <a:bodyPr/>
                    <a:lstStyle/>
                    <a:p>
                      <a:pPr>
                        <a:defRPr sz="1200" b="1">
                          <a:solidFill>
                            <a:srgbClr val="FFFFFF"/>
                          </a:solidFill>
                        </a:defRPr>
                      </a:pPr>
                      <a:r>
                        <a:t>Revenue Impact of 10% Discount</a:t>
                      </a:r>
                    </a:p>
                  </a:txBody>
                  <a:tcPr>
                    <a:solidFill>
                      <a:srgbClr val="003366"/>
                    </a:solidFill>
                  </a:tcPr>
                </a:tc>
                <a:extLst>
                  <a:ext uri="{0D108BD9-81ED-4DB2-BD59-A6C34878D82A}">
                    <a16:rowId xmlns:a16="http://schemas.microsoft.com/office/drawing/2014/main" val="10000"/>
                  </a:ext>
                </a:extLst>
              </a:tr>
              <a:tr h="365760">
                <a:tc>
                  <a:txBody>
                    <a:bodyPr/>
                    <a:lstStyle/>
                    <a:p>
                      <a:pPr>
                        <a:defRPr sz="1100">
                          <a:solidFill>
                            <a:srgbClr val="404040"/>
                          </a:solidFill>
                        </a:defRPr>
                      </a:pPr>
                      <a:r>
                        <a:t>Single Ticket - Special Events</a:t>
                      </a:r>
                    </a:p>
                  </a:txBody>
                  <a:tcPr/>
                </a:tc>
                <a:tc>
                  <a:txBody>
                    <a:bodyPr/>
                    <a:lstStyle/>
                    <a:p>
                      <a:pPr>
                        <a:defRPr sz="1100">
                          <a:solidFill>
                            <a:srgbClr val="404040"/>
                          </a:solidFill>
                        </a:defRPr>
                      </a:pPr>
                      <a:r>
                        <a:t>$77.25</a:t>
                      </a:r>
                    </a:p>
                  </a:txBody>
                  <a:tcPr/>
                </a:tc>
                <a:tc>
                  <a:txBody>
                    <a:bodyPr/>
                    <a:lstStyle/>
                    <a:p>
                      <a:pPr>
                        <a:defRPr sz="1100">
                          <a:solidFill>
                            <a:srgbClr val="404040"/>
                          </a:solidFill>
                        </a:defRPr>
                      </a:pPr>
                      <a:r>
                        <a:t>-1.35</a:t>
                      </a:r>
                    </a:p>
                  </a:txBody>
                  <a:tcPr/>
                </a:tc>
                <a:tc>
                  <a:txBody>
                    <a:bodyPr/>
                    <a:lstStyle/>
                    <a:p>
                      <a:pPr>
                        <a:defRPr sz="1100">
                          <a:solidFill>
                            <a:srgbClr val="404040"/>
                          </a:solidFill>
                        </a:defRPr>
                      </a:pPr>
                      <a:r>
                        <a:t>+15.3% quantity, +3.8% revenue</a:t>
                      </a:r>
                    </a:p>
                  </a:txBody>
                  <a:tcPr/>
                </a:tc>
                <a:extLst>
                  <a:ext uri="{0D108BD9-81ED-4DB2-BD59-A6C34878D82A}">
                    <a16:rowId xmlns:a16="http://schemas.microsoft.com/office/drawing/2014/main" val="10001"/>
                  </a:ext>
                </a:extLst>
              </a:tr>
              <a:tr h="365760">
                <a:tc>
                  <a:txBody>
                    <a:bodyPr/>
                    <a:lstStyle/>
                    <a:p>
                      <a:pPr>
                        <a:defRPr sz="1100">
                          <a:solidFill>
                            <a:srgbClr val="404040"/>
                          </a:solidFill>
                        </a:defRPr>
                      </a:pPr>
                      <a:r>
                        <a:t>Single Ticket (All)</a:t>
                      </a:r>
                    </a:p>
                  </a:txBody>
                  <a:tcPr/>
                </a:tc>
                <a:tc>
                  <a:txBody>
                    <a:bodyPr/>
                    <a:lstStyle/>
                    <a:p>
                      <a:pPr>
                        <a:defRPr sz="1100">
                          <a:solidFill>
                            <a:srgbClr val="404040"/>
                          </a:solidFill>
                        </a:defRPr>
                      </a:pPr>
                      <a:r>
                        <a:t>$58.93</a:t>
                      </a:r>
                    </a:p>
                  </a:txBody>
                  <a:tcPr/>
                </a:tc>
                <a:tc>
                  <a:txBody>
                    <a:bodyPr/>
                    <a:lstStyle/>
                    <a:p>
                      <a:pPr>
                        <a:defRPr sz="1100">
                          <a:solidFill>
                            <a:srgbClr val="404040"/>
                          </a:solidFill>
                        </a:defRPr>
                      </a:pPr>
                      <a:r>
                        <a:t>-0.36</a:t>
                      </a:r>
                    </a:p>
                  </a:txBody>
                  <a:tcPr/>
                </a:tc>
                <a:tc>
                  <a:txBody>
                    <a:bodyPr/>
                    <a:lstStyle/>
                    <a:p>
                      <a:pPr>
                        <a:defRPr sz="1100">
                          <a:solidFill>
                            <a:srgbClr val="404040"/>
                          </a:solidFill>
                        </a:defRPr>
                      </a:pPr>
                      <a:r>
                        <a:t>+3.8% quantity, -6.6% revenue</a:t>
                      </a:r>
                    </a:p>
                  </a:txBody>
                  <a:tcPr/>
                </a:tc>
                <a:extLst>
                  <a:ext uri="{0D108BD9-81ED-4DB2-BD59-A6C34878D82A}">
                    <a16:rowId xmlns:a16="http://schemas.microsoft.com/office/drawing/2014/main" val="10002"/>
                  </a:ext>
                </a:extLst>
              </a:tr>
              <a:tr h="365760">
                <a:tc>
                  <a:txBody>
                    <a:bodyPr/>
                    <a:lstStyle/>
                    <a:p>
                      <a:pPr>
                        <a:defRPr sz="1100">
                          <a:solidFill>
                            <a:srgbClr val="404040"/>
                          </a:solidFill>
                        </a:defRPr>
                      </a:pPr>
                      <a:r>
                        <a:t>Premium Single Ticket - Special</a:t>
                      </a:r>
                    </a:p>
                  </a:txBody>
                  <a:tcPr/>
                </a:tc>
                <a:tc>
                  <a:txBody>
                    <a:bodyPr/>
                    <a:lstStyle/>
                    <a:p>
                      <a:pPr>
                        <a:defRPr sz="1100">
                          <a:solidFill>
                            <a:srgbClr val="404040"/>
                          </a:solidFill>
                        </a:defRPr>
                      </a:pPr>
                      <a:r>
                        <a:t>$85.74</a:t>
                      </a:r>
                    </a:p>
                  </a:txBody>
                  <a:tcPr/>
                </a:tc>
                <a:tc>
                  <a:txBody>
                    <a:bodyPr/>
                    <a:lstStyle/>
                    <a:p>
                      <a:pPr>
                        <a:defRPr sz="1100">
                          <a:solidFill>
                            <a:srgbClr val="404040"/>
                          </a:solidFill>
                        </a:defRPr>
                      </a:pPr>
                      <a:r>
                        <a:t>-0.91</a:t>
                      </a:r>
                    </a:p>
                  </a:txBody>
                  <a:tcPr/>
                </a:tc>
                <a:tc>
                  <a:txBody>
                    <a:bodyPr/>
                    <a:lstStyle/>
                    <a:p>
                      <a:pPr>
                        <a:defRPr sz="1100">
                          <a:solidFill>
                            <a:srgbClr val="404040"/>
                          </a:solidFill>
                        </a:defRPr>
                      </a:pPr>
                      <a:r>
                        <a:t>+10% quantity, break-even</a:t>
                      </a:r>
                    </a:p>
                  </a:txBody>
                  <a:tcPr/>
                </a:tc>
                <a:extLst>
                  <a:ext uri="{0D108BD9-81ED-4DB2-BD59-A6C34878D82A}">
                    <a16:rowId xmlns:a16="http://schemas.microsoft.com/office/drawing/2014/main" val="10003"/>
                  </a:ext>
                </a:extLst>
              </a:tr>
              <a:tr h="365760">
                <a:tc>
                  <a:txBody>
                    <a:bodyPr/>
                    <a:lstStyle/>
                    <a:p>
                      <a:pPr>
                        <a:defRPr sz="1100">
                          <a:solidFill>
                            <a:srgbClr val="404040"/>
                          </a:solidFill>
                        </a:defRPr>
                      </a:pPr>
                      <a:r>
                        <a:t>Classical (Single Ticket)</a:t>
                      </a:r>
                    </a:p>
                  </a:txBody>
                  <a:tcPr/>
                </a:tc>
                <a:tc>
                  <a:txBody>
                    <a:bodyPr/>
                    <a:lstStyle/>
                    <a:p>
                      <a:pPr>
                        <a:defRPr sz="1100">
                          <a:solidFill>
                            <a:srgbClr val="404040"/>
                          </a:solidFill>
                        </a:defRPr>
                      </a:pPr>
                      <a:r>
                        <a:t>$62.43</a:t>
                      </a:r>
                    </a:p>
                  </a:txBody>
                  <a:tcPr/>
                </a:tc>
                <a:tc>
                  <a:txBody>
                    <a:bodyPr/>
                    <a:lstStyle/>
                    <a:p>
                      <a:pPr>
                        <a:defRPr sz="1100">
                          <a:solidFill>
                            <a:srgbClr val="404040"/>
                          </a:solidFill>
                        </a:defRPr>
                      </a:pPr>
                      <a:r>
                        <a:t>-0.18</a:t>
                      </a:r>
                    </a:p>
                  </a:txBody>
                  <a:tcPr/>
                </a:tc>
                <a:tc>
                  <a:txBody>
                    <a:bodyPr/>
                    <a:lstStyle/>
                    <a:p>
                      <a:pPr>
                        <a:defRPr sz="1100">
                          <a:solidFill>
                            <a:srgbClr val="404040"/>
                          </a:solidFill>
                        </a:defRPr>
                      </a:pPr>
                      <a:r>
                        <a:rPr dirty="0"/>
                        <a:t>+1.8% quantity, -8.2% revenue</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3108960"/>
            <a:ext cx="886968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560320"/>
            <a:ext cx="8229600" cy="914400"/>
          </a:xfrm>
          <a:prstGeom prst="rect">
            <a:avLst/>
          </a:prstGeom>
          <a:noFill/>
        </p:spPr>
        <p:txBody>
          <a:bodyPr wrap="none">
            <a:spAutoFit/>
          </a:bodyPr>
          <a:lstStyle/>
          <a:p>
            <a:pPr>
              <a:defRPr sz="3600" b="1">
                <a:solidFill>
                  <a:srgbClr val="003366"/>
                </a:solidFill>
              </a:defRPr>
            </a:pPr>
            <a:r>
              <a:t>Section 4: Pricing Simulations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274320"/>
            <a:ext cx="8412480" cy="640080"/>
          </a:xfrm>
          <a:prstGeom prst="rect">
            <a:avLst/>
          </a:prstGeom>
          <a:noFill/>
        </p:spPr>
        <p:txBody>
          <a:bodyPr wrap="none">
            <a:spAutoFit/>
          </a:bodyPr>
          <a:lstStyle/>
          <a:p>
            <a:pPr>
              <a:defRPr sz="2200" b="1">
                <a:solidFill>
                  <a:srgbClr val="FFFFFF"/>
                </a:solidFill>
              </a:defRPr>
            </a:pPr>
            <a:r>
              <a:t>Simulation A: Classical Add-On Product targets 7,008 Special/Holiday buyers</a:t>
            </a:r>
          </a:p>
        </p:txBody>
      </p:sp>
      <p:sp>
        <p:nvSpPr>
          <p:cNvPr id="5" name="Rounded Rectangle 4"/>
          <p:cNvSpPr/>
          <p:nvPr/>
        </p:nvSpPr>
        <p:spPr>
          <a:xfrm>
            <a:off x="457200" y="1371600"/>
            <a:ext cx="8229600" cy="1097280"/>
          </a:xfrm>
          <a:prstGeom prst="roundRect">
            <a:avLst/>
          </a:prstGeom>
          <a:solidFill>
            <a:srgbClr val="E6F7FF"/>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54480"/>
            <a:ext cx="7863840" cy="914400"/>
          </a:xfrm>
          <a:prstGeom prst="rect">
            <a:avLst/>
          </a:prstGeom>
          <a:noFill/>
        </p:spPr>
        <p:txBody>
          <a:bodyPr wrap="square">
            <a:spAutoFit/>
          </a:bodyPr>
          <a:lstStyle/>
          <a:p>
            <a:pPr>
              <a:defRPr sz="1600" b="1">
                <a:solidFill>
                  <a:srgbClr val="003366"/>
                </a:solidFill>
              </a:defRPr>
            </a:pPr>
            <a:r>
              <a:t>OPPORTUNITY: 80.6% of Special/Holiday single ticket buyers have NEVER purchased a Classical ticket - a massive untapped market for cross-selling.</a:t>
            </a:r>
          </a:p>
        </p:txBody>
      </p:sp>
      <p:sp>
        <p:nvSpPr>
          <p:cNvPr id="7" name="TextBox 6"/>
          <p:cNvSpPr txBox="1"/>
          <p:nvPr/>
        </p:nvSpPr>
        <p:spPr>
          <a:xfrm>
            <a:off x="457200" y="2743200"/>
            <a:ext cx="8229600" cy="3657600"/>
          </a:xfrm>
          <a:prstGeom prst="rect">
            <a:avLst/>
          </a:prstGeom>
          <a:noFill/>
        </p:spPr>
        <p:txBody>
          <a:bodyPr wrap="square">
            <a:spAutoFit/>
          </a:bodyPr>
          <a:lstStyle/>
          <a:p>
            <a:pPr>
              <a:spcAft>
                <a:spcPts val="800"/>
              </a:spcAft>
              <a:defRPr sz="1400">
                <a:solidFill>
                  <a:srgbClr val="404040"/>
                </a:solidFill>
              </a:defRPr>
            </a:pPr>
            <a:r>
              <a:rPr dirty="0"/>
              <a:t>• Target Market: 7,008 Special/Holiday single ticket buyers (30% of all single ticket accounts)</a:t>
            </a:r>
          </a:p>
          <a:p>
            <a:pPr>
              <a:spcAft>
                <a:spcPts val="800"/>
              </a:spcAft>
              <a:defRPr sz="1400">
                <a:solidFill>
                  <a:srgbClr val="404040"/>
                </a:solidFill>
              </a:defRPr>
            </a:pPr>
            <a:r>
              <a:rPr dirty="0"/>
              <a:t>• Key Insight: These buyers already love ASO - they just haven't discovered Classical</a:t>
            </a:r>
          </a:p>
          <a:p>
            <a:pPr>
              <a:spcAft>
                <a:spcPts val="800"/>
              </a:spcAft>
              <a:defRPr sz="1400">
                <a:solidFill>
                  <a:srgbClr val="404040"/>
                </a:solidFill>
              </a:defRPr>
            </a:pPr>
            <a:r>
              <a:rPr dirty="0"/>
              <a:t>• Approach: Offer tiered discounts for Classical tickets to recent Special/Holiday attendees</a:t>
            </a:r>
          </a:p>
          <a:p>
            <a:pPr>
              <a:spcAft>
                <a:spcPts val="800"/>
              </a:spcAft>
              <a:defRPr sz="1400">
                <a:solidFill>
                  <a:srgbClr val="404040"/>
                </a:solidFill>
              </a:defRPr>
            </a:pPr>
            <a:r>
              <a:rPr dirty="0"/>
              <a:t>• Timing: Same-day offers maximize engagement while experience is fresh</a:t>
            </a:r>
          </a:p>
          <a:p>
            <a:pPr>
              <a:spcAft>
                <a:spcPts val="800"/>
              </a:spcAft>
              <a:defRPr sz="1400">
                <a:solidFill>
                  <a:srgbClr val="404040"/>
                </a:solidFill>
              </a:defRPr>
            </a:pPr>
            <a:r>
              <a:rPr dirty="0"/>
              <a:t>• Risk: Zero - product differentiation means no cannibalization of full-price sales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274320"/>
            <a:ext cx="8412480" cy="640080"/>
          </a:xfrm>
          <a:prstGeom prst="rect">
            <a:avLst/>
          </a:prstGeom>
          <a:noFill/>
        </p:spPr>
        <p:txBody>
          <a:bodyPr wrap="none">
            <a:spAutoFit/>
          </a:bodyPr>
          <a:lstStyle/>
          <a:p>
            <a:pPr>
              <a:defRPr sz="2200" b="1">
                <a:solidFill>
                  <a:srgbClr val="FFFFFF"/>
                </a:solidFill>
              </a:defRPr>
            </a:pPr>
            <a:r>
              <a:t>Tiered discounts incentivize multiple purchases: +1 ticket (5% off) to +3 tickets (15% off)</a:t>
            </a:r>
          </a:p>
        </p:txBody>
      </p:sp>
      <p:graphicFrame>
        <p:nvGraphicFramePr>
          <p:cNvPr id="5" name="Table 4"/>
          <p:cNvGraphicFramePr>
            <a:graphicFrameLocks noGrp="1"/>
          </p:cNvGraphicFramePr>
          <p:nvPr/>
        </p:nvGraphicFramePr>
        <p:xfrm>
          <a:off x="685800" y="1371600"/>
          <a:ext cx="7772400" cy="1463040"/>
        </p:xfrm>
        <a:graphic>
          <a:graphicData uri="http://schemas.openxmlformats.org/drawingml/2006/table">
            <a:tbl>
              <a:tblPr firstRow="1" bandRow="1">
                <a:tableStyleId>{5C22544A-7EE6-4342-B048-85BDC9FD1C3A}</a:tableStyleId>
              </a:tblPr>
              <a:tblGrid>
                <a:gridCol w="1943100">
                  <a:extLst>
                    <a:ext uri="{9D8B030D-6E8A-4147-A177-3AD203B41FA5}">
                      <a16:colId xmlns:a16="http://schemas.microsoft.com/office/drawing/2014/main" val="20000"/>
                    </a:ext>
                  </a:extLst>
                </a:gridCol>
                <a:gridCol w="1943100">
                  <a:extLst>
                    <a:ext uri="{9D8B030D-6E8A-4147-A177-3AD203B41FA5}">
                      <a16:colId xmlns:a16="http://schemas.microsoft.com/office/drawing/2014/main" val="20001"/>
                    </a:ext>
                  </a:extLst>
                </a:gridCol>
                <a:gridCol w="1943100">
                  <a:extLst>
                    <a:ext uri="{9D8B030D-6E8A-4147-A177-3AD203B41FA5}">
                      <a16:colId xmlns:a16="http://schemas.microsoft.com/office/drawing/2014/main" val="20002"/>
                    </a:ext>
                  </a:extLst>
                </a:gridCol>
                <a:gridCol w="1943100">
                  <a:extLst>
                    <a:ext uri="{9D8B030D-6E8A-4147-A177-3AD203B41FA5}">
                      <a16:colId xmlns:a16="http://schemas.microsoft.com/office/drawing/2014/main" val="20003"/>
                    </a:ext>
                  </a:extLst>
                </a:gridCol>
              </a:tblGrid>
              <a:tr h="365760">
                <a:tc>
                  <a:txBody>
                    <a:bodyPr/>
                    <a:lstStyle/>
                    <a:p>
                      <a:pPr>
                        <a:defRPr sz="1200" b="1">
                          <a:solidFill>
                            <a:srgbClr val="FFFFFF"/>
                          </a:solidFill>
                        </a:defRPr>
                      </a:pPr>
                      <a:r>
                        <a:t>Add-On Level</a:t>
                      </a:r>
                    </a:p>
                  </a:txBody>
                  <a:tcPr>
                    <a:solidFill>
                      <a:srgbClr val="003366"/>
                    </a:solidFill>
                  </a:tcPr>
                </a:tc>
                <a:tc>
                  <a:txBody>
                    <a:bodyPr/>
                    <a:lstStyle/>
                    <a:p>
                      <a:pPr>
                        <a:defRPr sz="1200" b="1">
                          <a:solidFill>
                            <a:srgbClr val="FFFFFF"/>
                          </a:solidFill>
                        </a:defRPr>
                      </a:pPr>
                      <a:r>
                        <a:t>Discount</a:t>
                      </a:r>
                    </a:p>
                  </a:txBody>
                  <a:tcPr>
                    <a:solidFill>
                      <a:srgbClr val="003366"/>
                    </a:solidFill>
                  </a:tcPr>
                </a:tc>
                <a:tc>
                  <a:txBody>
                    <a:bodyPr/>
                    <a:lstStyle/>
                    <a:p>
                      <a:pPr>
                        <a:defRPr sz="1200" b="1">
                          <a:solidFill>
                            <a:srgbClr val="FFFFFF"/>
                          </a:solidFill>
                        </a:defRPr>
                      </a:pPr>
                      <a:r>
                        <a:t>Example Price</a:t>
                      </a:r>
                    </a:p>
                  </a:txBody>
                  <a:tcPr>
                    <a:solidFill>
                      <a:srgbClr val="003366"/>
                    </a:solidFill>
                  </a:tcPr>
                </a:tc>
                <a:tc>
                  <a:txBody>
                    <a:bodyPr/>
                    <a:lstStyle/>
                    <a:p>
                      <a:pPr>
                        <a:defRPr sz="1200" b="1">
                          <a:solidFill>
                            <a:srgbClr val="FFFFFF"/>
                          </a:solidFill>
                        </a:defRPr>
                      </a:pPr>
                      <a:r>
                        <a:t>Psychological Driver</a:t>
                      </a:r>
                    </a:p>
                  </a:txBody>
                  <a:tcPr>
                    <a:solidFill>
                      <a:srgbClr val="003366"/>
                    </a:solidFill>
                  </a:tcPr>
                </a:tc>
                <a:extLst>
                  <a:ext uri="{0D108BD9-81ED-4DB2-BD59-A6C34878D82A}">
                    <a16:rowId xmlns:a16="http://schemas.microsoft.com/office/drawing/2014/main" val="10000"/>
                  </a:ext>
                </a:extLst>
              </a:tr>
              <a:tr h="365760">
                <a:tc>
                  <a:txBody>
                    <a:bodyPr/>
                    <a:lstStyle/>
                    <a:p>
                      <a:pPr>
                        <a:defRPr sz="1100">
                          <a:solidFill>
                            <a:srgbClr val="404040"/>
                          </a:solidFill>
                        </a:defRPr>
                      </a:pPr>
                      <a:r>
                        <a:t>+1 Classical ticket</a:t>
                      </a:r>
                    </a:p>
                  </a:txBody>
                  <a:tcPr/>
                </a:tc>
                <a:tc>
                  <a:txBody>
                    <a:bodyPr/>
                    <a:lstStyle/>
                    <a:p>
                      <a:pPr>
                        <a:defRPr sz="1100">
                          <a:solidFill>
                            <a:srgbClr val="404040"/>
                          </a:solidFill>
                        </a:defRPr>
                      </a:pPr>
                      <a:r>
                        <a:t>5% off</a:t>
                      </a:r>
                    </a:p>
                  </a:txBody>
                  <a:tcPr/>
                </a:tc>
                <a:tc>
                  <a:txBody>
                    <a:bodyPr/>
                    <a:lstStyle/>
                    <a:p>
                      <a:pPr>
                        <a:defRPr sz="1100">
                          <a:solidFill>
                            <a:srgbClr val="404040"/>
                          </a:solidFill>
                        </a:defRPr>
                      </a:pPr>
                      <a:r>
                        <a:t>$55.63 (was $58.56)</a:t>
                      </a:r>
                    </a:p>
                  </a:txBody>
                  <a:tcPr/>
                </a:tc>
                <a:tc>
                  <a:txBody>
                    <a:bodyPr/>
                    <a:lstStyle/>
                    <a:p>
                      <a:pPr>
                        <a:defRPr sz="1100">
                          <a:solidFill>
                            <a:srgbClr val="404040"/>
                          </a:solidFill>
                        </a:defRPr>
                      </a:pPr>
                      <a:r>
                        <a:t>Low barrier to trial</a:t>
                      </a:r>
                    </a:p>
                  </a:txBody>
                  <a:tcPr/>
                </a:tc>
                <a:extLst>
                  <a:ext uri="{0D108BD9-81ED-4DB2-BD59-A6C34878D82A}">
                    <a16:rowId xmlns:a16="http://schemas.microsoft.com/office/drawing/2014/main" val="10001"/>
                  </a:ext>
                </a:extLst>
              </a:tr>
              <a:tr h="365760">
                <a:tc>
                  <a:txBody>
                    <a:bodyPr/>
                    <a:lstStyle/>
                    <a:p>
                      <a:pPr>
                        <a:defRPr sz="1100">
                          <a:solidFill>
                            <a:srgbClr val="404040"/>
                          </a:solidFill>
                        </a:defRPr>
                      </a:pPr>
                      <a:r>
                        <a:t>+2 Classical tickets</a:t>
                      </a:r>
                    </a:p>
                  </a:txBody>
                  <a:tcPr/>
                </a:tc>
                <a:tc>
                  <a:txBody>
                    <a:bodyPr/>
                    <a:lstStyle/>
                    <a:p>
                      <a:pPr>
                        <a:defRPr sz="1100">
                          <a:solidFill>
                            <a:srgbClr val="404040"/>
                          </a:solidFill>
                        </a:defRPr>
                      </a:pPr>
                      <a:r>
                        <a:t>10% off each</a:t>
                      </a:r>
                    </a:p>
                  </a:txBody>
                  <a:tcPr/>
                </a:tc>
                <a:tc>
                  <a:txBody>
                    <a:bodyPr/>
                    <a:lstStyle/>
                    <a:p>
                      <a:pPr>
                        <a:defRPr sz="1100">
                          <a:solidFill>
                            <a:srgbClr val="404040"/>
                          </a:solidFill>
                        </a:defRPr>
                      </a:pPr>
                      <a:r>
                        <a:t>$52.70 per ticket</a:t>
                      </a:r>
                    </a:p>
                  </a:txBody>
                  <a:tcPr/>
                </a:tc>
                <a:tc>
                  <a:txBody>
                    <a:bodyPr/>
                    <a:lstStyle/>
                    <a:p>
                      <a:pPr>
                        <a:defRPr sz="1100">
                          <a:solidFill>
                            <a:srgbClr val="404040"/>
                          </a:solidFill>
                        </a:defRPr>
                      </a:pPr>
                      <a:r>
                        <a:t>Bring a friend / Try two</a:t>
                      </a:r>
                    </a:p>
                  </a:txBody>
                  <a:tcPr/>
                </a:tc>
                <a:extLst>
                  <a:ext uri="{0D108BD9-81ED-4DB2-BD59-A6C34878D82A}">
                    <a16:rowId xmlns:a16="http://schemas.microsoft.com/office/drawing/2014/main" val="10002"/>
                  </a:ext>
                </a:extLst>
              </a:tr>
              <a:tr h="365760">
                <a:tc>
                  <a:txBody>
                    <a:bodyPr/>
                    <a:lstStyle/>
                    <a:p>
                      <a:pPr>
                        <a:defRPr sz="1100">
                          <a:solidFill>
                            <a:srgbClr val="404040"/>
                          </a:solidFill>
                        </a:defRPr>
                      </a:pPr>
                      <a:r>
                        <a:t>+3 Classical tickets</a:t>
                      </a:r>
                    </a:p>
                  </a:txBody>
                  <a:tcPr/>
                </a:tc>
                <a:tc>
                  <a:txBody>
                    <a:bodyPr/>
                    <a:lstStyle/>
                    <a:p>
                      <a:pPr>
                        <a:defRPr sz="1100">
                          <a:solidFill>
                            <a:srgbClr val="404040"/>
                          </a:solidFill>
                        </a:defRPr>
                      </a:pPr>
                      <a:r>
                        <a:t>15% off each</a:t>
                      </a:r>
                    </a:p>
                  </a:txBody>
                  <a:tcPr/>
                </a:tc>
                <a:tc>
                  <a:txBody>
                    <a:bodyPr/>
                    <a:lstStyle/>
                    <a:p>
                      <a:pPr>
                        <a:defRPr sz="1100">
                          <a:solidFill>
                            <a:srgbClr val="404040"/>
                          </a:solidFill>
                        </a:defRPr>
                      </a:pPr>
                      <a:r>
                        <a:t>$49.78 per ticket</a:t>
                      </a:r>
                    </a:p>
                  </a:txBody>
                  <a:tcPr/>
                </a:tc>
                <a:tc>
                  <a:txBody>
                    <a:bodyPr/>
                    <a:lstStyle/>
                    <a:p>
                      <a:pPr>
                        <a:defRPr sz="1100">
                          <a:solidFill>
                            <a:srgbClr val="404040"/>
                          </a:solidFill>
                        </a:defRPr>
                      </a:pPr>
                      <a:r>
                        <a:t>Subscription-like behavior</a:t>
                      </a:r>
                    </a:p>
                  </a:txBody>
                  <a:tcPr/>
                </a:tc>
                <a:extLst>
                  <a:ext uri="{0D108BD9-81ED-4DB2-BD59-A6C34878D82A}">
                    <a16:rowId xmlns:a16="http://schemas.microsoft.com/office/drawing/2014/main" val="10003"/>
                  </a:ext>
                </a:extLst>
              </a:tr>
            </a:tbl>
          </a:graphicData>
        </a:graphic>
      </p:graphicFrame>
      <p:sp>
        <p:nvSpPr>
          <p:cNvPr id="6" name="Rounded Rectangle 5"/>
          <p:cNvSpPr/>
          <p:nvPr/>
        </p:nvSpPr>
        <p:spPr>
          <a:xfrm>
            <a:off x="685800" y="5303520"/>
            <a:ext cx="7772400" cy="731520"/>
          </a:xfrm>
          <a:prstGeom prst="roundRect">
            <a:avLst/>
          </a:prstGeom>
          <a:solidFill>
            <a:srgbClr val="FFF8DC"/>
          </a:solidFill>
          <a:ln>
            <a:solidFill>
              <a:srgbClr val="C5A46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03366"/>
                </a:solidFill>
              </a:defRPr>
            </a:pPr>
            <a:r>
              <a:t>KEY INSIGHT: 60-day offer window creates urgency while allowing planning time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274320"/>
            <a:ext cx="8412480" cy="640080"/>
          </a:xfrm>
          <a:prstGeom prst="rect">
            <a:avLst/>
          </a:prstGeom>
          <a:noFill/>
        </p:spPr>
        <p:txBody>
          <a:bodyPr wrap="none">
            <a:spAutoFit/>
          </a:bodyPr>
          <a:lstStyle/>
          <a:p>
            <a:pPr>
              <a:defRPr sz="2200" b="1">
                <a:solidFill>
                  <a:srgbClr val="FFFFFF"/>
                </a:solidFill>
              </a:defRPr>
            </a:pPr>
            <a:r>
              <a:t>Projected impact: 1,926 new Classical tickets generating $102,099 incremental revenue</a:t>
            </a:r>
          </a:p>
        </p:txBody>
      </p:sp>
      <p:graphicFrame>
        <p:nvGraphicFramePr>
          <p:cNvPr id="5" name="Table 4"/>
          <p:cNvGraphicFramePr>
            <a:graphicFrameLocks noGrp="1"/>
          </p:cNvGraphicFramePr>
          <p:nvPr/>
        </p:nvGraphicFramePr>
        <p:xfrm>
          <a:off x="685800" y="1371600"/>
          <a:ext cx="7772400" cy="2377440"/>
        </p:xfrm>
        <a:graphic>
          <a:graphicData uri="http://schemas.openxmlformats.org/drawingml/2006/table">
            <a:tbl>
              <a:tblPr firstRow="1" bandRow="1">
                <a:tableStyleId>{5C22544A-7EE6-4342-B048-85BDC9FD1C3A}</a:tableStyleId>
              </a:tblPr>
              <a:tblGrid>
                <a:gridCol w="1943100">
                  <a:extLst>
                    <a:ext uri="{9D8B030D-6E8A-4147-A177-3AD203B41FA5}">
                      <a16:colId xmlns:a16="http://schemas.microsoft.com/office/drawing/2014/main" val="20000"/>
                    </a:ext>
                  </a:extLst>
                </a:gridCol>
                <a:gridCol w="1943100">
                  <a:extLst>
                    <a:ext uri="{9D8B030D-6E8A-4147-A177-3AD203B41FA5}">
                      <a16:colId xmlns:a16="http://schemas.microsoft.com/office/drawing/2014/main" val="20001"/>
                    </a:ext>
                  </a:extLst>
                </a:gridCol>
                <a:gridCol w="1943100">
                  <a:extLst>
                    <a:ext uri="{9D8B030D-6E8A-4147-A177-3AD203B41FA5}">
                      <a16:colId xmlns:a16="http://schemas.microsoft.com/office/drawing/2014/main" val="20002"/>
                    </a:ext>
                  </a:extLst>
                </a:gridCol>
                <a:gridCol w="1943100">
                  <a:extLst>
                    <a:ext uri="{9D8B030D-6E8A-4147-A177-3AD203B41FA5}">
                      <a16:colId xmlns:a16="http://schemas.microsoft.com/office/drawing/2014/main" val="20003"/>
                    </a:ext>
                  </a:extLst>
                </a:gridCol>
              </a:tblGrid>
              <a:tr h="365760">
                <a:tc>
                  <a:txBody>
                    <a:bodyPr/>
                    <a:lstStyle/>
                    <a:p>
                      <a:pPr>
                        <a:defRPr sz="1200" b="1">
                          <a:solidFill>
                            <a:srgbClr val="FFFFFF"/>
                          </a:solidFill>
                        </a:defRPr>
                      </a:pPr>
                      <a:r>
                        <a:t>Segment</a:t>
                      </a:r>
                    </a:p>
                  </a:txBody>
                  <a:tcPr>
                    <a:solidFill>
                      <a:srgbClr val="003366"/>
                    </a:solidFill>
                  </a:tcPr>
                </a:tc>
                <a:tc>
                  <a:txBody>
                    <a:bodyPr/>
                    <a:lstStyle/>
                    <a:p>
                      <a:pPr>
                        <a:defRPr sz="1200" b="1">
                          <a:solidFill>
                            <a:srgbClr val="FFFFFF"/>
                          </a:solidFill>
                        </a:defRPr>
                      </a:pPr>
                      <a:r>
                        <a:t>Current State</a:t>
                      </a:r>
                    </a:p>
                  </a:txBody>
                  <a:tcPr>
                    <a:solidFill>
                      <a:srgbClr val="003366"/>
                    </a:solidFill>
                  </a:tcPr>
                </a:tc>
                <a:tc>
                  <a:txBody>
                    <a:bodyPr/>
                    <a:lstStyle/>
                    <a:p>
                      <a:pPr>
                        <a:defRPr sz="1200" b="1">
                          <a:solidFill>
                            <a:srgbClr val="FFFFFF"/>
                          </a:solidFill>
                        </a:defRPr>
                      </a:pPr>
                      <a:r>
                        <a:t>After Program</a:t>
                      </a:r>
                    </a:p>
                  </a:txBody>
                  <a:tcPr>
                    <a:solidFill>
                      <a:srgbClr val="003366"/>
                    </a:solidFill>
                  </a:tcPr>
                </a:tc>
                <a:tc>
                  <a:txBody>
                    <a:bodyPr/>
                    <a:lstStyle/>
                    <a:p>
                      <a:pPr>
                        <a:defRPr sz="1200" b="1">
                          <a:solidFill>
                            <a:srgbClr val="FFFFFF"/>
                          </a:solidFill>
                        </a:defRPr>
                      </a:pPr>
                      <a:r>
                        <a:t>Net New</a:t>
                      </a:r>
                    </a:p>
                  </a:txBody>
                  <a:tcPr>
                    <a:solidFill>
                      <a:srgbClr val="003366"/>
                    </a:solidFill>
                  </a:tcPr>
                </a:tc>
                <a:extLst>
                  <a:ext uri="{0D108BD9-81ED-4DB2-BD59-A6C34878D82A}">
                    <a16:rowId xmlns:a16="http://schemas.microsoft.com/office/drawing/2014/main" val="10000"/>
                  </a:ext>
                </a:extLst>
              </a:tr>
              <a:tr h="365760">
                <a:tc>
                  <a:txBody>
                    <a:bodyPr/>
                    <a:lstStyle/>
                    <a:p>
                      <a:pPr>
                        <a:defRPr sz="1100">
                          <a:solidFill>
                            <a:srgbClr val="404040"/>
                          </a:solidFill>
                        </a:defRPr>
                      </a:pPr>
                      <a:r>
                        <a:t>Group A: 0 Classical (5,647 accounts)</a:t>
                      </a:r>
                    </a:p>
                  </a:txBody>
                  <a:tcPr/>
                </a:tc>
                <a:tc>
                  <a:txBody>
                    <a:bodyPr/>
                    <a:lstStyle/>
                    <a:p>
                      <a:pPr>
                        <a:defRPr sz="1100">
                          <a:solidFill>
                            <a:srgbClr val="404040"/>
                          </a:solidFill>
                        </a:defRPr>
                      </a:pPr>
                      <a:r>
                        <a:t>0 tickets</a:t>
                      </a:r>
                    </a:p>
                  </a:txBody>
                  <a:tcPr/>
                </a:tc>
                <a:tc>
                  <a:txBody>
                    <a:bodyPr/>
                    <a:lstStyle/>
                    <a:p>
                      <a:pPr>
                        <a:defRPr sz="1100">
                          <a:solidFill>
                            <a:srgbClr val="404040"/>
                          </a:solidFill>
                        </a:defRPr>
                      </a:pPr>
                      <a:r>
                        <a:t>1,689 tickets</a:t>
                      </a:r>
                    </a:p>
                  </a:txBody>
                  <a:tcPr/>
                </a:tc>
                <a:tc>
                  <a:txBody>
                    <a:bodyPr/>
                    <a:lstStyle/>
                    <a:p>
                      <a:pPr>
                        <a:defRPr sz="1100">
                          <a:solidFill>
                            <a:srgbClr val="404040"/>
                          </a:solidFill>
                        </a:defRPr>
                      </a:pPr>
                      <a:r>
                        <a:t>+1,689</a:t>
                      </a:r>
                    </a:p>
                  </a:txBody>
                  <a:tcPr/>
                </a:tc>
                <a:extLst>
                  <a:ext uri="{0D108BD9-81ED-4DB2-BD59-A6C34878D82A}">
                    <a16:rowId xmlns:a16="http://schemas.microsoft.com/office/drawing/2014/main" val="10001"/>
                  </a:ext>
                </a:extLst>
              </a:tr>
              <a:tr h="365760">
                <a:tc>
                  <a:txBody>
                    <a:bodyPr/>
                    <a:lstStyle/>
                    <a:p>
                      <a:pPr>
                        <a:defRPr sz="1100">
                          <a:solidFill>
                            <a:srgbClr val="404040"/>
                          </a:solidFill>
                        </a:defRPr>
                      </a:pPr>
                      <a:r>
                        <a:t>Group B: 1 Classical (729 accounts)</a:t>
                      </a:r>
                    </a:p>
                  </a:txBody>
                  <a:tcPr/>
                </a:tc>
                <a:tc>
                  <a:txBody>
                    <a:bodyPr/>
                    <a:lstStyle/>
                    <a:p>
                      <a:pPr>
                        <a:defRPr sz="1100">
                          <a:solidFill>
                            <a:srgbClr val="404040"/>
                          </a:solidFill>
                        </a:defRPr>
                      </a:pPr>
                      <a:r>
                        <a:t>1,559 tickets</a:t>
                      </a:r>
                    </a:p>
                  </a:txBody>
                  <a:tcPr/>
                </a:tc>
                <a:tc>
                  <a:txBody>
                    <a:bodyPr/>
                    <a:lstStyle/>
                    <a:p>
                      <a:pPr>
                        <a:defRPr sz="1100">
                          <a:solidFill>
                            <a:srgbClr val="404040"/>
                          </a:solidFill>
                        </a:defRPr>
                      </a:pPr>
                      <a:r>
                        <a:t>1,746 tickets</a:t>
                      </a:r>
                    </a:p>
                  </a:txBody>
                  <a:tcPr/>
                </a:tc>
                <a:tc>
                  <a:txBody>
                    <a:bodyPr/>
                    <a:lstStyle/>
                    <a:p>
                      <a:pPr>
                        <a:defRPr sz="1100">
                          <a:solidFill>
                            <a:srgbClr val="404040"/>
                          </a:solidFill>
                        </a:defRPr>
                      </a:pPr>
                      <a:r>
                        <a:t>+187</a:t>
                      </a:r>
                    </a:p>
                  </a:txBody>
                  <a:tcPr/>
                </a:tc>
                <a:extLst>
                  <a:ext uri="{0D108BD9-81ED-4DB2-BD59-A6C34878D82A}">
                    <a16:rowId xmlns:a16="http://schemas.microsoft.com/office/drawing/2014/main" val="10002"/>
                  </a:ext>
                </a:extLst>
              </a:tr>
              <a:tr h="365760">
                <a:tc>
                  <a:txBody>
                    <a:bodyPr/>
                    <a:lstStyle/>
                    <a:p>
                      <a:pPr>
                        <a:defRPr sz="1100">
                          <a:solidFill>
                            <a:srgbClr val="404040"/>
                          </a:solidFill>
                        </a:defRPr>
                      </a:pPr>
                      <a:r>
                        <a:t>Group C: 2 Classical (254 accounts)</a:t>
                      </a:r>
                    </a:p>
                  </a:txBody>
                  <a:tcPr/>
                </a:tc>
                <a:tc>
                  <a:txBody>
                    <a:bodyPr/>
                    <a:lstStyle/>
                    <a:p>
                      <a:pPr>
                        <a:defRPr sz="1100">
                          <a:solidFill>
                            <a:srgbClr val="404040"/>
                          </a:solidFill>
                        </a:defRPr>
                      </a:pPr>
                      <a:r>
                        <a:t>986 tickets</a:t>
                      </a:r>
                    </a:p>
                  </a:txBody>
                  <a:tcPr/>
                </a:tc>
                <a:tc>
                  <a:txBody>
                    <a:bodyPr/>
                    <a:lstStyle/>
                    <a:p>
                      <a:pPr>
                        <a:defRPr sz="1100">
                          <a:solidFill>
                            <a:srgbClr val="404040"/>
                          </a:solidFill>
                        </a:defRPr>
                      </a:pPr>
                      <a:r>
                        <a:t>1,036 tickets</a:t>
                      </a:r>
                    </a:p>
                  </a:txBody>
                  <a:tcPr/>
                </a:tc>
                <a:tc>
                  <a:txBody>
                    <a:bodyPr/>
                    <a:lstStyle/>
                    <a:p>
                      <a:pPr>
                        <a:defRPr sz="1100">
                          <a:solidFill>
                            <a:srgbClr val="404040"/>
                          </a:solidFill>
                        </a:defRPr>
                      </a:pPr>
                      <a:r>
                        <a:t>+50</a:t>
                      </a:r>
                    </a:p>
                  </a:txBody>
                  <a:tcPr/>
                </a:tc>
                <a:extLst>
                  <a:ext uri="{0D108BD9-81ED-4DB2-BD59-A6C34878D82A}">
                    <a16:rowId xmlns:a16="http://schemas.microsoft.com/office/drawing/2014/main" val="10003"/>
                  </a:ext>
                </a:extLst>
              </a:tr>
              <a:tr h="365760">
                <a:tc>
                  <a:txBody>
                    <a:bodyPr/>
                    <a:lstStyle/>
                    <a:p>
                      <a:pPr>
                        <a:defRPr sz="1100">
                          <a:solidFill>
                            <a:srgbClr val="404040"/>
                          </a:solidFill>
                        </a:defRPr>
                      </a:pPr>
                      <a:r>
                        <a:t>TOTAL NEW TICKETS</a:t>
                      </a:r>
                    </a:p>
                  </a:txBody>
                  <a:tcPr/>
                </a:tc>
                <a:tc>
                  <a:txBody>
                    <a:bodyPr/>
                    <a:lstStyle/>
                    <a:p>
                      <a:pPr>
                        <a:defRPr sz="1100">
                          <a:solidFill>
                            <a:srgbClr val="404040"/>
                          </a:solidFill>
                        </a:defRPr>
                      </a:pPr>
                      <a:r>
                        <a:t>-</a:t>
                      </a:r>
                    </a:p>
                  </a:txBody>
                  <a:tcPr/>
                </a:tc>
                <a:tc>
                  <a:txBody>
                    <a:bodyPr/>
                    <a:lstStyle/>
                    <a:p>
                      <a:pPr>
                        <a:defRPr sz="1100">
                          <a:solidFill>
                            <a:srgbClr val="404040"/>
                          </a:solidFill>
                        </a:defRPr>
                      </a:pPr>
                      <a:r>
                        <a:t>-</a:t>
                      </a:r>
                    </a:p>
                  </a:txBody>
                  <a:tcPr/>
                </a:tc>
                <a:tc>
                  <a:txBody>
                    <a:bodyPr/>
                    <a:lstStyle/>
                    <a:p>
                      <a:pPr>
                        <a:defRPr sz="1100">
                          <a:solidFill>
                            <a:srgbClr val="404040"/>
                          </a:solidFill>
                        </a:defRPr>
                      </a:pPr>
                      <a:r>
                        <a:t>1,926</a:t>
                      </a:r>
                    </a:p>
                  </a:txBody>
                  <a:tcPr/>
                </a:tc>
                <a:extLst>
                  <a:ext uri="{0D108BD9-81ED-4DB2-BD59-A6C34878D82A}">
                    <a16:rowId xmlns:a16="http://schemas.microsoft.com/office/drawing/2014/main" val="10004"/>
                  </a:ext>
                </a:extLst>
              </a:tr>
              <a:tr h="365760">
                <a:tc>
                  <a:txBody>
                    <a:bodyPr/>
                    <a:lstStyle/>
                    <a:p>
                      <a:pPr>
                        <a:defRPr sz="1100">
                          <a:solidFill>
                            <a:srgbClr val="404040"/>
                          </a:solidFill>
                        </a:defRPr>
                      </a:pPr>
                      <a:r>
                        <a:t>INCREMENTAL REVENUE</a:t>
                      </a:r>
                    </a:p>
                  </a:txBody>
                  <a:tcPr/>
                </a:tc>
                <a:tc>
                  <a:txBody>
                    <a:bodyPr/>
                    <a:lstStyle/>
                    <a:p>
                      <a:pPr>
                        <a:defRPr sz="1100">
                          <a:solidFill>
                            <a:srgbClr val="404040"/>
                          </a:solidFill>
                        </a:defRPr>
                      </a:pPr>
                      <a:r>
                        <a:t>-</a:t>
                      </a:r>
                    </a:p>
                  </a:txBody>
                  <a:tcPr/>
                </a:tc>
                <a:tc>
                  <a:txBody>
                    <a:bodyPr/>
                    <a:lstStyle/>
                    <a:p>
                      <a:pPr>
                        <a:defRPr sz="1100">
                          <a:solidFill>
                            <a:srgbClr val="404040"/>
                          </a:solidFill>
                        </a:defRPr>
                      </a:pPr>
                      <a:r>
                        <a:t>-</a:t>
                      </a:r>
                    </a:p>
                  </a:txBody>
                  <a:tcPr/>
                </a:tc>
                <a:tc>
                  <a:txBody>
                    <a:bodyPr/>
                    <a:lstStyle/>
                    <a:p>
                      <a:pPr>
                        <a:defRPr sz="1100">
                          <a:solidFill>
                            <a:srgbClr val="404040"/>
                          </a:solidFill>
                        </a:defRPr>
                      </a:pPr>
                      <a:r>
                        <a:rPr dirty="0"/>
                        <a:t>$102,099</a:t>
                      </a:r>
                    </a:p>
                  </a:txBody>
                  <a:tcPr/>
                </a:tc>
                <a:extLst>
                  <a:ext uri="{0D108BD9-81ED-4DB2-BD59-A6C34878D82A}">
                    <a16:rowId xmlns:a16="http://schemas.microsoft.com/office/drawing/2014/main" val="10005"/>
                  </a:ext>
                </a:extLst>
              </a:tr>
            </a:tbl>
          </a:graphicData>
        </a:graphic>
      </p:graphicFrame>
      <p:sp>
        <p:nvSpPr>
          <p:cNvPr id="6" name="Rounded Rectangle 5"/>
          <p:cNvSpPr/>
          <p:nvPr/>
        </p:nvSpPr>
        <p:spPr>
          <a:xfrm>
            <a:off x="685800" y="5303520"/>
            <a:ext cx="7772400" cy="731520"/>
          </a:xfrm>
          <a:prstGeom prst="roundRect">
            <a:avLst/>
          </a:prstGeom>
          <a:solidFill>
            <a:srgbClr val="FFF8DC"/>
          </a:solidFill>
          <a:ln>
            <a:solidFill>
              <a:srgbClr val="C5A46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03366"/>
                </a:solidFill>
              </a:defRPr>
            </a:pPr>
            <a:r>
              <a:t>KEY INSIGHT: 80.6% of target audience (Group A) has never tried Classical - largest opportunity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274320"/>
            <a:ext cx="8412480" cy="640080"/>
          </a:xfrm>
          <a:prstGeom prst="rect">
            <a:avLst/>
          </a:prstGeom>
          <a:noFill/>
        </p:spPr>
        <p:txBody>
          <a:bodyPr wrap="none">
            <a:spAutoFit/>
          </a:bodyPr>
          <a:lstStyle/>
          <a:p>
            <a:pPr>
              <a:defRPr sz="2200" b="1">
                <a:solidFill>
                  <a:srgbClr val="FFFFFF"/>
                </a:solidFill>
              </a:defRPr>
            </a:pPr>
            <a:r>
              <a:t>The Classical Add-On creates a CYO conversion pipeline: 50 projected new subscribers</a:t>
            </a:r>
          </a:p>
        </p:txBody>
      </p:sp>
      <p:sp>
        <p:nvSpPr>
          <p:cNvPr id="5" name="Rounded Rectangle 4"/>
          <p:cNvSpPr/>
          <p:nvPr/>
        </p:nvSpPr>
        <p:spPr>
          <a:xfrm>
            <a:off x="457200" y="1645920"/>
            <a:ext cx="2560320" cy="2011680"/>
          </a:xfrm>
          <a:prstGeom prst="roundRect">
            <a:avLst/>
          </a:prstGeom>
          <a:solidFill>
            <a:srgbClr val="F5F5FA"/>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828800"/>
            <a:ext cx="2560320" cy="731520"/>
          </a:xfrm>
          <a:prstGeom prst="rect">
            <a:avLst/>
          </a:prstGeom>
          <a:noFill/>
        </p:spPr>
        <p:txBody>
          <a:bodyPr wrap="none">
            <a:spAutoFit/>
          </a:bodyPr>
          <a:lstStyle/>
          <a:p>
            <a:pPr algn="ctr">
              <a:defRPr sz="3200" b="1">
                <a:solidFill>
                  <a:srgbClr val="003366"/>
                </a:solidFill>
              </a:defRPr>
            </a:pPr>
            <a:r>
              <a:t>205</a:t>
            </a:r>
          </a:p>
        </p:txBody>
      </p:sp>
      <p:sp>
        <p:nvSpPr>
          <p:cNvPr id="7" name="TextBox 6"/>
          <p:cNvSpPr txBox="1"/>
          <p:nvPr/>
        </p:nvSpPr>
        <p:spPr>
          <a:xfrm>
            <a:off x="457200" y="2560320"/>
            <a:ext cx="2560320" cy="914400"/>
          </a:xfrm>
          <a:prstGeom prst="rect">
            <a:avLst/>
          </a:prstGeom>
          <a:noFill/>
        </p:spPr>
        <p:txBody>
          <a:bodyPr wrap="square">
            <a:spAutoFit/>
          </a:bodyPr>
          <a:lstStyle/>
          <a:p>
            <a:pPr algn="ctr">
              <a:defRPr sz="1200">
                <a:solidFill>
                  <a:srgbClr val="404040"/>
                </a:solidFill>
              </a:defRPr>
            </a:pPr>
            <a:r>
              <a:t>New buyers reaching 3+ Classical tickets threshold</a:t>
            </a:r>
          </a:p>
        </p:txBody>
      </p:sp>
      <p:sp>
        <p:nvSpPr>
          <p:cNvPr id="8" name="Rounded Rectangle 7"/>
          <p:cNvSpPr/>
          <p:nvPr/>
        </p:nvSpPr>
        <p:spPr>
          <a:xfrm>
            <a:off x="3291840" y="1645920"/>
            <a:ext cx="2560320" cy="2011680"/>
          </a:xfrm>
          <a:prstGeom prst="roundRect">
            <a:avLst/>
          </a:prstGeom>
          <a:solidFill>
            <a:srgbClr val="F5F5FA"/>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91840" y="1828800"/>
            <a:ext cx="2560320" cy="731520"/>
          </a:xfrm>
          <a:prstGeom prst="rect">
            <a:avLst/>
          </a:prstGeom>
          <a:noFill/>
        </p:spPr>
        <p:txBody>
          <a:bodyPr wrap="none">
            <a:spAutoFit/>
          </a:bodyPr>
          <a:lstStyle/>
          <a:p>
            <a:pPr algn="ctr">
              <a:defRPr sz="3200" b="1">
                <a:solidFill>
                  <a:srgbClr val="4285F4"/>
                </a:solidFill>
              </a:defRPr>
            </a:pPr>
            <a:r>
              <a:t>24.6%</a:t>
            </a:r>
          </a:p>
        </p:txBody>
      </p:sp>
      <p:sp>
        <p:nvSpPr>
          <p:cNvPr id="10" name="TextBox 9"/>
          <p:cNvSpPr txBox="1"/>
          <p:nvPr/>
        </p:nvSpPr>
        <p:spPr>
          <a:xfrm>
            <a:off x="3291840" y="2560320"/>
            <a:ext cx="2560320" cy="914400"/>
          </a:xfrm>
          <a:prstGeom prst="rect">
            <a:avLst/>
          </a:prstGeom>
          <a:noFill/>
        </p:spPr>
        <p:txBody>
          <a:bodyPr wrap="square">
            <a:spAutoFit/>
          </a:bodyPr>
          <a:lstStyle/>
          <a:p>
            <a:pPr algn="ctr">
              <a:defRPr sz="1200">
                <a:solidFill>
                  <a:srgbClr val="404040"/>
                </a:solidFill>
              </a:defRPr>
            </a:pPr>
            <a:r>
              <a:t>Historical conversion rate from 3+ Classical to CYO</a:t>
            </a:r>
          </a:p>
        </p:txBody>
      </p:sp>
      <p:sp>
        <p:nvSpPr>
          <p:cNvPr id="11" name="Rounded Rectangle 10"/>
          <p:cNvSpPr/>
          <p:nvPr/>
        </p:nvSpPr>
        <p:spPr>
          <a:xfrm>
            <a:off x="6126480" y="1645920"/>
            <a:ext cx="2560320" cy="2011680"/>
          </a:xfrm>
          <a:prstGeom prst="roundRect">
            <a:avLst/>
          </a:prstGeom>
          <a:solidFill>
            <a:srgbClr val="F5F5FA"/>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26480" y="1828800"/>
            <a:ext cx="2560320" cy="731520"/>
          </a:xfrm>
          <a:prstGeom prst="rect">
            <a:avLst/>
          </a:prstGeom>
          <a:noFill/>
        </p:spPr>
        <p:txBody>
          <a:bodyPr wrap="none">
            <a:spAutoFit/>
          </a:bodyPr>
          <a:lstStyle/>
          <a:p>
            <a:pPr algn="ctr">
              <a:defRPr sz="3200" b="1">
                <a:solidFill>
                  <a:srgbClr val="0F9D58"/>
                </a:solidFill>
              </a:defRPr>
            </a:pPr>
            <a:r>
              <a:t>50</a:t>
            </a:r>
          </a:p>
        </p:txBody>
      </p:sp>
      <p:sp>
        <p:nvSpPr>
          <p:cNvPr id="13" name="TextBox 12"/>
          <p:cNvSpPr txBox="1"/>
          <p:nvPr/>
        </p:nvSpPr>
        <p:spPr>
          <a:xfrm>
            <a:off x="6126480" y="2560320"/>
            <a:ext cx="2560320" cy="914400"/>
          </a:xfrm>
          <a:prstGeom prst="rect">
            <a:avLst/>
          </a:prstGeom>
          <a:noFill/>
        </p:spPr>
        <p:txBody>
          <a:bodyPr wrap="square">
            <a:spAutoFit/>
          </a:bodyPr>
          <a:lstStyle/>
          <a:p>
            <a:pPr algn="ctr">
              <a:defRPr sz="1200">
                <a:solidFill>
                  <a:srgbClr val="404040"/>
                </a:solidFill>
              </a:defRPr>
            </a:pPr>
            <a:r>
              <a:t>Projected new CYO subscribers from program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274320"/>
            <a:ext cx="8412480" cy="640080"/>
          </a:xfrm>
          <a:prstGeom prst="rect">
            <a:avLst/>
          </a:prstGeom>
          <a:noFill/>
        </p:spPr>
        <p:txBody>
          <a:bodyPr wrap="none">
            <a:spAutoFit/>
          </a:bodyPr>
          <a:lstStyle/>
          <a:p>
            <a:pPr>
              <a:defRPr sz="2200" b="1">
                <a:solidFill>
                  <a:srgbClr val="FFFFFF"/>
                </a:solidFill>
              </a:defRPr>
            </a:pPr>
            <a:r>
              <a:t>Simulation B: Fixed Plus Premium targets Fixed 6 subscribers who want more</a:t>
            </a:r>
          </a:p>
        </p:txBody>
      </p:sp>
      <p:sp>
        <p:nvSpPr>
          <p:cNvPr id="5" name="Rounded Rectangle 4"/>
          <p:cNvSpPr/>
          <p:nvPr/>
        </p:nvSpPr>
        <p:spPr>
          <a:xfrm>
            <a:off x="457200" y="1371600"/>
            <a:ext cx="8229600" cy="1097280"/>
          </a:xfrm>
          <a:prstGeom prst="roundRect">
            <a:avLst/>
          </a:prstGeom>
          <a:solidFill>
            <a:srgbClr val="E6F7FF"/>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54480"/>
            <a:ext cx="7863840" cy="914400"/>
          </a:xfrm>
          <a:prstGeom prst="rect">
            <a:avLst/>
          </a:prstGeom>
          <a:noFill/>
        </p:spPr>
        <p:txBody>
          <a:bodyPr wrap="square">
            <a:spAutoFit/>
          </a:bodyPr>
          <a:lstStyle/>
          <a:p>
            <a:pPr>
              <a:defRPr sz="1600" b="1">
                <a:solidFill>
                  <a:srgbClr val="003366"/>
                </a:solidFill>
              </a:defRPr>
            </a:pPr>
            <a:r>
              <a:rPr dirty="0"/>
              <a:t>OPPORTUNITY: 57.8% of Fixed 6 subscribers already purchase single tickets, proving demand for content beyond their package. Fixed Plus bundles what they want at a 10% premium.</a:t>
            </a:r>
          </a:p>
        </p:txBody>
      </p:sp>
      <p:sp>
        <p:nvSpPr>
          <p:cNvPr id="7" name="TextBox 6"/>
          <p:cNvSpPr txBox="1"/>
          <p:nvPr/>
        </p:nvSpPr>
        <p:spPr>
          <a:xfrm>
            <a:off x="457200" y="2743200"/>
            <a:ext cx="8229600" cy="3657600"/>
          </a:xfrm>
          <a:prstGeom prst="rect">
            <a:avLst/>
          </a:prstGeom>
          <a:noFill/>
        </p:spPr>
        <p:txBody>
          <a:bodyPr wrap="square">
            <a:spAutoFit/>
          </a:bodyPr>
          <a:lstStyle/>
          <a:p>
            <a:pPr>
              <a:spcAft>
                <a:spcPts val="800"/>
              </a:spcAft>
              <a:defRPr sz="1400">
                <a:solidFill>
                  <a:srgbClr val="404040"/>
                </a:solidFill>
              </a:defRPr>
            </a:pPr>
            <a:r>
              <a:rPr dirty="0"/>
              <a:t>• Target Market: 1,643 Fixed 6 subscribers (70% of all Fixed subscribers)</a:t>
            </a:r>
          </a:p>
          <a:p>
            <a:pPr>
              <a:spcAft>
                <a:spcPts val="800"/>
              </a:spcAft>
              <a:defRPr sz="1400">
                <a:solidFill>
                  <a:srgbClr val="404040"/>
                </a:solidFill>
              </a:defRPr>
            </a:pPr>
            <a:r>
              <a:rPr dirty="0"/>
              <a:t>• Proven Demand: 950 accounts (57.8%) already buy single tickets averaging $355/buyer</a:t>
            </a:r>
          </a:p>
          <a:p>
            <a:pPr>
              <a:spcAft>
                <a:spcPts val="800"/>
              </a:spcAft>
              <a:defRPr sz="1400">
                <a:solidFill>
                  <a:srgbClr val="404040"/>
                </a:solidFill>
              </a:defRPr>
            </a:pPr>
            <a:r>
              <a:rPr dirty="0"/>
              <a:t>• Approach: Bundle Holiday + Special event access with exclusive benefits</a:t>
            </a:r>
          </a:p>
          <a:p>
            <a:pPr>
              <a:spcAft>
                <a:spcPts val="800"/>
              </a:spcAft>
              <a:defRPr sz="1400">
                <a:solidFill>
                  <a:srgbClr val="404040"/>
                </a:solidFill>
              </a:defRPr>
            </a:pPr>
            <a:r>
              <a:rPr dirty="0"/>
              <a:t>• Positioning: Sell benefits (priority access, guaranteed seating) - not price</a:t>
            </a:r>
          </a:p>
          <a:p>
            <a:pPr>
              <a:spcAft>
                <a:spcPts val="800"/>
              </a:spcAft>
              <a:defRPr sz="1400">
                <a:solidFill>
                  <a:srgbClr val="404040"/>
                </a:solidFill>
              </a:defRPr>
            </a:pPr>
            <a:r>
              <a:rPr dirty="0"/>
              <a:t>• Premium: 10% above regular pricing, justified by tangible value-adds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274320"/>
            <a:ext cx="8412480" cy="640080"/>
          </a:xfrm>
          <a:prstGeom prst="rect">
            <a:avLst/>
          </a:prstGeom>
          <a:noFill/>
        </p:spPr>
        <p:txBody>
          <a:bodyPr wrap="none">
            <a:spAutoFit/>
          </a:bodyPr>
          <a:lstStyle/>
          <a:p>
            <a:pPr>
              <a:defRPr sz="2200" b="1">
                <a:solidFill>
                  <a:srgbClr val="FFFFFF"/>
                </a:solidFill>
              </a:defRPr>
            </a:pPr>
            <a:r>
              <a:t>Two Fixed Plus tiers offer flexibility: Bronze (+1 Special) and Gold (+2 Holiday/Special)</a:t>
            </a:r>
          </a:p>
        </p:txBody>
      </p:sp>
      <p:graphicFrame>
        <p:nvGraphicFramePr>
          <p:cNvPr id="5" name="Table 4"/>
          <p:cNvGraphicFramePr>
            <a:graphicFrameLocks noGrp="1"/>
          </p:cNvGraphicFramePr>
          <p:nvPr/>
        </p:nvGraphicFramePr>
        <p:xfrm>
          <a:off x="685800" y="1371600"/>
          <a:ext cx="7772400" cy="188976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365760">
                <a:tc>
                  <a:txBody>
                    <a:bodyPr/>
                    <a:lstStyle/>
                    <a:p>
                      <a:pPr>
                        <a:defRPr sz="1200" b="1">
                          <a:solidFill>
                            <a:srgbClr val="FFFFFF"/>
                          </a:solidFill>
                        </a:defRPr>
                      </a:pPr>
                      <a:r>
                        <a:t>Package</a:t>
                      </a:r>
                    </a:p>
                  </a:txBody>
                  <a:tcPr>
                    <a:solidFill>
                      <a:srgbClr val="003366"/>
                    </a:solidFill>
                  </a:tcPr>
                </a:tc>
                <a:tc>
                  <a:txBody>
                    <a:bodyPr/>
                    <a:lstStyle/>
                    <a:p>
                      <a:pPr>
                        <a:defRPr sz="1200" b="1">
                          <a:solidFill>
                            <a:srgbClr val="FFFFFF"/>
                          </a:solidFill>
                        </a:defRPr>
                      </a:pPr>
                      <a:r>
                        <a:t>Includes</a:t>
                      </a:r>
                    </a:p>
                  </a:txBody>
                  <a:tcPr>
                    <a:solidFill>
                      <a:srgbClr val="003366"/>
                    </a:solidFill>
                  </a:tcPr>
                </a:tc>
                <a:tc>
                  <a:txBody>
                    <a:bodyPr/>
                    <a:lstStyle/>
                    <a:p>
                      <a:pPr>
                        <a:defRPr sz="1200" b="1">
                          <a:solidFill>
                            <a:srgbClr val="FFFFFF"/>
                          </a:solidFill>
                        </a:defRPr>
                      </a:pPr>
                      <a:r>
                        <a:t>Regular Price</a:t>
                      </a:r>
                    </a:p>
                  </a:txBody>
                  <a:tcPr>
                    <a:solidFill>
                      <a:srgbClr val="003366"/>
                    </a:solidFill>
                  </a:tcPr>
                </a:tc>
                <a:tc>
                  <a:txBody>
                    <a:bodyPr/>
                    <a:lstStyle/>
                    <a:p>
                      <a:pPr>
                        <a:defRPr sz="1200" b="1">
                          <a:solidFill>
                            <a:srgbClr val="FFFFFF"/>
                          </a:solidFill>
                        </a:defRPr>
                      </a:pPr>
                      <a:r>
                        <a:t>Fixed Plus Price</a:t>
                      </a:r>
                    </a:p>
                  </a:txBody>
                  <a:tcPr>
                    <a:solidFill>
                      <a:srgbClr val="003366"/>
                    </a:solidFill>
                  </a:tcPr>
                </a:tc>
                <a:tc>
                  <a:txBody>
                    <a:bodyPr/>
                    <a:lstStyle/>
                    <a:p>
                      <a:pPr>
                        <a:defRPr sz="1200" b="1">
                          <a:solidFill>
                            <a:srgbClr val="FFFFFF"/>
                          </a:solidFill>
                        </a:defRPr>
                      </a:pPr>
                      <a:r>
                        <a:t>Premium</a:t>
                      </a:r>
                    </a:p>
                  </a:txBody>
                  <a:tcPr>
                    <a:solidFill>
                      <a:srgbClr val="003366"/>
                    </a:solidFill>
                  </a:tcPr>
                </a:tc>
                <a:extLst>
                  <a:ext uri="{0D108BD9-81ED-4DB2-BD59-A6C34878D82A}">
                    <a16:rowId xmlns:a16="http://schemas.microsoft.com/office/drawing/2014/main" val="10000"/>
                  </a:ext>
                </a:extLst>
              </a:tr>
              <a:tr h="365760">
                <a:tc>
                  <a:txBody>
                    <a:bodyPr/>
                    <a:lstStyle/>
                    <a:p>
                      <a:pPr>
                        <a:defRPr sz="1100">
                          <a:solidFill>
                            <a:srgbClr val="404040"/>
                          </a:solidFill>
                        </a:defRPr>
                      </a:pPr>
                      <a:r>
                        <a:t>Fixed Plus Bronze</a:t>
                      </a:r>
                    </a:p>
                  </a:txBody>
                  <a:tcPr/>
                </a:tc>
                <a:tc>
                  <a:txBody>
                    <a:bodyPr/>
                    <a:lstStyle/>
                    <a:p>
                      <a:pPr>
                        <a:defRPr sz="1100">
                          <a:solidFill>
                            <a:srgbClr val="404040"/>
                          </a:solidFill>
                        </a:defRPr>
                      </a:pPr>
                      <a:r>
                        <a:t>+1 Special ticket</a:t>
                      </a:r>
                    </a:p>
                  </a:txBody>
                  <a:tcPr/>
                </a:tc>
                <a:tc>
                  <a:txBody>
                    <a:bodyPr/>
                    <a:lstStyle/>
                    <a:p>
                      <a:pPr>
                        <a:defRPr sz="1100">
                          <a:solidFill>
                            <a:srgbClr val="404040"/>
                          </a:solidFill>
                        </a:defRPr>
                      </a:pPr>
                      <a:r>
                        <a:rPr dirty="0"/>
                        <a:t>$79.93</a:t>
                      </a:r>
                    </a:p>
                  </a:txBody>
                  <a:tcPr/>
                </a:tc>
                <a:tc>
                  <a:txBody>
                    <a:bodyPr/>
                    <a:lstStyle/>
                    <a:p>
                      <a:pPr>
                        <a:defRPr sz="1100">
                          <a:solidFill>
                            <a:srgbClr val="404040"/>
                          </a:solidFill>
                        </a:defRPr>
                      </a:pPr>
                      <a:r>
                        <a:t>$87.92</a:t>
                      </a:r>
                    </a:p>
                  </a:txBody>
                  <a:tcPr/>
                </a:tc>
                <a:tc>
                  <a:txBody>
                    <a:bodyPr/>
                    <a:lstStyle/>
                    <a:p>
                      <a:pPr>
                        <a:defRPr sz="1100">
                          <a:solidFill>
                            <a:srgbClr val="404040"/>
                          </a:solidFill>
                        </a:defRPr>
                      </a:pPr>
                      <a:r>
                        <a:t>+10%</a:t>
                      </a:r>
                    </a:p>
                  </a:txBody>
                  <a:tcPr/>
                </a:tc>
                <a:extLst>
                  <a:ext uri="{0D108BD9-81ED-4DB2-BD59-A6C34878D82A}">
                    <a16:rowId xmlns:a16="http://schemas.microsoft.com/office/drawing/2014/main" val="10001"/>
                  </a:ext>
                </a:extLst>
              </a:tr>
              <a:tr h="365760">
                <a:tc>
                  <a:txBody>
                    <a:bodyPr/>
                    <a:lstStyle/>
                    <a:p>
                      <a:pPr>
                        <a:defRPr sz="1100">
                          <a:solidFill>
                            <a:srgbClr val="404040"/>
                          </a:solidFill>
                        </a:defRPr>
                      </a:pPr>
                      <a:r>
                        <a:t>Fixed Plus Gold</a:t>
                      </a:r>
                    </a:p>
                  </a:txBody>
                  <a:tcPr/>
                </a:tc>
                <a:tc>
                  <a:txBody>
                    <a:bodyPr/>
                    <a:lstStyle/>
                    <a:p>
                      <a:pPr>
                        <a:defRPr sz="1100">
                          <a:solidFill>
                            <a:srgbClr val="404040"/>
                          </a:solidFill>
                        </a:defRPr>
                      </a:pPr>
                      <a:r>
                        <a:t>+2 tickets (Holiday + Special)</a:t>
                      </a:r>
                    </a:p>
                  </a:txBody>
                  <a:tcPr/>
                </a:tc>
                <a:tc>
                  <a:txBody>
                    <a:bodyPr/>
                    <a:lstStyle/>
                    <a:p>
                      <a:pPr>
                        <a:defRPr sz="1100">
                          <a:solidFill>
                            <a:srgbClr val="404040"/>
                          </a:solidFill>
                        </a:defRPr>
                      </a:pPr>
                      <a:r>
                        <a:t>$136.85</a:t>
                      </a:r>
                    </a:p>
                  </a:txBody>
                  <a:tcPr/>
                </a:tc>
                <a:tc>
                  <a:txBody>
                    <a:bodyPr/>
                    <a:lstStyle/>
                    <a:p>
                      <a:pPr>
                        <a:defRPr sz="1100">
                          <a:solidFill>
                            <a:srgbClr val="404040"/>
                          </a:solidFill>
                        </a:defRPr>
                      </a:pPr>
                      <a:r>
                        <a:t>$150.53</a:t>
                      </a:r>
                    </a:p>
                  </a:txBody>
                  <a:tcPr/>
                </a:tc>
                <a:tc>
                  <a:txBody>
                    <a:bodyPr/>
                    <a:lstStyle/>
                    <a:p>
                      <a:pPr>
                        <a:defRPr sz="1100">
                          <a:solidFill>
                            <a:srgbClr val="404040"/>
                          </a:solidFill>
                        </a:defRPr>
                      </a:pPr>
                      <a:r>
                        <a:t>+10%</a:t>
                      </a:r>
                    </a:p>
                  </a:txBody>
                  <a:tcPr/>
                </a:tc>
                <a:extLst>
                  <a:ext uri="{0D108BD9-81ED-4DB2-BD59-A6C34878D82A}">
                    <a16:rowId xmlns:a16="http://schemas.microsoft.com/office/drawing/2014/main" val="10002"/>
                  </a:ext>
                </a:extLst>
              </a:tr>
              <a:tr h="365760">
                <a:tc>
                  <a:txBody>
                    <a:bodyPr/>
                    <a:lstStyle/>
                    <a:p>
                      <a:pPr>
                        <a:defRPr sz="1100">
                          <a:solidFill>
                            <a:srgbClr val="404040"/>
                          </a:solidFill>
                        </a:defRPr>
                      </a:pPr>
                      <a:endParaRPr/>
                    </a:p>
                  </a:txBody>
                  <a:tcPr/>
                </a:tc>
                <a:tc>
                  <a:txBody>
                    <a:bodyPr/>
                    <a:lstStyle/>
                    <a:p>
                      <a:pPr>
                        <a:defRPr sz="1100">
                          <a:solidFill>
                            <a:srgbClr val="404040"/>
                          </a:solidFill>
                        </a:defRPr>
                      </a:pPr>
                      <a:endParaRPr/>
                    </a:p>
                  </a:txBody>
                  <a:tcPr/>
                </a:tc>
                <a:tc>
                  <a:txBody>
                    <a:bodyPr/>
                    <a:lstStyle/>
                    <a:p>
                      <a:pPr>
                        <a:defRPr sz="1100">
                          <a:solidFill>
                            <a:srgbClr val="404040"/>
                          </a:solidFill>
                        </a:defRPr>
                      </a:pPr>
                      <a:endParaRPr/>
                    </a:p>
                  </a:txBody>
                  <a:tcPr/>
                </a:tc>
                <a:tc>
                  <a:txBody>
                    <a:bodyPr/>
                    <a:lstStyle/>
                    <a:p>
                      <a:pPr>
                        <a:defRPr sz="1100">
                          <a:solidFill>
                            <a:srgbClr val="404040"/>
                          </a:solidFill>
                        </a:defRPr>
                      </a:pPr>
                      <a:endParaRPr/>
                    </a:p>
                  </a:txBody>
                  <a:tcPr/>
                </a:tc>
                <a:tc>
                  <a:txBody>
                    <a:bodyPr/>
                    <a:lstStyle/>
                    <a:p>
                      <a:pPr>
                        <a:defRPr sz="1100">
                          <a:solidFill>
                            <a:srgbClr val="404040"/>
                          </a:solidFill>
                        </a:defRPr>
                      </a:pPr>
                      <a:endParaRPr/>
                    </a:p>
                  </a:txBody>
                  <a:tcPr/>
                </a:tc>
                <a:extLst>
                  <a:ext uri="{0D108BD9-81ED-4DB2-BD59-A6C34878D82A}">
                    <a16:rowId xmlns:a16="http://schemas.microsoft.com/office/drawing/2014/main" val="10003"/>
                  </a:ext>
                </a:extLst>
              </a:tr>
              <a:tr h="365760">
                <a:tc>
                  <a:txBody>
                    <a:bodyPr/>
                    <a:lstStyle/>
                    <a:p>
                      <a:pPr>
                        <a:defRPr sz="1100">
                          <a:solidFill>
                            <a:srgbClr val="404040"/>
                          </a:solidFill>
                        </a:defRPr>
                      </a:pPr>
                      <a:r>
                        <a:t>Projected Uptake</a:t>
                      </a:r>
                    </a:p>
                  </a:txBody>
                  <a:tcPr/>
                </a:tc>
                <a:tc>
                  <a:txBody>
                    <a:bodyPr/>
                    <a:lstStyle/>
                    <a:p>
                      <a:pPr>
                        <a:defRPr sz="1100">
                          <a:solidFill>
                            <a:srgbClr val="404040"/>
                          </a:solidFill>
                        </a:defRPr>
                      </a:pPr>
                      <a:r>
                        <a:t>Bronze: 141 subscribers</a:t>
                      </a:r>
                    </a:p>
                  </a:txBody>
                  <a:tcPr/>
                </a:tc>
                <a:tc>
                  <a:txBody>
                    <a:bodyPr/>
                    <a:lstStyle/>
                    <a:p>
                      <a:pPr>
                        <a:defRPr sz="1100">
                          <a:solidFill>
                            <a:srgbClr val="404040"/>
                          </a:solidFill>
                        </a:defRPr>
                      </a:pPr>
                      <a:r>
                        <a:rPr dirty="0"/>
                        <a:t>Gold: 212 subscribers</a:t>
                      </a:r>
                    </a:p>
                  </a:txBody>
                  <a:tcPr/>
                </a:tc>
                <a:tc>
                  <a:txBody>
                    <a:bodyPr/>
                    <a:lstStyle/>
                    <a:p>
                      <a:pPr>
                        <a:defRPr sz="1100">
                          <a:solidFill>
                            <a:srgbClr val="404040"/>
                          </a:solidFill>
                        </a:defRPr>
                      </a:pPr>
                      <a:r>
                        <a:rPr dirty="0"/>
                        <a:t>Total: 354</a:t>
                      </a:r>
                    </a:p>
                  </a:txBody>
                  <a:tcPr/>
                </a:tc>
                <a:tc>
                  <a:txBody>
                    <a:bodyPr/>
                    <a:lstStyle/>
                    <a:p>
                      <a:pPr>
                        <a:defRPr sz="1100">
                          <a:solidFill>
                            <a:srgbClr val="404040"/>
                          </a:solidFill>
                        </a:defRPr>
                      </a:pPr>
                      <a:endParaRPr dirty="0"/>
                    </a:p>
                  </a:txBody>
                  <a:tcPr/>
                </a:tc>
                <a:extLst>
                  <a:ext uri="{0D108BD9-81ED-4DB2-BD59-A6C34878D82A}">
                    <a16:rowId xmlns:a16="http://schemas.microsoft.com/office/drawing/2014/main" val="10004"/>
                  </a:ext>
                </a:extLst>
              </a:tr>
            </a:tbl>
          </a:graphicData>
        </a:graphic>
      </p:graphicFrame>
      <p:sp>
        <p:nvSpPr>
          <p:cNvPr id="6" name="Rounded Rectangle 5"/>
          <p:cNvSpPr/>
          <p:nvPr/>
        </p:nvSpPr>
        <p:spPr>
          <a:xfrm>
            <a:off x="685800" y="5303520"/>
            <a:ext cx="7772400" cy="731520"/>
          </a:xfrm>
          <a:prstGeom prst="roundRect">
            <a:avLst/>
          </a:prstGeom>
          <a:solidFill>
            <a:srgbClr val="FFF8DC"/>
          </a:solidFill>
          <a:ln>
            <a:solidFill>
              <a:srgbClr val="C5A46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03366"/>
                </a:solidFill>
              </a:defRPr>
            </a:pPr>
            <a:r>
              <a:t>KEY INSIGHT: Sell benefits, not price - 'Never miss another Special event' outperforms '$87.92/ticket'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274320"/>
            <a:ext cx="8412480" cy="640080"/>
          </a:xfrm>
          <a:prstGeom prst="rect">
            <a:avLst/>
          </a:prstGeom>
          <a:noFill/>
        </p:spPr>
        <p:txBody>
          <a:bodyPr wrap="none">
            <a:spAutoFit/>
          </a:bodyPr>
          <a:lstStyle/>
          <a:p>
            <a:pPr>
              <a:defRPr sz="2200" b="1">
                <a:solidFill>
                  <a:srgbClr val="FFFFFF"/>
                </a:solidFill>
              </a:defRPr>
            </a:pPr>
            <a:r>
              <a:t>Conservative projections: 354 Fixed Plus subscribers generating $44,310 in premium-priced revenue</a:t>
            </a:r>
          </a:p>
        </p:txBody>
      </p:sp>
      <p:graphicFrame>
        <p:nvGraphicFramePr>
          <p:cNvPr id="5" name="Table 4"/>
          <p:cNvGraphicFramePr>
            <a:graphicFrameLocks noGrp="1"/>
          </p:cNvGraphicFramePr>
          <p:nvPr/>
        </p:nvGraphicFramePr>
        <p:xfrm>
          <a:off x="685800" y="1371600"/>
          <a:ext cx="7772400" cy="237744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365760">
                <a:tc>
                  <a:txBody>
                    <a:bodyPr/>
                    <a:lstStyle/>
                    <a:p>
                      <a:pPr>
                        <a:defRPr sz="1200" b="1">
                          <a:solidFill>
                            <a:srgbClr val="FFFFFF"/>
                          </a:solidFill>
                        </a:defRPr>
                      </a:pPr>
                      <a:r>
                        <a:t>Segment</a:t>
                      </a:r>
                    </a:p>
                  </a:txBody>
                  <a:tcPr>
                    <a:solidFill>
                      <a:srgbClr val="003366"/>
                    </a:solidFill>
                  </a:tcPr>
                </a:tc>
                <a:tc>
                  <a:txBody>
                    <a:bodyPr/>
                    <a:lstStyle/>
                    <a:p>
                      <a:pPr>
                        <a:defRPr sz="1200" b="1">
                          <a:solidFill>
                            <a:srgbClr val="FFFFFF"/>
                          </a:solidFill>
                        </a:defRPr>
                      </a:pPr>
                      <a:r>
                        <a:t>Size</a:t>
                      </a:r>
                    </a:p>
                  </a:txBody>
                  <a:tcPr>
                    <a:solidFill>
                      <a:srgbClr val="003366"/>
                    </a:solidFill>
                  </a:tcPr>
                </a:tc>
                <a:tc>
                  <a:txBody>
                    <a:bodyPr/>
                    <a:lstStyle/>
                    <a:p>
                      <a:pPr>
                        <a:defRPr sz="1200" b="1">
                          <a:solidFill>
                            <a:srgbClr val="FFFFFF"/>
                          </a:solidFill>
                        </a:defRPr>
                      </a:pPr>
                      <a:r>
                        <a:t>Uptake Rate</a:t>
                      </a:r>
                    </a:p>
                  </a:txBody>
                  <a:tcPr>
                    <a:solidFill>
                      <a:srgbClr val="003366"/>
                    </a:solidFill>
                  </a:tcPr>
                </a:tc>
                <a:tc>
                  <a:txBody>
                    <a:bodyPr/>
                    <a:lstStyle/>
                    <a:p>
                      <a:pPr>
                        <a:defRPr sz="1200" b="1">
                          <a:solidFill>
                            <a:srgbClr val="FFFFFF"/>
                          </a:solidFill>
                        </a:defRPr>
                      </a:pPr>
                      <a:r>
                        <a:t>Subscribers</a:t>
                      </a:r>
                    </a:p>
                  </a:txBody>
                  <a:tcPr>
                    <a:solidFill>
                      <a:srgbClr val="003366"/>
                    </a:solidFill>
                  </a:tcPr>
                </a:tc>
                <a:tc>
                  <a:txBody>
                    <a:bodyPr/>
                    <a:lstStyle/>
                    <a:p>
                      <a:pPr>
                        <a:defRPr sz="1200" b="1">
                          <a:solidFill>
                            <a:srgbClr val="FFFFFF"/>
                          </a:solidFill>
                        </a:defRPr>
                      </a:pPr>
                      <a:r>
                        <a:t>Revenue</a:t>
                      </a:r>
                    </a:p>
                  </a:txBody>
                  <a:tcPr>
                    <a:solidFill>
                      <a:srgbClr val="003366"/>
                    </a:solidFill>
                  </a:tcPr>
                </a:tc>
                <a:extLst>
                  <a:ext uri="{0D108BD9-81ED-4DB2-BD59-A6C34878D82A}">
                    <a16:rowId xmlns:a16="http://schemas.microsoft.com/office/drawing/2014/main" val="10000"/>
                  </a:ext>
                </a:extLst>
              </a:tr>
              <a:tr h="365760">
                <a:tc>
                  <a:txBody>
                    <a:bodyPr/>
                    <a:lstStyle/>
                    <a:p>
                      <a:pPr>
                        <a:defRPr sz="1100">
                          <a:solidFill>
                            <a:srgbClr val="404040"/>
                          </a:solidFill>
                        </a:defRPr>
                      </a:pPr>
                      <a:r>
                        <a:t>Current ST buyers (proven demand)</a:t>
                      </a:r>
                    </a:p>
                  </a:txBody>
                  <a:tcPr/>
                </a:tc>
                <a:tc>
                  <a:txBody>
                    <a:bodyPr/>
                    <a:lstStyle/>
                    <a:p>
                      <a:pPr>
                        <a:defRPr sz="1100">
                          <a:solidFill>
                            <a:srgbClr val="404040"/>
                          </a:solidFill>
                        </a:defRPr>
                      </a:pPr>
                      <a:r>
                        <a:rPr dirty="0"/>
                        <a:t>950</a:t>
                      </a:r>
                    </a:p>
                  </a:txBody>
                  <a:tcPr/>
                </a:tc>
                <a:tc>
                  <a:txBody>
                    <a:bodyPr/>
                    <a:lstStyle/>
                    <a:p>
                      <a:pPr>
                        <a:defRPr sz="1100">
                          <a:solidFill>
                            <a:srgbClr val="404040"/>
                          </a:solidFill>
                        </a:defRPr>
                      </a:pPr>
                      <a:r>
                        <a:t>30%</a:t>
                      </a:r>
                    </a:p>
                  </a:txBody>
                  <a:tcPr/>
                </a:tc>
                <a:tc>
                  <a:txBody>
                    <a:bodyPr/>
                    <a:lstStyle/>
                    <a:p>
                      <a:pPr>
                        <a:defRPr sz="1100">
                          <a:solidFill>
                            <a:srgbClr val="404040"/>
                          </a:solidFill>
                        </a:defRPr>
                      </a:pPr>
                      <a:r>
                        <a:t>285</a:t>
                      </a:r>
                    </a:p>
                  </a:txBody>
                  <a:tcPr/>
                </a:tc>
                <a:tc>
                  <a:txBody>
                    <a:bodyPr/>
                    <a:lstStyle/>
                    <a:p>
                      <a:pPr>
                        <a:defRPr sz="1100">
                          <a:solidFill>
                            <a:srgbClr val="404040"/>
                          </a:solidFill>
                        </a:defRPr>
                      </a:pPr>
                      <a:r>
                        <a:t>$35,668</a:t>
                      </a:r>
                    </a:p>
                  </a:txBody>
                  <a:tcPr/>
                </a:tc>
                <a:extLst>
                  <a:ext uri="{0D108BD9-81ED-4DB2-BD59-A6C34878D82A}">
                    <a16:rowId xmlns:a16="http://schemas.microsoft.com/office/drawing/2014/main" val="10001"/>
                  </a:ext>
                </a:extLst>
              </a:tr>
              <a:tr h="365760">
                <a:tc>
                  <a:txBody>
                    <a:bodyPr/>
                    <a:lstStyle/>
                    <a:p>
                      <a:pPr>
                        <a:defRPr sz="1100">
                          <a:solidFill>
                            <a:srgbClr val="404040"/>
                          </a:solidFill>
                        </a:defRPr>
                      </a:pPr>
                      <a:r>
                        <a:t>Non-ST buyers (latent demand)</a:t>
                      </a:r>
                    </a:p>
                  </a:txBody>
                  <a:tcPr/>
                </a:tc>
                <a:tc>
                  <a:txBody>
                    <a:bodyPr/>
                    <a:lstStyle/>
                    <a:p>
                      <a:pPr>
                        <a:defRPr sz="1100">
                          <a:solidFill>
                            <a:srgbClr val="404040"/>
                          </a:solidFill>
                        </a:defRPr>
                      </a:pPr>
                      <a:r>
                        <a:rPr dirty="0"/>
                        <a:t>693</a:t>
                      </a:r>
                    </a:p>
                  </a:txBody>
                  <a:tcPr/>
                </a:tc>
                <a:tc>
                  <a:txBody>
                    <a:bodyPr/>
                    <a:lstStyle/>
                    <a:p>
                      <a:pPr>
                        <a:defRPr sz="1100">
                          <a:solidFill>
                            <a:srgbClr val="404040"/>
                          </a:solidFill>
                        </a:defRPr>
                      </a:pPr>
                      <a:r>
                        <a:t>10%</a:t>
                      </a:r>
                    </a:p>
                  </a:txBody>
                  <a:tcPr/>
                </a:tc>
                <a:tc>
                  <a:txBody>
                    <a:bodyPr/>
                    <a:lstStyle/>
                    <a:p>
                      <a:pPr>
                        <a:defRPr sz="1100">
                          <a:solidFill>
                            <a:srgbClr val="404040"/>
                          </a:solidFill>
                        </a:defRPr>
                      </a:pPr>
                      <a:r>
                        <a:t>69</a:t>
                      </a:r>
                    </a:p>
                  </a:txBody>
                  <a:tcPr/>
                </a:tc>
                <a:tc>
                  <a:txBody>
                    <a:bodyPr/>
                    <a:lstStyle/>
                    <a:p>
                      <a:pPr>
                        <a:defRPr sz="1100">
                          <a:solidFill>
                            <a:srgbClr val="404040"/>
                          </a:solidFill>
                        </a:defRPr>
                      </a:pPr>
                      <a:r>
                        <a:t>$8,642</a:t>
                      </a:r>
                    </a:p>
                  </a:txBody>
                  <a:tcPr/>
                </a:tc>
                <a:extLst>
                  <a:ext uri="{0D108BD9-81ED-4DB2-BD59-A6C34878D82A}">
                    <a16:rowId xmlns:a16="http://schemas.microsoft.com/office/drawing/2014/main" val="10002"/>
                  </a:ext>
                </a:extLst>
              </a:tr>
              <a:tr h="365760">
                <a:tc>
                  <a:txBody>
                    <a:bodyPr/>
                    <a:lstStyle/>
                    <a:p>
                      <a:pPr>
                        <a:defRPr sz="1100">
                          <a:solidFill>
                            <a:srgbClr val="404040"/>
                          </a:solidFill>
                        </a:defRPr>
                      </a:pPr>
                      <a:r>
                        <a:t>TOTAL</a:t>
                      </a:r>
                    </a:p>
                  </a:txBody>
                  <a:tcPr/>
                </a:tc>
                <a:tc>
                  <a:txBody>
                    <a:bodyPr/>
                    <a:lstStyle/>
                    <a:p>
                      <a:pPr>
                        <a:defRPr sz="1100">
                          <a:solidFill>
                            <a:srgbClr val="404040"/>
                          </a:solidFill>
                        </a:defRPr>
                      </a:pPr>
                      <a:r>
                        <a:t>1,643</a:t>
                      </a:r>
                    </a:p>
                  </a:txBody>
                  <a:tcPr/>
                </a:tc>
                <a:tc>
                  <a:txBody>
                    <a:bodyPr/>
                    <a:lstStyle/>
                    <a:p>
                      <a:pPr>
                        <a:defRPr sz="1100">
                          <a:solidFill>
                            <a:srgbClr val="404040"/>
                          </a:solidFill>
                        </a:defRPr>
                      </a:pPr>
                      <a:r>
                        <a:t>21.5%</a:t>
                      </a:r>
                    </a:p>
                  </a:txBody>
                  <a:tcPr/>
                </a:tc>
                <a:tc>
                  <a:txBody>
                    <a:bodyPr/>
                    <a:lstStyle/>
                    <a:p>
                      <a:pPr>
                        <a:defRPr sz="1100">
                          <a:solidFill>
                            <a:srgbClr val="404040"/>
                          </a:solidFill>
                        </a:defRPr>
                      </a:pPr>
                      <a:r>
                        <a:t>354</a:t>
                      </a:r>
                    </a:p>
                  </a:txBody>
                  <a:tcPr/>
                </a:tc>
                <a:tc>
                  <a:txBody>
                    <a:bodyPr/>
                    <a:lstStyle/>
                    <a:p>
                      <a:pPr>
                        <a:defRPr sz="1100">
                          <a:solidFill>
                            <a:srgbClr val="404040"/>
                          </a:solidFill>
                        </a:defRPr>
                      </a:pPr>
                      <a:r>
                        <a:t>$44,310</a:t>
                      </a:r>
                    </a:p>
                  </a:txBody>
                  <a:tcPr/>
                </a:tc>
                <a:extLst>
                  <a:ext uri="{0D108BD9-81ED-4DB2-BD59-A6C34878D82A}">
                    <a16:rowId xmlns:a16="http://schemas.microsoft.com/office/drawing/2014/main" val="10003"/>
                  </a:ext>
                </a:extLst>
              </a:tr>
              <a:tr h="365760">
                <a:tc>
                  <a:txBody>
                    <a:bodyPr/>
                    <a:lstStyle/>
                    <a:p>
                      <a:pPr>
                        <a:defRPr sz="1100">
                          <a:solidFill>
                            <a:srgbClr val="404040"/>
                          </a:solidFill>
                        </a:defRPr>
                      </a:pPr>
                      <a:endParaRPr dirty="0"/>
                    </a:p>
                  </a:txBody>
                  <a:tcPr/>
                </a:tc>
                <a:tc>
                  <a:txBody>
                    <a:bodyPr/>
                    <a:lstStyle/>
                    <a:p>
                      <a:pPr>
                        <a:defRPr sz="1100">
                          <a:solidFill>
                            <a:srgbClr val="404040"/>
                          </a:solidFill>
                        </a:defRPr>
                      </a:pPr>
                      <a:endParaRPr/>
                    </a:p>
                  </a:txBody>
                  <a:tcPr/>
                </a:tc>
                <a:tc>
                  <a:txBody>
                    <a:bodyPr/>
                    <a:lstStyle/>
                    <a:p>
                      <a:pPr>
                        <a:defRPr sz="1100">
                          <a:solidFill>
                            <a:srgbClr val="404040"/>
                          </a:solidFill>
                        </a:defRPr>
                      </a:pPr>
                      <a:endParaRPr/>
                    </a:p>
                  </a:txBody>
                  <a:tcPr/>
                </a:tc>
                <a:tc>
                  <a:txBody>
                    <a:bodyPr/>
                    <a:lstStyle/>
                    <a:p>
                      <a:pPr>
                        <a:defRPr sz="1100">
                          <a:solidFill>
                            <a:srgbClr val="404040"/>
                          </a:solidFill>
                        </a:defRPr>
                      </a:pPr>
                      <a:endParaRPr/>
                    </a:p>
                  </a:txBody>
                  <a:tcPr/>
                </a:tc>
                <a:tc>
                  <a:txBody>
                    <a:bodyPr/>
                    <a:lstStyle/>
                    <a:p>
                      <a:pPr>
                        <a:defRPr sz="1100">
                          <a:solidFill>
                            <a:srgbClr val="404040"/>
                          </a:solidFill>
                        </a:defRPr>
                      </a:pPr>
                      <a:endParaRPr/>
                    </a:p>
                  </a:txBody>
                  <a:tcPr/>
                </a:tc>
                <a:extLst>
                  <a:ext uri="{0D108BD9-81ED-4DB2-BD59-A6C34878D82A}">
                    <a16:rowId xmlns:a16="http://schemas.microsoft.com/office/drawing/2014/main" val="10004"/>
                  </a:ext>
                </a:extLst>
              </a:tr>
              <a:tr h="365760">
                <a:tc>
                  <a:txBody>
                    <a:bodyPr/>
                    <a:lstStyle/>
                    <a:p>
                      <a:pPr>
                        <a:defRPr sz="1100">
                          <a:solidFill>
                            <a:srgbClr val="404040"/>
                          </a:solidFill>
                        </a:defRPr>
                      </a:pPr>
                      <a:r>
                        <a:rPr dirty="0"/>
                        <a:t>Premium Captured (10%)</a:t>
                      </a:r>
                    </a:p>
                  </a:txBody>
                  <a:tcPr/>
                </a:tc>
                <a:tc>
                  <a:txBody>
                    <a:bodyPr/>
                    <a:lstStyle/>
                    <a:p>
                      <a:pPr>
                        <a:defRPr sz="1100">
                          <a:solidFill>
                            <a:srgbClr val="404040"/>
                          </a:solidFill>
                        </a:defRPr>
                      </a:pPr>
                      <a:endParaRPr dirty="0"/>
                    </a:p>
                  </a:txBody>
                  <a:tcPr/>
                </a:tc>
                <a:tc>
                  <a:txBody>
                    <a:bodyPr/>
                    <a:lstStyle/>
                    <a:p>
                      <a:pPr>
                        <a:defRPr sz="1100">
                          <a:solidFill>
                            <a:srgbClr val="404040"/>
                          </a:solidFill>
                        </a:defRPr>
                      </a:pPr>
                      <a:endParaRPr/>
                    </a:p>
                  </a:txBody>
                  <a:tcPr/>
                </a:tc>
                <a:tc>
                  <a:txBody>
                    <a:bodyPr/>
                    <a:lstStyle/>
                    <a:p>
                      <a:pPr>
                        <a:defRPr sz="1100">
                          <a:solidFill>
                            <a:srgbClr val="404040"/>
                          </a:solidFill>
                        </a:defRPr>
                      </a:pPr>
                      <a:endParaRPr/>
                    </a:p>
                  </a:txBody>
                  <a:tcPr/>
                </a:tc>
                <a:tc>
                  <a:txBody>
                    <a:bodyPr/>
                    <a:lstStyle/>
                    <a:p>
                      <a:pPr>
                        <a:defRPr sz="1100">
                          <a:solidFill>
                            <a:srgbClr val="404040"/>
                          </a:solidFill>
                        </a:defRPr>
                      </a:pPr>
                      <a:r>
                        <a:rPr dirty="0"/>
                        <a:t>$4,028</a:t>
                      </a:r>
                    </a:p>
                  </a:txBody>
                  <a:tcPr/>
                </a:tc>
                <a:extLst>
                  <a:ext uri="{0D108BD9-81ED-4DB2-BD59-A6C34878D82A}">
                    <a16:rowId xmlns:a16="http://schemas.microsoft.com/office/drawing/2014/main" val="10005"/>
                  </a:ext>
                </a:extLst>
              </a:tr>
            </a:tbl>
          </a:graphicData>
        </a:graphic>
      </p:graphicFrame>
      <p:sp>
        <p:nvSpPr>
          <p:cNvPr id="6" name="Rounded Rectangle 5"/>
          <p:cNvSpPr/>
          <p:nvPr/>
        </p:nvSpPr>
        <p:spPr>
          <a:xfrm>
            <a:off x="685800" y="5303520"/>
            <a:ext cx="7772400" cy="731520"/>
          </a:xfrm>
          <a:prstGeom prst="roundRect">
            <a:avLst/>
          </a:prstGeom>
          <a:solidFill>
            <a:srgbClr val="FFF8DC"/>
          </a:solidFill>
          <a:ln>
            <a:solidFill>
              <a:srgbClr val="C5A46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03366"/>
                </a:solidFill>
              </a:defRPr>
            </a:pPr>
            <a:r>
              <a:t>KEY INSIGHT: 30% uptake among proven buyers is conservative - these customers already want more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274320"/>
            <a:ext cx="8412480" cy="640080"/>
          </a:xfrm>
          <a:prstGeom prst="rect">
            <a:avLst/>
          </a:prstGeom>
          <a:noFill/>
        </p:spPr>
        <p:txBody>
          <a:bodyPr wrap="none">
            <a:spAutoFit/>
          </a:bodyPr>
          <a:lstStyle/>
          <a:p>
            <a:pPr>
              <a:defRPr sz="2200" b="1">
                <a:solidFill>
                  <a:srgbClr val="FFFFFF"/>
                </a:solidFill>
              </a:defRPr>
            </a:pPr>
            <a:r>
              <a:t>Fixed Plus benefits leverage behavioral insights: advance planners value priority access most</a:t>
            </a:r>
          </a:p>
        </p:txBody>
      </p:sp>
      <p:sp>
        <p:nvSpPr>
          <p:cNvPr id="5" name="TextBox 4"/>
          <p:cNvSpPr txBox="1"/>
          <p:nvPr/>
        </p:nvSpPr>
        <p:spPr>
          <a:xfrm>
            <a:off x="457200" y="1280160"/>
            <a:ext cx="8229600" cy="5029200"/>
          </a:xfrm>
          <a:prstGeom prst="rect">
            <a:avLst/>
          </a:prstGeom>
          <a:noFill/>
        </p:spPr>
        <p:txBody>
          <a:bodyPr wrap="square">
            <a:spAutoFit/>
          </a:bodyPr>
          <a:lstStyle/>
          <a:p>
            <a:pPr>
              <a:spcAft>
                <a:spcPts val="800"/>
              </a:spcAft>
              <a:defRPr sz="1600">
                <a:solidFill>
                  <a:srgbClr val="404040"/>
                </a:solidFill>
              </a:defRPr>
            </a:pPr>
            <a:r>
              <a:rPr dirty="0"/>
              <a:t>TIER 1: ACCESS BENEFITS (Core Value Proposition)</a:t>
            </a:r>
          </a:p>
          <a:p>
            <a:pPr>
              <a:spcAft>
                <a:spcPts val="800"/>
              </a:spcAft>
              <a:defRPr sz="1600">
                <a:solidFill>
                  <a:srgbClr val="404040"/>
                </a:solidFill>
              </a:defRPr>
            </a:pPr>
            <a:r>
              <a:rPr dirty="0"/>
              <a:t>  - Priority Access Window: Book Holiday/Special 2 weeks before general public</a:t>
            </a:r>
          </a:p>
          <a:p>
            <a:pPr>
              <a:spcAft>
                <a:spcPts val="800"/>
              </a:spcAft>
              <a:defRPr sz="1600">
                <a:solidFill>
                  <a:srgbClr val="404040"/>
                </a:solidFill>
              </a:defRPr>
            </a:pPr>
            <a:r>
              <a:rPr dirty="0"/>
              <a:t>  - Guaranteed Seat Holds: Your preferred section reserved for add-on events</a:t>
            </a:r>
          </a:p>
          <a:p>
            <a:pPr>
              <a:spcAft>
                <a:spcPts val="800"/>
              </a:spcAft>
              <a:defRPr sz="1600">
                <a:solidFill>
                  <a:srgbClr val="404040"/>
                </a:solidFill>
              </a:defRPr>
            </a:pPr>
            <a:r>
              <a:rPr dirty="0"/>
              <a:t>  - Sellout Protection: Never miss a Holiday show due to capacity</a:t>
            </a:r>
          </a:p>
          <a:p>
            <a:pPr>
              <a:spcAft>
                <a:spcPts val="800"/>
              </a:spcAft>
              <a:defRPr sz="1600">
                <a:solidFill>
                  <a:srgbClr val="404040"/>
                </a:solidFill>
              </a:defRPr>
            </a:pPr>
            <a:endParaRPr dirty="0"/>
          </a:p>
          <a:p>
            <a:pPr>
              <a:spcAft>
                <a:spcPts val="800"/>
              </a:spcAft>
              <a:defRPr sz="1600">
                <a:solidFill>
                  <a:srgbClr val="404040"/>
                </a:solidFill>
              </a:defRPr>
            </a:pPr>
            <a:r>
              <a:rPr dirty="0"/>
              <a:t>TIER 2: EXPERIENCE BENEFITS (Differentiation)</a:t>
            </a:r>
          </a:p>
          <a:p>
            <a:pPr>
              <a:spcAft>
                <a:spcPts val="800"/>
              </a:spcAft>
              <a:defRPr sz="1600">
                <a:solidFill>
                  <a:srgbClr val="404040"/>
                </a:solidFill>
              </a:defRPr>
            </a:pPr>
            <a:r>
              <a:rPr dirty="0"/>
              <a:t>  - Pre-Concert Insights: Exclusive pre-concert talk or conductor Q&amp;A</a:t>
            </a:r>
          </a:p>
          <a:p>
            <a:pPr>
              <a:spcAft>
                <a:spcPts val="800"/>
              </a:spcAft>
              <a:defRPr sz="1600">
                <a:solidFill>
                  <a:srgbClr val="404040"/>
                </a:solidFill>
              </a:defRPr>
            </a:pPr>
            <a:r>
              <a:rPr dirty="0"/>
              <a:t>  - Intermission Lounge Access: Dedicated refreshment area</a:t>
            </a:r>
          </a:p>
          <a:p>
            <a:pPr>
              <a:spcAft>
                <a:spcPts val="800"/>
              </a:spcAft>
              <a:defRPr sz="1600">
                <a:solidFill>
                  <a:srgbClr val="404040"/>
                </a:solidFill>
              </a:defRPr>
            </a:pPr>
            <a:r>
              <a:rPr dirty="0"/>
              <a:t>  - Program Recognition: 'Fixed Plus Member' acknowledgment</a:t>
            </a:r>
          </a:p>
          <a:p>
            <a:pPr>
              <a:spcAft>
                <a:spcPts val="800"/>
              </a:spcAft>
              <a:defRPr sz="1600">
                <a:solidFill>
                  <a:srgbClr val="404040"/>
                </a:solidFill>
              </a:defRPr>
            </a:pPr>
            <a:endParaRPr dirty="0"/>
          </a:p>
          <a:p>
            <a:pPr>
              <a:spcAft>
                <a:spcPts val="800"/>
              </a:spcAft>
              <a:defRPr sz="1600">
                <a:solidFill>
                  <a:srgbClr val="404040"/>
                </a:solidFill>
              </a:defRPr>
            </a:pPr>
            <a:r>
              <a:rPr dirty="0"/>
              <a:t>TIER 3: CONVENIENCE BENEFITS (Friction Reduction)</a:t>
            </a:r>
          </a:p>
          <a:p>
            <a:pPr>
              <a:spcAft>
                <a:spcPts val="800"/>
              </a:spcAft>
              <a:defRPr sz="1600">
                <a:solidFill>
                  <a:srgbClr val="404040"/>
                </a:solidFill>
              </a:defRPr>
            </a:pPr>
            <a:r>
              <a:rPr dirty="0"/>
              <a:t>  - Single Checkout: Add-ons charged with subscription renewal</a:t>
            </a:r>
          </a:p>
          <a:p>
            <a:pPr>
              <a:spcAft>
                <a:spcPts val="800"/>
              </a:spcAft>
              <a:defRPr sz="1600">
                <a:solidFill>
                  <a:srgbClr val="404040"/>
                </a:solidFill>
              </a:defRPr>
            </a:pPr>
            <a:r>
              <a:rPr dirty="0"/>
              <a:t>  - Flex Swap Option: Exchange one date for another same-tier event</a:t>
            </a:r>
          </a:p>
          <a:p>
            <a:pPr>
              <a:spcAft>
                <a:spcPts val="800"/>
              </a:spcAft>
              <a:defRPr sz="1600">
                <a:solidFill>
                  <a:srgbClr val="404040"/>
                </a:solidFill>
              </a:defRPr>
            </a:pPr>
            <a:r>
              <a:rPr dirty="0"/>
              <a:t>  - Companion Discount: 5% off for a guest ticket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3108960"/>
            <a:ext cx="886968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560320"/>
            <a:ext cx="8229600" cy="914400"/>
          </a:xfrm>
          <a:prstGeom prst="rect">
            <a:avLst/>
          </a:prstGeom>
          <a:noFill/>
        </p:spPr>
        <p:txBody>
          <a:bodyPr wrap="none">
            <a:spAutoFit/>
          </a:bodyPr>
          <a:lstStyle/>
          <a:p>
            <a:pPr>
              <a:defRPr sz="3600" b="1">
                <a:solidFill>
                  <a:srgbClr val="003366"/>
                </a:solidFill>
              </a:defRPr>
            </a:pPr>
            <a:r>
              <a:t>Section 5: Comparing the Two Programs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274320"/>
            <a:ext cx="8412480" cy="640080"/>
          </a:xfrm>
          <a:prstGeom prst="rect">
            <a:avLst/>
          </a:prstGeom>
          <a:noFill/>
        </p:spPr>
        <p:txBody>
          <a:bodyPr wrap="none">
            <a:spAutoFit/>
          </a:bodyPr>
          <a:lstStyle/>
          <a:p>
            <a:pPr>
              <a:defRPr sz="2200" b="1">
                <a:solidFill>
                  <a:srgbClr val="FFFFFF"/>
                </a:solidFill>
              </a:defRPr>
            </a:pPr>
            <a:r>
              <a:t>Both programs are complementary: one acquires new customers, one deepens existing relationships</a:t>
            </a:r>
          </a:p>
        </p:txBody>
      </p:sp>
      <p:sp>
        <p:nvSpPr>
          <p:cNvPr id="5" name="Rectangle 4"/>
          <p:cNvSpPr/>
          <p:nvPr/>
        </p:nvSpPr>
        <p:spPr>
          <a:xfrm>
            <a:off x="457200" y="1280160"/>
            <a:ext cx="3931920" cy="4572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Classical Add-On Product</a:t>
            </a:r>
          </a:p>
        </p:txBody>
      </p:sp>
      <p:sp>
        <p:nvSpPr>
          <p:cNvPr id="6" name="TextBox 5"/>
          <p:cNvSpPr txBox="1"/>
          <p:nvPr/>
        </p:nvSpPr>
        <p:spPr>
          <a:xfrm>
            <a:off x="457200" y="1828800"/>
            <a:ext cx="3931920" cy="4114800"/>
          </a:xfrm>
          <a:prstGeom prst="rect">
            <a:avLst/>
          </a:prstGeom>
          <a:noFill/>
        </p:spPr>
        <p:txBody>
          <a:bodyPr wrap="square">
            <a:spAutoFit/>
          </a:bodyPr>
          <a:lstStyle/>
          <a:p>
            <a:pPr>
              <a:spcAft>
                <a:spcPts val="600"/>
              </a:spcAft>
              <a:defRPr sz="1400">
                <a:solidFill>
                  <a:srgbClr val="404040"/>
                </a:solidFill>
              </a:defRPr>
            </a:pPr>
            <a:r>
              <a:t>• Target: Single ticket buyers (acquisition)</a:t>
            </a:r>
          </a:p>
          <a:p>
            <a:pPr>
              <a:spcAft>
                <a:spcPts val="600"/>
              </a:spcAft>
              <a:defRPr sz="1400">
                <a:solidFill>
                  <a:srgbClr val="404040"/>
                </a:solidFill>
              </a:defRPr>
            </a:pPr>
            <a:r>
              <a:t>• Mechanism: Discounted cross-sell</a:t>
            </a:r>
          </a:p>
          <a:p>
            <a:pPr>
              <a:spcAft>
                <a:spcPts val="600"/>
              </a:spcAft>
              <a:defRPr sz="1400">
                <a:solidFill>
                  <a:srgbClr val="404040"/>
                </a:solidFill>
              </a:defRPr>
            </a:pPr>
            <a:r>
              <a:t>• Revenue: $102,099 incremental</a:t>
            </a:r>
          </a:p>
          <a:p>
            <a:pPr>
              <a:spcAft>
                <a:spcPts val="600"/>
              </a:spcAft>
              <a:defRPr sz="1400">
                <a:solidFill>
                  <a:srgbClr val="404040"/>
                </a:solidFill>
              </a:defRPr>
            </a:pPr>
            <a:r>
              <a:t>• Tickets: 1,926 new Classical sales</a:t>
            </a:r>
          </a:p>
          <a:p>
            <a:pPr>
              <a:spcAft>
                <a:spcPts val="600"/>
              </a:spcAft>
              <a:defRPr sz="1400">
                <a:solidFill>
                  <a:srgbClr val="404040"/>
                </a:solidFill>
              </a:defRPr>
            </a:pPr>
            <a:r>
              <a:t>• Pipeline: 50 new CYO subscribers</a:t>
            </a:r>
          </a:p>
          <a:p>
            <a:pPr>
              <a:spcAft>
                <a:spcPts val="600"/>
              </a:spcAft>
              <a:defRPr sz="1400">
                <a:solidFill>
                  <a:srgbClr val="404040"/>
                </a:solidFill>
              </a:defRPr>
            </a:pPr>
            <a:r>
              <a:t>• Risk: Very low (no cannibalization)</a:t>
            </a:r>
          </a:p>
          <a:p>
            <a:pPr>
              <a:spcAft>
                <a:spcPts val="600"/>
              </a:spcAft>
              <a:defRPr sz="1400">
                <a:solidFill>
                  <a:srgbClr val="404040"/>
                </a:solidFill>
              </a:defRPr>
            </a:pPr>
            <a:r>
              <a:t>• Complexity: Low (email + signage)</a:t>
            </a:r>
          </a:p>
        </p:txBody>
      </p:sp>
      <p:sp>
        <p:nvSpPr>
          <p:cNvPr id="7" name="Rectangle 6"/>
          <p:cNvSpPr/>
          <p:nvPr/>
        </p:nvSpPr>
        <p:spPr>
          <a:xfrm>
            <a:off x="4754880" y="1280160"/>
            <a:ext cx="3931920" cy="457200"/>
          </a:xfrm>
          <a:prstGeom prst="rect">
            <a:avLst/>
          </a:prstGeom>
          <a:solidFill>
            <a:srgbClr val="0F9D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Fixed Plus Premium</a:t>
            </a:r>
          </a:p>
        </p:txBody>
      </p:sp>
      <p:sp>
        <p:nvSpPr>
          <p:cNvPr id="8" name="TextBox 7"/>
          <p:cNvSpPr txBox="1"/>
          <p:nvPr/>
        </p:nvSpPr>
        <p:spPr>
          <a:xfrm>
            <a:off x="4754880" y="1828800"/>
            <a:ext cx="3931920" cy="4114800"/>
          </a:xfrm>
          <a:prstGeom prst="rect">
            <a:avLst/>
          </a:prstGeom>
          <a:noFill/>
        </p:spPr>
        <p:txBody>
          <a:bodyPr wrap="square">
            <a:spAutoFit/>
          </a:bodyPr>
          <a:lstStyle/>
          <a:p>
            <a:pPr>
              <a:spcAft>
                <a:spcPts val="600"/>
              </a:spcAft>
              <a:defRPr sz="1400">
                <a:solidFill>
                  <a:srgbClr val="404040"/>
                </a:solidFill>
              </a:defRPr>
            </a:pPr>
            <a:r>
              <a:t>• Target: Fixed 6 subscribers (deepening)</a:t>
            </a:r>
          </a:p>
          <a:p>
            <a:pPr>
              <a:spcAft>
                <a:spcPts val="600"/>
              </a:spcAft>
              <a:defRPr sz="1400">
                <a:solidFill>
                  <a:srgbClr val="404040"/>
                </a:solidFill>
              </a:defRPr>
            </a:pPr>
            <a:r>
              <a:t>• Mechanism: Premium bundled value</a:t>
            </a:r>
          </a:p>
          <a:p>
            <a:pPr>
              <a:spcAft>
                <a:spcPts val="600"/>
              </a:spcAft>
              <a:defRPr sz="1400">
                <a:solidFill>
                  <a:srgbClr val="404040"/>
                </a:solidFill>
              </a:defRPr>
            </a:pPr>
            <a:r>
              <a:t>• Revenue: $44,310 premium-priced</a:t>
            </a:r>
          </a:p>
          <a:p>
            <a:pPr>
              <a:spcAft>
                <a:spcPts val="600"/>
              </a:spcAft>
              <a:defRPr sz="1400">
                <a:solidFill>
                  <a:srgbClr val="404040"/>
                </a:solidFill>
              </a:defRPr>
            </a:pPr>
            <a:r>
              <a:t>• Subscribers: 354 Fixed Plus members</a:t>
            </a:r>
          </a:p>
          <a:p>
            <a:pPr>
              <a:spcAft>
                <a:spcPts val="600"/>
              </a:spcAft>
              <a:defRPr sz="1400">
                <a:solidFill>
                  <a:srgbClr val="404040"/>
                </a:solidFill>
              </a:defRPr>
            </a:pPr>
            <a:r>
              <a:t>• Premium: $4,028 captured above base</a:t>
            </a:r>
          </a:p>
          <a:p>
            <a:pPr>
              <a:spcAft>
                <a:spcPts val="600"/>
              </a:spcAft>
              <a:defRPr sz="1400">
                <a:solidFill>
                  <a:srgbClr val="404040"/>
                </a:solidFill>
              </a:defRPr>
            </a:pPr>
            <a:r>
              <a:t>• Risk: Low (proven demand exists)</a:t>
            </a:r>
          </a:p>
          <a:p>
            <a:pPr>
              <a:spcAft>
                <a:spcPts val="600"/>
              </a:spcAft>
              <a:defRPr sz="1400">
                <a:solidFill>
                  <a:srgbClr val="404040"/>
                </a:solidFill>
              </a:defRPr>
            </a:pPr>
            <a:r>
              <a:t>• Complexity: Medium (benefits delivery)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274320"/>
            <a:ext cx="8412480" cy="640080"/>
          </a:xfrm>
          <a:prstGeom prst="rect">
            <a:avLst/>
          </a:prstGeom>
          <a:noFill/>
        </p:spPr>
        <p:txBody>
          <a:bodyPr wrap="none">
            <a:spAutoFit/>
          </a:bodyPr>
          <a:lstStyle/>
          <a:p>
            <a:pPr>
              <a:defRPr sz="2200" b="1">
                <a:solidFill>
                  <a:srgbClr val="FFFFFF"/>
                </a:solidFill>
              </a:defRPr>
            </a:pPr>
            <a:r>
              <a:t>Combined Year 1 impact: $146K incremental revenue plus long-term subscriber pipeline</a:t>
            </a:r>
          </a:p>
        </p:txBody>
      </p:sp>
      <p:sp>
        <p:nvSpPr>
          <p:cNvPr id="5" name="Rounded Rectangle 4"/>
          <p:cNvSpPr/>
          <p:nvPr/>
        </p:nvSpPr>
        <p:spPr>
          <a:xfrm>
            <a:off x="457200" y="1645920"/>
            <a:ext cx="2560320" cy="2011680"/>
          </a:xfrm>
          <a:prstGeom prst="roundRect">
            <a:avLst/>
          </a:prstGeom>
          <a:solidFill>
            <a:srgbClr val="F5F5FA"/>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828800"/>
            <a:ext cx="2560320" cy="731520"/>
          </a:xfrm>
          <a:prstGeom prst="rect">
            <a:avLst/>
          </a:prstGeom>
          <a:noFill/>
        </p:spPr>
        <p:txBody>
          <a:bodyPr wrap="none">
            <a:spAutoFit/>
          </a:bodyPr>
          <a:lstStyle/>
          <a:p>
            <a:pPr algn="ctr">
              <a:defRPr sz="3200" b="1">
                <a:solidFill>
                  <a:srgbClr val="0F9D58"/>
                </a:solidFill>
              </a:defRPr>
            </a:pPr>
            <a:r>
              <a:t>$146K</a:t>
            </a:r>
          </a:p>
        </p:txBody>
      </p:sp>
      <p:sp>
        <p:nvSpPr>
          <p:cNvPr id="7" name="TextBox 6"/>
          <p:cNvSpPr txBox="1"/>
          <p:nvPr/>
        </p:nvSpPr>
        <p:spPr>
          <a:xfrm>
            <a:off x="457200" y="2560320"/>
            <a:ext cx="2560320" cy="914400"/>
          </a:xfrm>
          <a:prstGeom prst="rect">
            <a:avLst/>
          </a:prstGeom>
          <a:noFill/>
        </p:spPr>
        <p:txBody>
          <a:bodyPr wrap="square">
            <a:spAutoFit/>
          </a:bodyPr>
          <a:lstStyle/>
          <a:p>
            <a:pPr algn="ctr">
              <a:defRPr sz="1200">
                <a:solidFill>
                  <a:srgbClr val="404040"/>
                </a:solidFill>
              </a:defRPr>
            </a:pPr>
            <a:r>
              <a:t>Total Year 1 incremental revenue (both programs)</a:t>
            </a:r>
          </a:p>
        </p:txBody>
      </p:sp>
      <p:sp>
        <p:nvSpPr>
          <p:cNvPr id="8" name="Rounded Rectangle 7"/>
          <p:cNvSpPr/>
          <p:nvPr/>
        </p:nvSpPr>
        <p:spPr>
          <a:xfrm>
            <a:off x="3291840" y="1645920"/>
            <a:ext cx="2560320" cy="2011680"/>
          </a:xfrm>
          <a:prstGeom prst="roundRect">
            <a:avLst/>
          </a:prstGeom>
          <a:solidFill>
            <a:srgbClr val="F5F5FA"/>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91840" y="1828800"/>
            <a:ext cx="2560320" cy="731520"/>
          </a:xfrm>
          <a:prstGeom prst="rect">
            <a:avLst/>
          </a:prstGeom>
          <a:noFill/>
        </p:spPr>
        <p:txBody>
          <a:bodyPr wrap="none">
            <a:spAutoFit/>
          </a:bodyPr>
          <a:lstStyle/>
          <a:p>
            <a:pPr algn="ctr">
              <a:defRPr sz="3200" b="1">
                <a:solidFill>
                  <a:srgbClr val="003366"/>
                </a:solidFill>
              </a:defRPr>
            </a:pPr>
            <a:r>
              <a:t>50</a:t>
            </a:r>
          </a:p>
        </p:txBody>
      </p:sp>
      <p:sp>
        <p:nvSpPr>
          <p:cNvPr id="10" name="TextBox 9"/>
          <p:cNvSpPr txBox="1"/>
          <p:nvPr/>
        </p:nvSpPr>
        <p:spPr>
          <a:xfrm>
            <a:off x="3291840" y="2560320"/>
            <a:ext cx="2560320" cy="914400"/>
          </a:xfrm>
          <a:prstGeom prst="rect">
            <a:avLst/>
          </a:prstGeom>
          <a:noFill/>
        </p:spPr>
        <p:txBody>
          <a:bodyPr wrap="square">
            <a:spAutoFit/>
          </a:bodyPr>
          <a:lstStyle/>
          <a:p>
            <a:pPr algn="ctr">
              <a:defRPr sz="1200">
                <a:solidFill>
                  <a:srgbClr val="404040"/>
                </a:solidFill>
              </a:defRPr>
            </a:pPr>
            <a:r>
              <a:t>New CYO subscribers from conversion pipeline</a:t>
            </a:r>
          </a:p>
        </p:txBody>
      </p:sp>
      <p:sp>
        <p:nvSpPr>
          <p:cNvPr id="11" name="Rounded Rectangle 10"/>
          <p:cNvSpPr/>
          <p:nvPr/>
        </p:nvSpPr>
        <p:spPr>
          <a:xfrm>
            <a:off x="6126480" y="1645920"/>
            <a:ext cx="2560320" cy="2011680"/>
          </a:xfrm>
          <a:prstGeom prst="roundRect">
            <a:avLst/>
          </a:prstGeom>
          <a:solidFill>
            <a:srgbClr val="F5F5FA"/>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26480" y="1828800"/>
            <a:ext cx="2560320" cy="731520"/>
          </a:xfrm>
          <a:prstGeom prst="rect">
            <a:avLst/>
          </a:prstGeom>
          <a:noFill/>
        </p:spPr>
        <p:txBody>
          <a:bodyPr wrap="none">
            <a:spAutoFit/>
          </a:bodyPr>
          <a:lstStyle/>
          <a:p>
            <a:pPr algn="ctr">
              <a:defRPr sz="3200" b="1">
                <a:solidFill>
                  <a:srgbClr val="4285F4"/>
                </a:solidFill>
              </a:defRPr>
            </a:pPr>
            <a:r>
              <a:t>354</a:t>
            </a:r>
          </a:p>
        </p:txBody>
      </p:sp>
      <p:sp>
        <p:nvSpPr>
          <p:cNvPr id="13" name="TextBox 12"/>
          <p:cNvSpPr txBox="1"/>
          <p:nvPr/>
        </p:nvSpPr>
        <p:spPr>
          <a:xfrm>
            <a:off x="6126480" y="2560320"/>
            <a:ext cx="2560320" cy="914400"/>
          </a:xfrm>
          <a:prstGeom prst="rect">
            <a:avLst/>
          </a:prstGeom>
          <a:noFill/>
        </p:spPr>
        <p:txBody>
          <a:bodyPr wrap="square">
            <a:spAutoFit/>
          </a:bodyPr>
          <a:lstStyle/>
          <a:p>
            <a:pPr algn="ctr">
              <a:defRPr sz="1200">
                <a:solidFill>
                  <a:srgbClr val="404040"/>
                </a:solidFill>
              </a:defRPr>
            </a:pPr>
            <a:r>
              <a:t>Fixed Plus members (deepened relationships)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3108960"/>
            <a:ext cx="886968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560320"/>
            <a:ext cx="8229600" cy="914400"/>
          </a:xfrm>
          <a:prstGeom prst="rect">
            <a:avLst/>
          </a:prstGeom>
          <a:noFill/>
        </p:spPr>
        <p:txBody>
          <a:bodyPr wrap="none">
            <a:spAutoFit/>
          </a:bodyPr>
          <a:lstStyle/>
          <a:p>
            <a:pPr>
              <a:defRPr sz="3600" b="1">
                <a:solidFill>
                  <a:srgbClr val="003366"/>
                </a:solidFill>
              </a:defRPr>
            </a:pPr>
            <a:r>
              <a:t>Section 6: Implementation Roadmap</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274320"/>
            <a:ext cx="8412480" cy="640080"/>
          </a:xfrm>
          <a:prstGeom prst="rect">
            <a:avLst/>
          </a:prstGeom>
          <a:noFill/>
        </p:spPr>
        <p:txBody>
          <a:bodyPr wrap="none">
            <a:spAutoFit/>
          </a:bodyPr>
          <a:lstStyle/>
          <a:p>
            <a:pPr>
              <a:defRPr sz="2200" b="1">
                <a:solidFill>
                  <a:srgbClr val="FFFFFF"/>
                </a:solidFill>
              </a:defRPr>
            </a:pPr>
            <a:r>
              <a:t>Phased implementation minimizes risk: pilot Classical Add-On first, then launch Fixed Plus</a:t>
            </a:r>
          </a:p>
        </p:txBody>
      </p:sp>
      <p:sp>
        <p:nvSpPr>
          <p:cNvPr id="5" name="TextBox 4"/>
          <p:cNvSpPr txBox="1"/>
          <p:nvPr/>
        </p:nvSpPr>
        <p:spPr>
          <a:xfrm>
            <a:off x="457200" y="1280160"/>
            <a:ext cx="8229600" cy="5029200"/>
          </a:xfrm>
          <a:prstGeom prst="rect">
            <a:avLst/>
          </a:prstGeom>
          <a:noFill/>
        </p:spPr>
        <p:txBody>
          <a:bodyPr wrap="square">
            <a:spAutoFit/>
          </a:bodyPr>
          <a:lstStyle/>
          <a:p>
            <a:pPr>
              <a:spcAft>
                <a:spcPts val="800"/>
              </a:spcAft>
              <a:defRPr sz="1600">
                <a:solidFill>
                  <a:srgbClr val="404040"/>
                </a:solidFill>
              </a:defRPr>
            </a:pPr>
            <a:r>
              <a:t>PHASE 1: Classical Add-On Pilot (First 2-3 Special/Holiday Events)</a:t>
            </a:r>
          </a:p>
          <a:p>
            <a:pPr>
              <a:spcAft>
                <a:spcPts val="800"/>
              </a:spcAft>
              <a:defRPr sz="1600">
                <a:solidFill>
                  <a:srgbClr val="404040"/>
                </a:solidFill>
              </a:defRPr>
            </a:pPr>
            <a:r>
              <a:t>  - Test email + in-venue signage approach</a:t>
            </a:r>
          </a:p>
          <a:p>
            <a:pPr>
              <a:spcAft>
                <a:spcPts val="800"/>
              </a:spcAft>
              <a:defRPr sz="1600">
                <a:solidFill>
                  <a:srgbClr val="404040"/>
                </a:solidFill>
              </a:defRPr>
            </a:pPr>
            <a:r>
              <a:t>  - Measure response rate and redemption</a:t>
            </a:r>
          </a:p>
          <a:p>
            <a:pPr>
              <a:spcAft>
                <a:spcPts val="800"/>
              </a:spcAft>
              <a:defRPr sz="1600">
                <a:solidFill>
                  <a:srgbClr val="404040"/>
                </a:solidFill>
              </a:defRPr>
            </a:pPr>
            <a:r>
              <a:t>  - Collect feedback on offer clarity</a:t>
            </a:r>
          </a:p>
          <a:p>
            <a:pPr>
              <a:spcAft>
                <a:spcPts val="800"/>
              </a:spcAft>
              <a:defRPr sz="1600">
                <a:solidFill>
                  <a:srgbClr val="404040"/>
                </a:solidFill>
              </a:defRPr>
            </a:pPr>
            <a:r>
              <a:t>  - Target: 15%+ response rate</a:t>
            </a:r>
          </a:p>
          <a:p>
            <a:pPr>
              <a:spcAft>
                <a:spcPts val="800"/>
              </a:spcAft>
              <a:defRPr sz="1600">
                <a:solidFill>
                  <a:srgbClr val="404040"/>
                </a:solidFill>
              </a:defRPr>
            </a:pPr>
            <a:endParaRPr/>
          </a:p>
          <a:p>
            <a:pPr>
              <a:spcAft>
                <a:spcPts val="800"/>
              </a:spcAft>
              <a:defRPr sz="1600">
                <a:solidFill>
                  <a:srgbClr val="404040"/>
                </a:solidFill>
              </a:defRPr>
            </a:pPr>
            <a:r>
              <a:t>PHASE 2: Fixed Plus Soft Launch (At Subscription Renewal)</a:t>
            </a:r>
          </a:p>
          <a:p>
            <a:pPr>
              <a:spcAft>
                <a:spcPts val="800"/>
              </a:spcAft>
              <a:defRPr sz="1600">
                <a:solidFill>
                  <a:srgbClr val="404040"/>
                </a:solidFill>
              </a:defRPr>
            </a:pPr>
            <a:r>
              <a:t>  - Target existing Fixed 6 subscribers who already buy single tickets</a:t>
            </a:r>
          </a:p>
          <a:p>
            <a:pPr>
              <a:spcAft>
                <a:spcPts val="800"/>
              </a:spcAft>
              <a:defRPr sz="1600">
                <a:solidFill>
                  <a:srgbClr val="404040"/>
                </a:solidFill>
              </a:defRPr>
            </a:pPr>
            <a:r>
              <a:t>  - Email campaign with priority access messaging</a:t>
            </a:r>
          </a:p>
          <a:p>
            <a:pPr>
              <a:spcAft>
                <a:spcPts val="800"/>
              </a:spcAft>
              <a:defRPr sz="1600">
                <a:solidFill>
                  <a:srgbClr val="404040"/>
                </a:solidFill>
              </a:defRPr>
            </a:pPr>
            <a:r>
              <a:t>  - Goal: 100 Fixed Plus subscribers (proof of concept)</a:t>
            </a:r>
          </a:p>
          <a:p>
            <a:pPr>
              <a:spcAft>
                <a:spcPts val="800"/>
              </a:spcAft>
              <a:defRPr sz="1600">
                <a:solidFill>
                  <a:srgbClr val="404040"/>
                </a:solidFill>
              </a:defRPr>
            </a:pPr>
            <a:endParaRPr/>
          </a:p>
          <a:p>
            <a:pPr>
              <a:spcAft>
                <a:spcPts val="800"/>
              </a:spcAft>
              <a:defRPr sz="1600">
                <a:solidFill>
                  <a:srgbClr val="404040"/>
                </a:solidFill>
              </a:defRPr>
            </a:pPr>
            <a:r>
              <a:t>PHASE 3: Scale and Optimize</a:t>
            </a:r>
          </a:p>
          <a:p>
            <a:pPr>
              <a:spcAft>
                <a:spcPts val="800"/>
              </a:spcAft>
              <a:defRPr sz="1600">
                <a:solidFill>
                  <a:srgbClr val="404040"/>
                </a:solidFill>
              </a:defRPr>
            </a:pPr>
            <a:r>
              <a:t>  - Roll out Classical Add-On to all Special/Holiday events</a:t>
            </a:r>
          </a:p>
          <a:p>
            <a:pPr>
              <a:spcAft>
                <a:spcPts val="800"/>
              </a:spcAft>
              <a:defRPr sz="1600">
                <a:solidFill>
                  <a:srgbClr val="404040"/>
                </a:solidFill>
              </a:defRPr>
            </a:pPr>
            <a:r>
              <a:t>  - A/B test discount levels and messaging</a:t>
            </a:r>
          </a:p>
          <a:p>
            <a:pPr>
              <a:spcAft>
                <a:spcPts val="800"/>
              </a:spcAft>
              <a:defRPr sz="1600">
                <a:solidFill>
                  <a:srgbClr val="404040"/>
                </a:solidFill>
              </a:defRPr>
            </a:pPr>
            <a:r>
              <a:t>  - Expand Fixed Plus to all Fixed 6 at next renewal cycle</a:t>
            </a:r>
          </a:p>
          <a:p>
            <a:pPr>
              <a:spcAft>
                <a:spcPts val="800"/>
              </a:spcAft>
              <a:defRPr sz="1600">
                <a:solidFill>
                  <a:srgbClr val="404040"/>
                </a:solidFill>
              </a:defRPr>
            </a:pPr>
            <a:r>
              <a:t>  - Consider Fixed Plus Platinum tier for high-value members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274320"/>
            <a:ext cx="8412480" cy="640080"/>
          </a:xfrm>
          <a:prstGeom prst="rect">
            <a:avLst/>
          </a:prstGeom>
          <a:noFill/>
        </p:spPr>
        <p:txBody>
          <a:bodyPr wrap="none">
            <a:spAutoFit/>
          </a:bodyPr>
          <a:lstStyle/>
          <a:p>
            <a:pPr>
              <a:defRPr sz="2200" b="1">
                <a:solidFill>
                  <a:srgbClr val="FFFFFF"/>
                </a:solidFill>
              </a:defRPr>
            </a:pPr>
            <a:r>
              <a:t>Clear success metrics enable rapid iteration: monitor these KPIs weekly during pilot</a:t>
            </a:r>
          </a:p>
        </p:txBody>
      </p:sp>
      <p:graphicFrame>
        <p:nvGraphicFramePr>
          <p:cNvPr id="5" name="Table 4"/>
          <p:cNvGraphicFramePr>
            <a:graphicFrameLocks noGrp="1"/>
          </p:cNvGraphicFramePr>
          <p:nvPr/>
        </p:nvGraphicFramePr>
        <p:xfrm>
          <a:off x="685800" y="1371600"/>
          <a:ext cx="7772400" cy="3291840"/>
        </p:xfrm>
        <a:graphic>
          <a:graphicData uri="http://schemas.openxmlformats.org/drawingml/2006/table">
            <a:tbl>
              <a:tblPr firstRow="1" bandRow="1">
                <a:tableStyleId>{5C22544A-7EE6-4342-B048-85BDC9FD1C3A}</a:tableStyleId>
              </a:tblPr>
              <a:tblGrid>
                <a:gridCol w="1943100">
                  <a:extLst>
                    <a:ext uri="{9D8B030D-6E8A-4147-A177-3AD203B41FA5}">
                      <a16:colId xmlns:a16="http://schemas.microsoft.com/office/drawing/2014/main" val="20000"/>
                    </a:ext>
                  </a:extLst>
                </a:gridCol>
                <a:gridCol w="1943100">
                  <a:extLst>
                    <a:ext uri="{9D8B030D-6E8A-4147-A177-3AD203B41FA5}">
                      <a16:colId xmlns:a16="http://schemas.microsoft.com/office/drawing/2014/main" val="20001"/>
                    </a:ext>
                  </a:extLst>
                </a:gridCol>
                <a:gridCol w="1943100">
                  <a:extLst>
                    <a:ext uri="{9D8B030D-6E8A-4147-A177-3AD203B41FA5}">
                      <a16:colId xmlns:a16="http://schemas.microsoft.com/office/drawing/2014/main" val="20002"/>
                    </a:ext>
                  </a:extLst>
                </a:gridCol>
                <a:gridCol w="1943100">
                  <a:extLst>
                    <a:ext uri="{9D8B030D-6E8A-4147-A177-3AD203B41FA5}">
                      <a16:colId xmlns:a16="http://schemas.microsoft.com/office/drawing/2014/main" val="20003"/>
                    </a:ext>
                  </a:extLst>
                </a:gridCol>
              </a:tblGrid>
              <a:tr h="365760">
                <a:tc>
                  <a:txBody>
                    <a:bodyPr/>
                    <a:lstStyle/>
                    <a:p>
                      <a:pPr>
                        <a:defRPr sz="1200" b="1">
                          <a:solidFill>
                            <a:srgbClr val="FFFFFF"/>
                          </a:solidFill>
                        </a:defRPr>
                      </a:pPr>
                      <a:r>
                        <a:t>Program</a:t>
                      </a:r>
                    </a:p>
                  </a:txBody>
                  <a:tcPr>
                    <a:solidFill>
                      <a:srgbClr val="003366"/>
                    </a:solidFill>
                  </a:tcPr>
                </a:tc>
                <a:tc>
                  <a:txBody>
                    <a:bodyPr/>
                    <a:lstStyle/>
                    <a:p>
                      <a:pPr>
                        <a:defRPr sz="1200" b="1">
                          <a:solidFill>
                            <a:srgbClr val="FFFFFF"/>
                          </a:solidFill>
                        </a:defRPr>
                      </a:pPr>
                      <a:r>
                        <a:t>Metric</a:t>
                      </a:r>
                    </a:p>
                  </a:txBody>
                  <a:tcPr>
                    <a:solidFill>
                      <a:srgbClr val="003366"/>
                    </a:solidFill>
                  </a:tcPr>
                </a:tc>
                <a:tc>
                  <a:txBody>
                    <a:bodyPr/>
                    <a:lstStyle/>
                    <a:p>
                      <a:pPr>
                        <a:defRPr sz="1200" b="1">
                          <a:solidFill>
                            <a:srgbClr val="FFFFFF"/>
                          </a:solidFill>
                        </a:defRPr>
                      </a:pPr>
                      <a:r>
                        <a:t>Target</a:t>
                      </a:r>
                    </a:p>
                  </a:txBody>
                  <a:tcPr>
                    <a:solidFill>
                      <a:srgbClr val="003366"/>
                    </a:solidFill>
                  </a:tcPr>
                </a:tc>
                <a:tc>
                  <a:txBody>
                    <a:bodyPr/>
                    <a:lstStyle/>
                    <a:p>
                      <a:pPr>
                        <a:defRPr sz="1200" b="1">
                          <a:solidFill>
                            <a:srgbClr val="FFFFFF"/>
                          </a:solidFill>
                        </a:defRPr>
                      </a:pPr>
                      <a:r>
                        <a:t>Red Flag</a:t>
                      </a:r>
                    </a:p>
                  </a:txBody>
                  <a:tcPr>
                    <a:solidFill>
                      <a:srgbClr val="003366"/>
                    </a:solidFill>
                  </a:tcPr>
                </a:tc>
                <a:extLst>
                  <a:ext uri="{0D108BD9-81ED-4DB2-BD59-A6C34878D82A}">
                    <a16:rowId xmlns:a16="http://schemas.microsoft.com/office/drawing/2014/main" val="10000"/>
                  </a:ext>
                </a:extLst>
              </a:tr>
              <a:tr h="365760">
                <a:tc>
                  <a:txBody>
                    <a:bodyPr/>
                    <a:lstStyle/>
                    <a:p>
                      <a:pPr>
                        <a:defRPr sz="1100">
                          <a:solidFill>
                            <a:srgbClr val="404040"/>
                          </a:solidFill>
                        </a:defRPr>
                      </a:pPr>
                      <a:r>
                        <a:t>Classical Add-On</a:t>
                      </a:r>
                    </a:p>
                  </a:txBody>
                  <a:tcPr/>
                </a:tc>
                <a:tc>
                  <a:txBody>
                    <a:bodyPr/>
                    <a:lstStyle/>
                    <a:p>
                      <a:pPr>
                        <a:defRPr sz="1100">
                          <a:solidFill>
                            <a:srgbClr val="404040"/>
                          </a:solidFill>
                        </a:defRPr>
                      </a:pPr>
                      <a:r>
                        <a:t>Response rate</a:t>
                      </a:r>
                    </a:p>
                  </a:txBody>
                  <a:tcPr/>
                </a:tc>
                <a:tc>
                  <a:txBody>
                    <a:bodyPr/>
                    <a:lstStyle/>
                    <a:p>
                      <a:pPr>
                        <a:defRPr sz="1100">
                          <a:solidFill>
                            <a:srgbClr val="404040"/>
                          </a:solidFill>
                        </a:defRPr>
                      </a:pPr>
                      <a:r>
                        <a:t>&gt;15%</a:t>
                      </a:r>
                    </a:p>
                  </a:txBody>
                  <a:tcPr/>
                </a:tc>
                <a:tc>
                  <a:txBody>
                    <a:bodyPr/>
                    <a:lstStyle/>
                    <a:p>
                      <a:pPr>
                        <a:defRPr sz="1100">
                          <a:solidFill>
                            <a:srgbClr val="404040"/>
                          </a:solidFill>
                        </a:defRPr>
                      </a:pPr>
                      <a:r>
                        <a:t>&lt;10%</a:t>
                      </a:r>
                    </a:p>
                  </a:txBody>
                  <a:tcPr/>
                </a:tc>
                <a:extLst>
                  <a:ext uri="{0D108BD9-81ED-4DB2-BD59-A6C34878D82A}">
                    <a16:rowId xmlns:a16="http://schemas.microsoft.com/office/drawing/2014/main" val="10001"/>
                  </a:ext>
                </a:extLst>
              </a:tr>
              <a:tr h="365760">
                <a:tc>
                  <a:txBody>
                    <a:bodyPr/>
                    <a:lstStyle/>
                    <a:p>
                      <a:pPr>
                        <a:defRPr sz="1100">
                          <a:solidFill>
                            <a:srgbClr val="404040"/>
                          </a:solidFill>
                        </a:defRPr>
                      </a:pPr>
                      <a:r>
                        <a:t>Classical Add-On</a:t>
                      </a:r>
                    </a:p>
                  </a:txBody>
                  <a:tcPr/>
                </a:tc>
                <a:tc>
                  <a:txBody>
                    <a:bodyPr/>
                    <a:lstStyle/>
                    <a:p>
                      <a:pPr>
                        <a:defRPr sz="1100">
                          <a:solidFill>
                            <a:srgbClr val="404040"/>
                          </a:solidFill>
                        </a:defRPr>
                      </a:pPr>
                      <a:r>
                        <a:t>Redemption rate</a:t>
                      </a:r>
                    </a:p>
                  </a:txBody>
                  <a:tcPr/>
                </a:tc>
                <a:tc>
                  <a:txBody>
                    <a:bodyPr/>
                    <a:lstStyle/>
                    <a:p>
                      <a:pPr>
                        <a:defRPr sz="1100">
                          <a:solidFill>
                            <a:srgbClr val="404040"/>
                          </a:solidFill>
                        </a:defRPr>
                      </a:pPr>
                      <a:r>
                        <a:t>&gt;5%</a:t>
                      </a:r>
                    </a:p>
                  </a:txBody>
                  <a:tcPr/>
                </a:tc>
                <a:tc>
                  <a:txBody>
                    <a:bodyPr/>
                    <a:lstStyle/>
                    <a:p>
                      <a:pPr>
                        <a:defRPr sz="1100">
                          <a:solidFill>
                            <a:srgbClr val="404040"/>
                          </a:solidFill>
                        </a:defRPr>
                      </a:pPr>
                      <a:r>
                        <a:t>&lt;2%</a:t>
                      </a:r>
                    </a:p>
                  </a:txBody>
                  <a:tcPr/>
                </a:tc>
                <a:extLst>
                  <a:ext uri="{0D108BD9-81ED-4DB2-BD59-A6C34878D82A}">
                    <a16:rowId xmlns:a16="http://schemas.microsoft.com/office/drawing/2014/main" val="10002"/>
                  </a:ext>
                </a:extLst>
              </a:tr>
              <a:tr h="365760">
                <a:tc>
                  <a:txBody>
                    <a:bodyPr/>
                    <a:lstStyle/>
                    <a:p>
                      <a:pPr>
                        <a:defRPr sz="1100">
                          <a:solidFill>
                            <a:srgbClr val="404040"/>
                          </a:solidFill>
                        </a:defRPr>
                      </a:pPr>
                      <a:r>
                        <a:t>Classical Add-On</a:t>
                      </a:r>
                    </a:p>
                  </a:txBody>
                  <a:tcPr/>
                </a:tc>
                <a:tc>
                  <a:txBody>
                    <a:bodyPr/>
                    <a:lstStyle/>
                    <a:p>
                      <a:pPr>
                        <a:defRPr sz="1100">
                          <a:solidFill>
                            <a:srgbClr val="404040"/>
                          </a:solidFill>
                        </a:defRPr>
                      </a:pPr>
                      <a:r>
                        <a:t>Classical cannibalization</a:t>
                      </a:r>
                    </a:p>
                  </a:txBody>
                  <a:tcPr/>
                </a:tc>
                <a:tc>
                  <a:txBody>
                    <a:bodyPr/>
                    <a:lstStyle/>
                    <a:p>
                      <a:pPr>
                        <a:defRPr sz="1100">
                          <a:solidFill>
                            <a:srgbClr val="404040"/>
                          </a:solidFill>
                        </a:defRPr>
                      </a:pPr>
                      <a:r>
                        <a:t>&lt;2% decline</a:t>
                      </a:r>
                    </a:p>
                  </a:txBody>
                  <a:tcPr/>
                </a:tc>
                <a:tc>
                  <a:txBody>
                    <a:bodyPr/>
                    <a:lstStyle/>
                    <a:p>
                      <a:pPr>
                        <a:defRPr sz="1100">
                          <a:solidFill>
                            <a:srgbClr val="404040"/>
                          </a:solidFill>
                        </a:defRPr>
                      </a:pPr>
                      <a:r>
                        <a:t>&gt;5% decline</a:t>
                      </a:r>
                    </a:p>
                  </a:txBody>
                  <a:tcPr/>
                </a:tc>
                <a:extLst>
                  <a:ext uri="{0D108BD9-81ED-4DB2-BD59-A6C34878D82A}">
                    <a16:rowId xmlns:a16="http://schemas.microsoft.com/office/drawing/2014/main" val="10003"/>
                  </a:ext>
                </a:extLst>
              </a:tr>
              <a:tr h="365760">
                <a:tc>
                  <a:txBody>
                    <a:bodyPr/>
                    <a:lstStyle/>
                    <a:p>
                      <a:pPr>
                        <a:defRPr sz="1100">
                          <a:solidFill>
                            <a:srgbClr val="404040"/>
                          </a:solidFill>
                        </a:defRPr>
                      </a:pPr>
                      <a:r>
                        <a:t>Classical Add-On</a:t>
                      </a:r>
                    </a:p>
                  </a:txBody>
                  <a:tcPr/>
                </a:tc>
                <a:tc>
                  <a:txBody>
                    <a:bodyPr/>
                    <a:lstStyle/>
                    <a:p>
                      <a:pPr>
                        <a:defRPr sz="1100">
                          <a:solidFill>
                            <a:srgbClr val="404040"/>
                          </a:solidFill>
                        </a:defRPr>
                      </a:pPr>
                      <a:r>
                        <a:t>CYO conversion (3+ buyers)</a:t>
                      </a:r>
                    </a:p>
                  </a:txBody>
                  <a:tcPr/>
                </a:tc>
                <a:tc>
                  <a:txBody>
                    <a:bodyPr/>
                    <a:lstStyle/>
                    <a:p>
                      <a:pPr>
                        <a:defRPr sz="1100">
                          <a:solidFill>
                            <a:srgbClr val="404040"/>
                          </a:solidFill>
                        </a:defRPr>
                      </a:pPr>
                      <a:r>
                        <a:t>&gt;20%</a:t>
                      </a:r>
                    </a:p>
                  </a:txBody>
                  <a:tcPr/>
                </a:tc>
                <a:tc>
                  <a:txBody>
                    <a:bodyPr/>
                    <a:lstStyle/>
                    <a:p>
                      <a:pPr>
                        <a:defRPr sz="1100">
                          <a:solidFill>
                            <a:srgbClr val="404040"/>
                          </a:solidFill>
                        </a:defRPr>
                      </a:pPr>
                      <a:r>
                        <a:t>&lt;15%</a:t>
                      </a:r>
                    </a:p>
                  </a:txBody>
                  <a:tcPr/>
                </a:tc>
                <a:extLst>
                  <a:ext uri="{0D108BD9-81ED-4DB2-BD59-A6C34878D82A}">
                    <a16:rowId xmlns:a16="http://schemas.microsoft.com/office/drawing/2014/main" val="10004"/>
                  </a:ext>
                </a:extLst>
              </a:tr>
              <a:tr h="365760">
                <a:tc>
                  <a:txBody>
                    <a:bodyPr/>
                    <a:lstStyle/>
                    <a:p>
                      <a:pPr>
                        <a:defRPr sz="1100">
                          <a:solidFill>
                            <a:srgbClr val="404040"/>
                          </a:solidFill>
                        </a:defRPr>
                      </a:pPr>
                      <a:r>
                        <a:t>Fixed Plus</a:t>
                      </a:r>
                    </a:p>
                  </a:txBody>
                  <a:tcPr/>
                </a:tc>
                <a:tc>
                  <a:txBody>
                    <a:bodyPr/>
                    <a:lstStyle/>
                    <a:p>
                      <a:pPr>
                        <a:defRPr sz="1100">
                          <a:solidFill>
                            <a:srgbClr val="404040"/>
                          </a:solidFill>
                        </a:defRPr>
                      </a:pPr>
                      <a:r>
                        <a:t>Uptake rate</a:t>
                      </a:r>
                    </a:p>
                  </a:txBody>
                  <a:tcPr/>
                </a:tc>
                <a:tc>
                  <a:txBody>
                    <a:bodyPr/>
                    <a:lstStyle/>
                    <a:p>
                      <a:pPr>
                        <a:defRPr sz="1100">
                          <a:solidFill>
                            <a:srgbClr val="404040"/>
                          </a:solidFill>
                        </a:defRPr>
                      </a:pPr>
                      <a:r>
                        <a:t>&gt;15% of Fixed 6</a:t>
                      </a:r>
                    </a:p>
                  </a:txBody>
                  <a:tcPr/>
                </a:tc>
                <a:tc>
                  <a:txBody>
                    <a:bodyPr/>
                    <a:lstStyle/>
                    <a:p>
                      <a:pPr>
                        <a:defRPr sz="1100">
                          <a:solidFill>
                            <a:srgbClr val="404040"/>
                          </a:solidFill>
                        </a:defRPr>
                      </a:pPr>
                      <a:r>
                        <a:t>&lt;8%</a:t>
                      </a:r>
                    </a:p>
                  </a:txBody>
                  <a:tcPr/>
                </a:tc>
                <a:extLst>
                  <a:ext uri="{0D108BD9-81ED-4DB2-BD59-A6C34878D82A}">
                    <a16:rowId xmlns:a16="http://schemas.microsoft.com/office/drawing/2014/main" val="10005"/>
                  </a:ext>
                </a:extLst>
              </a:tr>
              <a:tr h="365760">
                <a:tc>
                  <a:txBody>
                    <a:bodyPr/>
                    <a:lstStyle/>
                    <a:p>
                      <a:pPr>
                        <a:defRPr sz="1100">
                          <a:solidFill>
                            <a:srgbClr val="404040"/>
                          </a:solidFill>
                        </a:defRPr>
                      </a:pPr>
                      <a:r>
                        <a:t>Fixed Plus</a:t>
                      </a:r>
                    </a:p>
                  </a:txBody>
                  <a:tcPr/>
                </a:tc>
                <a:tc>
                  <a:txBody>
                    <a:bodyPr/>
                    <a:lstStyle/>
                    <a:p>
                      <a:pPr>
                        <a:defRPr sz="1100">
                          <a:solidFill>
                            <a:srgbClr val="404040"/>
                          </a:solidFill>
                        </a:defRPr>
                      </a:pPr>
                      <a:r>
                        <a:t>Renewal rate</a:t>
                      </a:r>
                    </a:p>
                  </a:txBody>
                  <a:tcPr/>
                </a:tc>
                <a:tc>
                  <a:txBody>
                    <a:bodyPr/>
                    <a:lstStyle/>
                    <a:p>
                      <a:pPr>
                        <a:defRPr sz="1100">
                          <a:solidFill>
                            <a:srgbClr val="404040"/>
                          </a:solidFill>
                        </a:defRPr>
                      </a:pPr>
                      <a:r>
                        <a:t>&gt;90%</a:t>
                      </a:r>
                    </a:p>
                  </a:txBody>
                  <a:tcPr/>
                </a:tc>
                <a:tc>
                  <a:txBody>
                    <a:bodyPr/>
                    <a:lstStyle/>
                    <a:p>
                      <a:pPr>
                        <a:defRPr sz="1100">
                          <a:solidFill>
                            <a:srgbClr val="404040"/>
                          </a:solidFill>
                        </a:defRPr>
                      </a:pPr>
                      <a:r>
                        <a:t>&lt;80%</a:t>
                      </a:r>
                    </a:p>
                  </a:txBody>
                  <a:tcPr/>
                </a:tc>
                <a:extLst>
                  <a:ext uri="{0D108BD9-81ED-4DB2-BD59-A6C34878D82A}">
                    <a16:rowId xmlns:a16="http://schemas.microsoft.com/office/drawing/2014/main" val="10006"/>
                  </a:ext>
                </a:extLst>
              </a:tr>
              <a:tr h="365760">
                <a:tc>
                  <a:txBody>
                    <a:bodyPr/>
                    <a:lstStyle/>
                    <a:p>
                      <a:pPr>
                        <a:defRPr sz="1100">
                          <a:solidFill>
                            <a:srgbClr val="404040"/>
                          </a:solidFill>
                        </a:defRPr>
                      </a:pPr>
                      <a:r>
                        <a:t>Fixed Plus</a:t>
                      </a:r>
                    </a:p>
                  </a:txBody>
                  <a:tcPr/>
                </a:tc>
                <a:tc>
                  <a:txBody>
                    <a:bodyPr/>
                    <a:lstStyle/>
                    <a:p>
                      <a:pPr>
                        <a:defRPr sz="1100">
                          <a:solidFill>
                            <a:srgbClr val="404040"/>
                          </a:solidFill>
                        </a:defRPr>
                      </a:pPr>
                      <a:r>
                        <a:t>Single ticket cannibalization</a:t>
                      </a:r>
                    </a:p>
                  </a:txBody>
                  <a:tcPr/>
                </a:tc>
                <a:tc>
                  <a:txBody>
                    <a:bodyPr/>
                    <a:lstStyle/>
                    <a:p>
                      <a:pPr>
                        <a:defRPr sz="1100">
                          <a:solidFill>
                            <a:srgbClr val="404040"/>
                          </a:solidFill>
                        </a:defRPr>
                      </a:pPr>
                      <a:r>
                        <a:t>&lt;5% decline</a:t>
                      </a:r>
                    </a:p>
                  </a:txBody>
                  <a:tcPr/>
                </a:tc>
                <a:tc>
                  <a:txBody>
                    <a:bodyPr/>
                    <a:lstStyle/>
                    <a:p>
                      <a:pPr>
                        <a:defRPr sz="1100">
                          <a:solidFill>
                            <a:srgbClr val="404040"/>
                          </a:solidFill>
                        </a:defRPr>
                      </a:pPr>
                      <a:r>
                        <a:t>&gt;10% decline</a:t>
                      </a:r>
                    </a:p>
                  </a:txBody>
                  <a:tcPr/>
                </a:tc>
                <a:extLst>
                  <a:ext uri="{0D108BD9-81ED-4DB2-BD59-A6C34878D82A}">
                    <a16:rowId xmlns:a16="http://schemas.microsoft.com/office/drawing/2014/main" val="10007"/>
                  </a:ext>
                </a:extLst>
              </a:tr>
              <a:tr h="365760">
                <a:tc>
                  <a:txBody>
                    <a:bodyPr/>
                    <a:lstStyle/>
                    <a:p>
                      <a:pPr>
                        <a:defRPr sz="1100">
                          <a:solidFill>
                            <a:srgbClr val="404040"/>
                          </a:solidFill>
                        </a:defRPr>
                      </a:pPr>
                      <a:r>
                        <a:t>Fixed Plus</a:t>
                      </a:r>
                    </a:p>
                  </a:txBody>
                  <a:tcPr/>
                </a:tc>
                <a:tc>
                  <a:txBody>
                    <a:bodyPr/>
                    <a:lstStyle/>
                    <a:p>
                      <a:pPr>
                        <a:defRPr sz="1100">
                          <a:solidFill>
                            <a:srgbClr val="404040"/>
                          </a:solidFill>
                        </a:defRPr>
                      </a:pPr>
                      <a:r>
                        <a:t>Upgrade to Gold</a:t>
                      </a:r>
                    </a:p>
                  </a:txBody>
                  <a:tcPr/>
                </a:tc>
                <a:tc>
                  <a:txBody>
                    <a:bodyPr/>
                    <a:lstStyle/>
                    <a:p>
                      <a:pPr>
                        <a:defRPr sz="1100">
                          <a:solidFill>
                            <a:srgbClr val="404040"/>
                          </a:solidFill>
                        </a:defRPr>
                      </a:pPr>
                      <a:r>
                        <a:t>&gt;30% of Bronze</a:t>
                      </a:r>
                    </a:p>
                  </a:txBody>
                  <a:tcPr/>
                </a:tc>
                <a:tc>
                  <a:txBody>
                    <a:bodyPr/>
                    <a:lstStyle/>
                    <a:p>
                      <a:pPr>
                        <a:defRPr sz="1100">
                          <a:solidFill>
                            <a:srgbClr val="404040"/>
                          </a:solidFill>
                        </a:defRPr>
                      </a:pPr>
                      <a:r>
                        <a:t>&lt;15%</a:t>
                      </a:r>
                    </a:p>
                  </a:txBody>
                  <a:tcPr/>
                </a:tc>
                <a:extLst>
                  <a:ext uri="{0D108BD9-81ED-4DB2-BD59-A6C34878D82A}">
                    <a16:rowId xmlns:a16="http://schemas.microsoft.com/office/drawing/2014/main" val="10008"/>
                  </a:ext>
                </a:extLst>
              </a:tr>
            </a:tbl>
          </a:graphicData>
        </a:graphic>
      </p:graphicFrame>
      <p:sp>
        <p:nvSpPr>
          <p:cNvPr id="6" name="Rounded Rectangle 5"/>
          <p:cNvSpPr/>
          <p:nvPr/>
        </p:nvSpPr>
        <p:spPr>
          <a:xfrm>
            <a:off x="685800" y="5303520"/>
            <a:ext cx="7772400" cy="731520"/>
          </a:xfrm>
          <a:prstGeom prst="roundRect">
            <a:avLst/>
          </a:prstGeom>
          <a:solidFill>
            <a:srgbClr val="FFF8DC"/>
          </a:solidFill>
          <a:ln>
            <a:solidFill>
              <a:srgbClr val="C5A46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03366"/>
                </a:solidFill>
              </a:defRPr>
            </a:pPr>
            <a:r>
              <a:t>KEY INSIGHT: Weekly monitoring during pilot enables rapid course correction before scale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274320"/>
            <a:ext cx="8412480" cy="640080"/>
          </a:xfrm>
          <a:prstGeom prst="rect">
            <a:avLst/>
          </a:prstGeom>
          <a:noFill/>
        </p:spPr>
        <p:txBody>
          <a:bodyPr wrap="none">
            <a:spAutoFit/>
          </a:bodyPr>
          <a:lstStyle/>
          <a:p>
            <a:pPr>
              <a:defRPr sz="2200" b="1">
                <a:solidFill>
                  <a:srgbClr val="FFFFFF"/>
                </a:solidFill>
              </a:defRPr>
            </a:pPr>
            <a:r>
              <a:t>Both programs are designed for minimal risk: product differentiation protects existing revenue</a:t>
            </a:r>
          </a:p>
        </p:txBody>
      </p:sp>
      <p:sp>
        <p:nvSpPr>
          <p:cNvPr id="5" name="TextBox 4"/>
          <p:cNvSpPr txBox="1"/>
          <p:nvPr/>
        </p:nvSpPr>
        <p:spPr>
          <a:xfrm>
            <a:off x="457200" y="1280160"/>
            <a:ext cx="8229600" cy="5029200"/>
          </a:xfrm>
          <a:prstGeom prst="rect">
            <a:avLst/>
          </a:prstGeom>
          <a:noFill/>
        </p:spPr>
        <p:txBody>
          <a:bodyPr wrap="square">
            <a:spAutoFit/>
          </a:bodyPr>
          <a:lstStyle/>
          <a:p>
            <a:pPr>
              <a:spcAft>
                <a:spcPts val="800"/>
              </a:spcAft>
              <a:defRPr sz="1600">
                <a:solidFill>
                  <a:srgbClr val="404040"/>
                </a:solidFill>
              </a:defRPr>
            </a:pPr>
            <a:r>
              <a:t>CLASSICAL ADD-ON RISK MITIGATION:</a:t>
            </a:r>
          </a:p>
          <a:p>
            <a:pPr>
              <a:spcAft>
                <a:spcPts val="800"/>
              </a:spcAft>
              <a:defRPr sz="1600">
                <a:solidFill>
                  <a:srgbClr val="404040"/>
                </a:solidFill>
              </a:defRPr>
            </a:pPr>
            <a:r>
              <a:t>  - Discounts offered ONLY on the new add-on product, not existing pricing</a:t>
            </a:r>
          </a:p>
          <a:p>
            <a:pPr>
              <a:spcAft>
                <a:spcPts val="800"/>
              </a:spcAft>
              <a:defRPr sz="1600">
                <a:solidFill>
                  <a:srgbClr val="404040"/>
                </a:solidFill>
              </a:defRPr>
            </a:pPr>
            <a:r>
              <a:t>  - Customers who would have bought full price still can</a:t>
            </a:r>
          </a:p>
          <a:p>
            <a:pPr>
              <a:spcAft>
                <a:spcPts val="800"/>
              </a:spcAft>
              <a:defRPr sz="1600">
                <a:solidFill>
                  <a:srgbClr val="404040"/>
                </a:solidFill>
              </a:defRPr>
            </a:pPr>
            <a:r>
              <a:t>  - Offer available ONLY to verified Special/Holiday attendees</a:t>
            </a:r>
          </a:p>
          <a:p>
            <a:pPr>
              <a:spcAft>
                <a:spcPts val="800"/>
              </a:spcAft>
              <a:defRPr sz="1600">
                <a:solidFill>
                  <a:srgbClr val="404040"/>
                </a:solidFill>
              </a:defRPr>
            </a:pPr>
            <a:r>
              <a:t>  - 60-day window creates urgency without pressure</a:t>
            </a:r>
          </a:p>
          <a:p>
            <a:pPr>
              <a:spcAft>
                <a:spcPts val="800"/>
              </a:spcAft>
              <a:defRPr sz="1600">
                <a:solidFill>
                  <a:srgbClr val="404040"/>
                </a:solidFill>
              </a:defRPr>
            </a:pPr>
            <a:endParaRPr/>
          </a:p>
          <a:p>
            <a:pPr>
              <a:spcAft>
                <a:spcPts val="800"/>
              </a:spcAft>
              <a:defRPr sz="1600">
                <a:solidFill>
                  <a:srgbClr val="404040"/>
                </a:solidFill>
              </a:defRPr>
            </a:pPr>
            <a:r>
              <a:t>FIXED PLUS RISK MITIGATION:</a:t>
            </a:r>
          </a:p>
          <a:p>
            <a:pPr>
              <a:spcAft>
                <a:spcPts val="800"/>
              </a:spcAft>
              <a:defRPr sz="1600">
                <a:solidFill>
                  <a:srgbClr val="404040"/>
                </a:solidFill>
              </a:defRPr>
            </a:pPr>
            <a:r>
              <a:t>  - 10% premium means no revenue loss on conversions</a:t>
            </a:r>
          </a:p>
          <a:p>
            <a:pPr>
              <a:spcAft>
                <a:spcPts val="800"/>
              </a:spcAft>
              <a:defRPr sz="1600">
                <a:solidFill>
                  <a:srgbClr val="404040"/>
                </a:solidFill>
              </a:defRPr>
            </a:pPr>
            <a:r>
              <a:t>  - Primary targets already buy singles (bundling, not new demand)</a:t>
            </a:r>
          </a:p>
          <a:p>
            <a:pPr>
              <a:spcAft>
                <a:spcPts val="800"/>
              </a:spcAft>
              <a:defRPr sz="1600">
                <a:solidFill>
                  <a:srgbClr val="404040"/>
                </a:solidFill>
              </a:defRPr>
            </a:pPr>
            <a:r>
              <a:t>  - Start with modest capacity holds (5% of Holiday/Special)</a:t>
            </a:r>
          </a:p>
          <a:p>
            <a:pPr>
              <a:spcAft>
                <a:spcPts val="800"/>
              </a:spcAft>
              <a:defRPr sz="1600">
                <a:solidFill>
                  <a:srgbClr val="404040"/>
                </a:solidFill>
              </a:defRPr>
            </a:pPr>
            <a:r>
              <a:t>  - Phase benefits over time; start with low-cost options</a:t>
            </a:r>
          </a:p>
          <a:p>
            <a:pPr>
              <a:spcAft>
                <a:spcPts val="800"/>
              </a:spcAft>
              <a:defRPr sz="1600">
                <a:solidFill>
                  <a:srgbClr val="404040"/>
                </a:solidFill>
              </a:defRPr>
            </a:pPr>
            <a:endParaRPr/>
          </a:p>
          <a:p>
            <a:pPr>
              <a:spcAft>
                <a:spcPts val="800"/>
              </a:spcAft>
              <a:defRPr sz="1600">
                <a:solidFill>
                  <a:srgbClr val="404040"/>
                </a:solidFill>
              </a:defRPr>
            </a:pPr>
            <a:r>
              <a:t>OVERALL RISK PROFILE:</a:t>
            </a:r>
          </a:p>
          <a:p>
            <a:pPr>
              <a:spcAft>
                <a:spcPts val="800"/>
              </a:spcAft>
              <a:defRPr sz="1600">
                <a:solidFill>
                  <a:srgbClr val="404040"/>
                </a:solidFill>
              </a:defRPr>
            </a:pPr>
            <a:r>
              <a:t>  - Both programs target proven demand (they're already buying)</a:t>
            </a:r>
          </a:p>
          <a:p>
            <a:pPr>
              <a:spcAft>
                <a:spcPts val="800"/>
              </a:spcAft>
              <a:defRPr sz="1600">
                <a:solidFill>
                  <a:srgbClr val="404040"/>
                </a:solidFill>
              </a:defRPr>
            </a:pPr>
            <a:r>
              <a:t>  - Neither requires discounting core products</a:t>
            </a:r>
          </a:p>
          <a:p>
            <a:pPr>
              <a:spcAft>
                <a:spcPts val="800"/>
              </a:spcAft>
              <a:defRPr sz="1600">
                <a:solidFill>
                  <a:srgbClr val="404040"/>
                </a:solidFill>
              </a:defRPr>
            </a:pPr>
            <a:r>
              <a:t>  - Pilots before scale minimize downside exposure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274320"/>
            <a:ext cx="8412480" cy="640080"/>
          </a:xfrm>
          <a:prstGeom prst="rect">
            <a:avLst/>
          </a:prstGeom>
          <a:noFill/>
        </p:spPr>
        <p:txBody>
          <a:bodyPr wrap="none">
            <a:spAutoFit/>
          </a:bodyPr>
          <a:lstStyle/>
          <a:p>
            <a:pPr>
              <a:defRPr sz="2200" b="1">
                <a:solidFill>
                  <a:srgbClr val="FFFFFF"/>
                </a:solidFill>
              </a:defRPr>
            </a:pPr>
            <a:r>
              <a:t>Recommended next steps: approve pilots, assign owners, and launch within 60 days</a:t>
            </a:r>
          </a:p>
        </p:txBody>
      </p:sp>
      <p:sp>
        <p:nvSpPr>
          <p:cNvPr id="5" name="TextBox 4"/>
          <p:cNvSpPr txBox="1"/>
          <p:nvPr/>
        </p:nvSpPr>
        <p:spPr>
          <a:xfrm>
            <a:off x="457200" y="1280160"/>
            <a:ext cx="8229600" cy="5029200"/>
          </a:xfrm>
          <a:prstGeom prst="rect">
            <a:avLst/>
          </a:prstGeom>
          <a:noFill/>
        </p:spPr>
        <p:txBody>
          <a:bodyPr wrap="square">
            <a:spAutoFit/>
          </a:bodyPr>
          <a:lstStyle/>
          <a:p>
            <a:pPr>
              <a:spcAft>
                <a:spcPts val="800"/>
              </a:spcAft>
              <a:defRPr sz="1600">
                <a:solidFill>
                  <a:srgbClr val="404040"/>
                </a:solidFill>
              </a:defRPr>
            </a:pPr>
            <a:r>
              <a:t>IMMEDIATE ACTIONS (Next 2 Weeks):</a:t>
            </a:r>
          </a:p>
          <a:p>
            <a:pPr>
              <a:spcAft>
                <a:spcPts val="800"/>
              </a:spcAft>
              <a:defRPr sz="1600">
                <a:solidFill>
                  <a:srgbClr val="404040"/>
                </a:solidFill>
              </a:defRPr>
            </a:pPr>
            <a:r>
              <a:t>  1. Executive approval of pilot programs</a:t>
            </a:r>
          </a:p>
          <a:p>
            <a:pPr>
              <a:spcAft>
                <a:spcPts val="800"/>
              </a:spcAft>
              <a:defRPr sz="1600">
                <a:solidFill>
                  <a:srgbClr val="404040"/>
                </a:solidFill>
              </a:defRPr>
            </a:pPr>
            <a:r>
              <a:t>  2. Assign program owners (Marketing for Add-On, Subscriptions for Fixed Plus)</a:t>
            </a:r>
          </a:p>
          <a:p>
            <a:pPr>
              <a:spcAft>
                <a:spcPts val="800"/>
              </a:spcAft>
              <a:defRPr sz="1600">
                <a:solidFill>
                  <a:srgbClr val="404040"/>
                </a:solidFill>
              </a:defRPr>
            </a:pPr>
            <a:r>
              <a:t>  3. Brief box office staff on upcoming pilots</a:t>
            </a:r>
          </a:p>
          <a:p>
            <a:pPr>
              <a:spcAft>
                <a:spcPts val="800"/>
              </a:spcAft>
              <a:defRPr sz="1600">
                <a:solidFill>
                  <a:srgbClr val="404040"/>
                </a:solidFill>
              </a:defRPr>
            </a:pPr>
            <a:endParaRPr/>
          </a:p>
          <a:p>
            <a:pPr>
              <a:spcAft>
                <a:spcPts val="800"/>
              </a:spcAft>
              <a:defRPr sz="1600">
                <a:solidFill>
                  <a:srgbClr val="404040"/>
                </a:solidFill>
              </a:defRPr>
            </a:pPr>
            <a:r>
              <a:t>SHORT-TERM (30 Days):</a:t>
            </a:r>
          </a:p>
          <a:p>
            <a:pPr>
              <a:spcAft>
                <a:spcPts val="800"/>
              </a:spcAft>
              <a:defRPr sz="1600">
                <a:solidFill>
                  <a:srgbClr val="404040"/>
                </a:solidFill>
              </a:defRPr>
            </a:pPr>
            <a:r>
              <a:t>  4. Design Classical Add-On email and signage creative</a:t>
            </a:r>
          </a:p>
          <a:p>
            <a:pPr>
              <a:spcAft>
                <a:spcPts val="800"/>
              </a:spcAft>
              <a:defRPr sz="1600">
                <a:solidFill>
                  <a:srgbClr val="404040"/>
                </a:solidFill>
              </a:defRPr>
            </a:pPr>
            <a:r>
              <a:t>  5. Select first 2-3 pilot events for Classical Add-On</a:t>
            </a:r>
          </a:p>
          <a:p>
            <a:pPr>
              <a:spcAft>
                <a:spcPts val="800"/>
              </a:spcAft>
              <a:defRPr sz="1600">
                <a:solidFill>
                  <a:srgbClr val="404040"/>
                </a:solidFill>
              </a:defRPr>
            </a:pPr>
            <a:r>
              <a:t>  6. Draft Fixed Plus offer letter for subscription renewal</a:t>
            </a:r>
          </a:p>
          <a:p>
            <a:pPr>
              <a:spcAft>
                <a:spcPts val="800"/>
              </a:spcAft>
              <a:defRPr sz="1600">
                <a:solidFill>
                  <a:srgbClr val="404040"/>
                </a:solidFill>
              </a:defRPr>
            </a:pPr>
            <a:endParaRPr/>
          </a:p>
          <a:p>
            <a:pPr>
              <a:spcAft>
                <a:spcPts val="800"/>
              </a:spcAft>
              <a:defRPr sz="1600">
                <a:solidFill>
                  <a:srgbClr val="404040"/>
                </a:solidFill>
              </a:defRPr>
            </a:pPr>
            <a:r>
              <a:t>MEDIUM-TERM (60 Days):</a:t>
            </a:r>
          </a:p>
          <a:p>
            <a:pPr>
              <a:spcAft>
                <a:spcPts val="800"/>
              </a:spcAft>
              <a:defRPr sz="1600">
                <a:solidFill>
                  <a:srgbClr val="404040"/>
                </a:solidFill>
              </a:defRPr>
            </a:pPr>
            <a:r>
              <a:t>  7. Launch Classical Add-On pilot at first selected event</a:t>
            </a:r>
          </a:p>
          <a:p>
            <a:pPr>
              <a:spcAft>
                <a:spcPts val="800"/>
              </a:spcAft>
              <a:defRPr sz="1600">
                <a:solidFill>
                  <a:srgbClr val="404040"/>
                </a:solidFill>
              </a:defRPr>
            </a:pPr>
            <a:r>
              <a:t>  8. Establish weekly metrics reporting cadence</a:t>
            </a:r>
          </a:p>
          <a:p>
            <a:pPr>
              <a:spcAft>
                <a:spcPts val="800"/>
              </a:spcAft>
              <a:defRPr sz="1600">
                <a:solidFill>
                  <a:srgbClr val="404040"/>
                </a:solidFill>
              </a:defRPr>
            </a:pPr>
            <a:r>
              <a:t>  9. Prepare Fixed Plus for next renewal cycle</a:t>
            </a:r>
          </a:p>
          <a:p>
            <a:pPr>
              <a:spcAft>
                <a:spcPts val="800"/>
              </a:spcAft>
              <a:defRPr sz="1600">
                <a:solidFill>
                  <a:srgbClr val="404040"/>
                </a:solidFill>
              </a:defRPr>
            </a:pPr>
            <a:endParaRPr/>
          </a:p>
          <a:p>
            <a:pPr>
              <a:spcAft>
                <a:spcPts val="800"/>
              </a:spcAft>
              <a:defRPr sz="1600">
                <a:solidFill>
                  <a:srgbClr val="404040"/>
                </a:solidFill>
              </a:defRPr>
            </a:pPr>
            <a:r>
              <a:t>ONGOING:</a:t>
            </a:r>
          </a:p>
          <a:p>
            <a:pPr>
              <a:spcAft>
                <a:spcPts val="800"/>
              </a:spcAft>
              <a:defRPr sz="1600">
                <a:solidFill>
                  <a:srgbClr val="404040"/>
                </a:solidFill>
              </a:defRPr>
            </a:pPr>
            <a:r>
              <a:t>  10. Weekly pilot reviews with cross-functional team</a:t>
            </a:r>
          </a:p>
          <a:p>
            <a:pPr>
              <a:spcAft>
                <a:spcPts val="800"/>
              </a:spcAft>
              <a:defRPr sz="1600">
                <a:solidFill>
                  <a:srgbClr val="404040"/>
                </a:solidFill>
              </a:defRPr>
            </a:pPr>
            <a:r>
              <a:t>  11. Monthly executive summary of program performance</a:t>
            </a:r>
          </a:p>
          <a:p>
            <a:pPr>
              <a:spcAft>
                <a:spcPts val="800"/>
              </a:spcAft>
              <a:defRPr sz="1600">
                <a:solidFill>
                  <a:srgbClr val="404040"/>
                </a:solidFill>
              </a:defRPr>
            </a:pPr>
            <a:r>
              <a:t>  12. Quarterly strategic review and optimization decisions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05840"/>
            <a:ext cx="9144000" cy="4572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274320"/>
            <a:ext cx="8412480" cy="640080"/>
          </a:xfrm>
          <a:prstGeom prst="rect">
            <a:avLst/>
          </a:prstGeom>
          <a:noFill/>
        </p:spPr>
        <p:txBody>
          <a:bodyPr wrap="none">
            <a:spAutoFit/>
          </a:bodyPr>
          <a:lstStyle/>
          <a:p>
            <a:pPr>
              <a:defRPr sz="2200" b="1">
                <a:solidFill>
                  <a:srgbClr val="FFFFFF"/>
                </a:solidFill>
              </a:defRPr>
            </a:pPr>
            <a:r>
              <a:t>Key takeaways: Data reveals opportunities; two programs capture $143K in Year 1</a:t>
            </a:r>
          </a:p>
        </p:txBody>
      </p:sp>
      <p:sp>
        <p:nvSpPr>
          <p:cNvPr id="5" name="TextBox 4"/>
          <p:cNvSpPr txBox="1"/>
          <p:nvPr/>
        </p:nvSpPr>
        <p:spPr>
          <a:xfrm>
            <a:off x="457200" y="1280160"/>
            <a:ext cx="8229600" cy="5029200"/>
          </a:xfrm>
          <a:prstGeom prst="rect">
            <a:avLst/>
          </a:prstGeom>
          <a:noFill/>
        </p:spPr>
        <p:txBody>
          <a:bodyPr wrap="square">
            <a:spAutoFit/>
          </a:bodyPr>
          <a:lstStyle/>
          <a:p>
            <a:pPr>
              <a:spcAft>
                <a:spcPts val="800"/>
              </a:spcAft>
              <a:defRPr sz="1600">
                <a:solidFill>
                  <a:srgbClr val="404040"/>
                </a:solidFill>
              </a:defRPr>
            </a:pPr>
            <a:r>
              <a:t>1. AUDIENCE SHIFT: Single ticket buyers growing (+2,796) while subscribers decline (-67).</a:t>
            </a:r>
          </a:p>
          <a:p>
            <a:pPr>
              <a:spcAft>
                <a:spcPts val="800"/>
              </a:spcAft>
              <a:defRPr sz="1600">
                <a:solidFill>
                  <a:srgbClr val="404040"/>
                </a:solidFill>
              </a:defRPr>
            </a:pPr>
            <a:r>
              <a:t>   Opportunity: Convert single ticket buyers to subscribers through Classical exposure.</a:t>
            </a:r>
          </a:p>
          <a:p>
            <a:pPr>
              <a:spcAft>
                <a:spcPts val="800"/>
              </a:spcAft>
              <a:defRPr sz="1600">
                <a:solidFill>
                  <a:srgbClr val="404040"/>
                </a:solidFill>
              </a:defRPr>
            </a:pPr>
            <a:endParaRPr/>
          </a:p>
          <a:p>
            <a:pPr>
              <a:spcAft>
                <a:spcPts val="800"/>
              </a:spcAft>
              <a:defRPr sz="1600">
                <a:solidFill>
                  <a:srgbClr val="404040"/>
                </a:solidFill>
              </a:defRPr>
            </a:pPr>
            <a:r>
              <a:t>2. PROVEN DEMAND: 57% of subscribers buy add-on tickets; 80% of Special buyers never tried Classical.</a:t>
            </a:r>
          </a:p>
          <a:p>
            <a:pPr>
              <a:spcAft>
                <a:spcPts val="800"/>
              </a:spcAft>
              <a:defRPr sz="1600">
                <a:solidFill>
                  <a:srgbClr val="404040"/>
                </a:solidFill>
              </a:defRPr>
            </a:pPr>
            <a:r>
              <a:t>   Opportunity: Make it easier to buy what they already want.</a:t>
            </a:r>
          </a:p>
          <a:p>
            <a:pPr>
              <a:spcAft>
                <a:spcPts val="800"/>
              </a:spcAft>
              <a:defRPr sz="1600">
                <a:solidFill>
                  <a:srgbClr val="404040"/>
                </a:solidFill>
              </a:defRPr>
            </a:pPr>
            <a:endParaRPr/>
          </a:p>
          <a:p>
            <a:pPr>
              <a:spcAft>
                <a:spcPts val="800"/>
              </a:spcAft>
              <a:defRPr sz="1600">
                <a:solidFill>
                  <a:srgbClr val="404040"/>
                </a:solidFill>
              </a:defRPr>
            </a:pPr>
            <a:r>
              <a:t>3. CYO VALUE: 13.7% of accounts generate 22-24% of subscription revenue at 72% higher prices.</a:t>
            </a:r>
          </a:p>
          <a:p>
            <a:pPr>
              <a:spcAft>
                <a:spcPts val="800"/>
              </a:spcAft>
              <a:defRPr sz="1600">
                <a:solidFill>
                  <a:srgbClr val="404040"/>
                </a:solidFill>
              </a:defRPr>
            </a:pPr>
            <a:r>
              <a:t>   Opportunity: Build CYO conversion pipeline from Classical Add-On program.</a:t>
            </a:r>
          </a:p>
          <a:p>
            <a:pPr>
              <a:spcAft>
                <a:spcPts val="800"/>
              </a:spcAft>
              <a:defRPr sz="1600">
                <a:solidFill>
                  <a:srgbClr val="404040"/>
                </a:solidFill>
              </a:defRPr>
            </a:pPr>
            <a:endParaRPr/>
          </a:p>
          <a:p>
            <a:pPr>
              <a:spcAft>
                <a:spcPts val="800"/>
              </a:spcAft>
              <a:defRPr sz="1600">
                <a:solidFill>
                  <a:srgbClr val="404040"/>
                </a:solidFill>
              </a:defRPr>
            </a:pPr>
            <a:r>
              <a:t>4. PRICE POWER: Premium sections are inelastic; discounting Classical erodes revenue.</a:t>
            </a:r>
          </a:p>
          <a:p>
            <a:pPr>
              <a:spcAft>
                <a:spcPts val="800"/>
              </a:spcAft>
              <a:defRPr sz="1600">
                <a:solidFill>
                  <a:srgbClr val="404040"/>
                </a:solidFill>
              </a:defRPr>
            </a:pPr>
            <a:r>
              <a:t>   Opportunity: Use product differentiation, not price cuts.</a:t>
            </a:r>
          </a:p>
          <a:p>
            <a:pPr>
              <a:spcAft>
                <a:spcPts val="800"/>
              </a:spcAft>
              <a:defRPr sz="1600">
                <a:solidFill>
                  <a:srgbClr val="404040"/>
                </a:solidFill>
              </a:defRPr>
            </a:pPr>
            <a:endParaRPr/>
          </a:p>
          <a:p>
            <a:pPr>
              <a:spcAft>
                <a:spcPts val="800"/>
              </a:spcAft>
              <a:defRPr sz="1600">
                <a:solidFill>
                  <a:srgbClr val="404040"/>
                </a:solidFill>
              </a:defRPr>
            </a:pPr>
            <a:r>
              <a:t>5. TWO SIMULATIONS: Classical Add-On ($102K) + Fixed Plus ($44K) = $146K Year 1 impact.</a:t>
            </a:r>
          </a:p>
          <a:p>
            <a:pPr>
              <a:spcAft>
                <a:spcPts val="800"/>
              </a:spcAft>
              <a:defRPr sz="1600">
                <a:solidFill>
                  <a:srgbClr val="404040"/>
                </a:solidFill>
              </a:defRPr>
            </a:pPr>
            <a:r>
              <a:t>   Opportunity: Low-risk pilots that scale based on results.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0"/>
            <a:ext cx="9144000" cy="91440"/>
          </a:xfrm>
          <a:prstGeom prst="rect">
            <a:avLst/>
          </a:prstGeom>
          <a:solidFill>
            <a:srgbClr val="C5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011680"/>
            <a:ext cx="8229600" cy="914400"/>
          </a:xfrm>
          <a:prstGeom prst="rect">
            <a:avLst/>
          </a:prstGeom>
          <a:noFill/>
        </p:spPr>
        <p:txBody>
          <a:bodyPr wrap="none">
            <a:spAutoFit/>
          </a:bodyPr>
          <a:lstStyle/>
          <a:p>
            <a:pPr algn="ctr">
              <a:defRPr sz="4000" b="1">
                <a:solidFill>
                  <a:srgbClr val="FFFFFF"/>
                </a:solidFill>
              </a:defRPr>
            </a:pPr>
            <a:r>
              <a:t>Thank You</a:t>
            </a:r>
          </a:p>
        </p:txBody>
      </p:sp>
      <p:sp>
        <p:nvSpPr>
          <p:cNvPr id="5" name="TextBox 4"/>
          <p:cNvSpPr txBox="1"/>
          <p:nvPr/>
        </p:nvSpPr>
        <p:spPr>
          <a:xfrm>
            <a:off x="457200" y="3200400"/>
            <a:ext cx="8229600" cy="914400"/>
          </a:xfrm>
          <a:prstGeom prst="rect">
            <a:avLst/>
          </a:prstGeom>
          <a:noFill/>
        </p:spPr>
        <p:txBody>
          <a:bodyPr wrap="none">
            <a:spAutoFit/>
          </a:bodyPr>
          <a:lstStyle/>
          <a:p>
            <a:pPr algn="ctr">
              <a:defRPr sz="2400">
                <a:solidFill>
                  <a:srgbClr val="C5A467"/>
                </a:solidFill>
              </a:defRPr>
            </a:pPr>
            <a:r>
              <a:t>Questions and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7475</Words>
  <Application>Microsoft Macintosh PowerPoint</Application>
  <PresentationFormat>On-screen Show (4:3)</PresentationFormat>
  <Paragraphs>945</Paragraphs>
  <Slides>33</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Coada, Gabriela</cp:lastModifiedBy>
  <cp:revision>1</cp:revision>
  <dcterms:created xsi:type="dcterms:W3CDTF">2013-01-27T09:14:16Z</dcterms:created>
  <dcterms:modified xsi:type="dcterms:W3CDTF">2025-12-04T08:13:01Z</dcterms:modified>
  <cp:category/>
</cp:coreProperties>
</file>